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79" r:id="rId31"/>
    <p:sldId id="280" r:id="rId32"/>
    <p:sldId id="281" r:id="rId33"/>
    <p:sldId id="258" r:id="rId10"/>
    <p:sldId id="259" r:id="rId11"/>
    <p:sldId id="260" r:id="rId12"/>
    <p:sldId id="261" r:id="rId13"/>
    <p:sldId id="282" r:id="rId34"/>
    <p:sldId id="283" r:id="rId35"/>
    <p:sldId id="284" r:id="rId36"/>
    <p:sldId id="285" r:id="rId37"/>
    <p:sldId id="262" r:id="rId14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63" r:id="rId15"/>
    <p:sldId id="293" r:id="rId45"/>
    <p:sldId id="294" r:id="rId46"/>
    <p:sldId id="295" r:id="rId47"/>
    <p:sldId id="296" r:id="rId48"/>
    <p:sldId id="264" r:id="rId16"/>
    <p:sldId id="297" r:id="rId49"/>
    <p:sldId id="298" r:id="rId50"/>
    <p:sldId id="299" r:id="rId51"/>
    <p:sldId id="300" r:id="rId52"/>
    <p:sldId id="265" r:id="rId17"/>
    <p:sldId id="301" r:id="rId53"/>
    <p:sldId id="302" r:id="rId54"/>
    <p:sldId id="303" r:id="rId55"/>
    <p:sldId id="304" r:id="rId56"/>
    <p:sldId id="266" r:id="rId18"/>
    <p:sldId id="305" r:id="rId57"/>
    <p:sldId id="306" r:id="rId58"/>
    <p:sldId id="307" r:id="rId59"/>
    <p:sldId id="308" r:id="rId60"/>
    <p:sldId id="267" r:id="rId19"/>
    <p:sldId id="309" r:id="rId61"/>
    <p:sldId id="310" r:id="rId62"/>
    <p:sldId id="311" r:id="rId63"/>
    <p:sldId id="312" r:id="rId64"/>
    <p:sldId id="268" r:id="rId20"/>
    <p:sldId id="313" r:id="rId65"/>
    <p:sldId id="314" r:id="rId66"/>
    <p:sldId id="315" r:id="rId67"/>
    <p:sldId id="316" r:id="rId68"/>
    <p:sldId id="269" r:id="rId21"/>
    <p:sldId id="317" r:id="rId69"/>
    <p:sldId id="318" r:id="rId70"/>
    <p:sldId id="319" r:id="rId71"/>
    <p:sldId id="320" r:id="rId72"/>
    <p:sldId id="321" r:id="rId73"/>
    <p:sldId id="270" r:id="rId22"/>
    <p:sldId id="322" r:id="rId74"/>
    <p:sldId id="323" r:id="rId75"/>
    <p:sldId id="324" r:id="rId76"/>
    <p:sldId id="325" r:id="rId77"/>
    <p:sldId id="326" r:id="rId78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แนะนำชื่อโครงงานและสมาชิก แล้วบอกว่ารอบนี้จะพาดูระบบที่ทำเสร็จจริง พร้อมเดโมสด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ยกตัวอย่างโพสต์ในกลุ่มแชต แล้วชี้ทีละจุดว่าทำไมนัดล่ม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อ่านวัตถุประสงค์แต่ละข้อ แล้วชี้ไปที่สิ่งที่ระบบทำได้จริงทางขวา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ใช้สไลด์นี้เป็นแผนที่ แล้วค่อยเจาะทีละหน้าจอในสไลด์ถัดไป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ชี้ช่องค้นหา ตัวกรอง และการ์ด บอกว่าค้นด้วยหลายเงื่อนไขพร้อมกันได้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ซูมการ์ดหนึ่งใบ อธิบายว่าแต่ละส่วนบอกอะไร ก่อนจะเปิดหน้ารายละเอียด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ยกตัวอย่างโพสต์ในกลุ่มแชต แล้วชี้ทีละจุดว่าทำไมนัดล่ม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ยกตัวอย่างโพสต์ในกลุ่มแชต แล้วชี้ทีละจุดว่าทำไมนัดล่ม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ยกตัวอย่างโพสต์ในกลุ่มแชต แล้วชี้ทีละจุดว่าทำไมนัดล่ม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ชี้ช่องค้นหา ตัวกรอง และการ์ด บอกว่าค้นด้วยหลายเงื่อนไขพร้อมกันได้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ชี้ช่องค้นหา ตัวกรอง และการ์ด บอกว่าค้นด้วยหลายเงื่อนไขพร้อมกันได้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ชี้ช่องค้นหา ตัวกรอง และการ์ด บอกว่าค้นด้วยหลายเงื่อนไขพร้อมกันได้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ชี้ช่องค้นหา ตัวกรอง และการ์ด บอกว่าค้นด้วยหลายเงื่อนไขพร้อมกันได้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ซูมการ์ดหนึ่งใบ อธิบายว่าแต่ละส่วนบอกอะไร ก่อนจะเปิดหน้ารายละเอียด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ซูมการ์ดหนึ่งใบ อธิบายว่าแต่ละส่วนบอกอะไร ก่อนจะเปิดหน้ารายละเอียด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ซูมการ์ดหนึ่งใบ อธิบายว่าแต่ละส่วนบอกอะไร ก่อนจะเปิดหน้ารายละเอียด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ซูมการ์ดหนึ่งใบ อธิบายว่าแต่ละส่วนบอกอะไร ก่อนจะเปิดหน้ารายละเอียด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ซูมการ์ดหนึ่งใบ อธิบายว่าแต่ละส่วนบอกอะไร ก่อนจะเปิดหน้ารายละเอียด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ซูมการ์ดหนึ่งใบ อธิบายว่าแต่ละส่วนบอกอะไร ก่อนจะเปิดหน้ารายละเอียด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ซูมการ์ดหนึ่งใบ อธิบายว่าแต่ละส่วนบอกอะไร ก่อนจะเปิดหน้ารายละเอียด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image" Target="../media/image2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Relationship Id="rId9" Type="http://schemas.openxmlformats.org/officeDocument/2006/relationships/image" Target="../media/image3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9.jpg"/><Relationship Id="rId5" Type="http://schemas.openxmlformats.org/officeDocument/2006/relationships/image" Target="../media/image3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2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444500"/>
            <a:ext cx="584200" cy="584200"/>
          </a:xfrm>
          <a:prstGeom prst="rect">
            <a:avLst/>
          </a:prstGeom>
        </p:spPr>
      </p:pic>
      <p:sp>
        <p:nvSpPr>
          <p:cNvPr id="3" name="Text 2"/>
          <p:cNvSpPr txBox="1"/>
          <p:nvPr/>
        </p:nvSpPr>
        <p:spPr>
          <a:xfrm>
            <a:off x="1193800" y="533400"/>
            <a:ext cx="3175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6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UniMate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508000" y="13335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CP410805 การพัฒนาโปรแกรมประยุกต์บนเว็บ · โครงงานส่วนที่ 2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508000" y="16637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เว็บแอปจับกลุ่มหาเพื่อน</a:t>
            </a:r>
          </a:p>
          <a:p>
            <a:pPr algn="l">
              <a:lnSpc>
                <a:spcPct val="90000"/>
              </a:lnSpc>
            </a:pPr>
            <a:r>
              <a:rPr sz="32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ร่วมทำกิจกรรมในมหาวิทยาลัย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508000" y="29845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ค้นหา · ขอเข้าร่วม · อนุมัติ · เช็กชื่อ · รีวิว</a:t>
            </a:r>
          </a:p>
        </p:txBody>
      </p:sp>
      <p:sp>
        <p:nvSpPr>
          <p:cNvPr id="7" name="กรอบสมาชิก"/>
          <p:cNvSpPr/>
          <p:nvPr/>
        </p:nvSpPr>
        <p:spPr>
          <a:xfrm>
            <a:off x="508000" y="3556000"/>
            <a:ext cx="5461000" cy="2667000"/>
          </a:xfrm>
          <a:prstGeom prst="roundRect">
            <a:avLst>
              <a:gd name="adj" fmla="val 4285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7"/>
          <p:cNvSpPr txBox="1"/>
          <p:nvPr/>
        </p:nvSpPr>
        <p:spPr>
          <a:xfrm>
            <a:off x="711200" y="36957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5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สมาชิกกลุ่ม AI04 · Sec 1</a:t>
            </a:r>
          </a:p>
        </p:txBody>
      </p:sp>
      <p:sp>
        <p:nvSpPr>
          <p:cNvPr id="9" name="Pin 1"/>
          <p:cNvSpPr/>
          <p:nvPr/>
        </p:nvSpPr>
        <p:spPr>
          <a:xfrm>
            <a:off x="711200" y="4140200"/>
            <a:ext cx="254000" cy="254000"/>
          </a:xfrm>
          <a:prstGeom prst="ellipse">
            <a:avLst/>
          </a:prstGeom>
          <a:solidFill>
            <a:srgbClr val="131922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1079500" y="4127500"/>
            <a:ext cx="2984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นายภูริณัฐ ศรีไตรรัตน์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4127500" y="41275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663380531-2</a:t>
            </a:r>
          </a:p>
        </p:txBody>
      </p:sp>
      <p:sp>
        <p:nvSpPr>
          <p:cNvPr id="12" name="Pin 2"/>
          <p:cNvSpPr/>
          <p:nvPr/>
        </p:nvSpPr>
        <p:spPr>
          <a:xfrm>
            <a:off x="711200" y="4533900"/>
            <a:ext cx="254000" cy="254000"/>
          </a:xfrm>
          <a:prstGeom prst="ellipse">
            <a:avLst/>
          </a:prstGeom>
          <a:solidFill>
            <a:srgbClr val="131922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1079500" y="4521200"/>
            <a:ext cx="2984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นายธนภัทร สรรพอาสา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4127500" y="45212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663380270-4</a:t>
            </a:r>
          </a:p>
        </p:txBody>
      </p:sp>
      <p:sp>
        <p:nvSpPr>
          <p:cNvPr id="15" name="Pin 3"/>
          <p:cNvSpPr/>
          <p:nvPr/>
        </p:nvSpPr>
        <p:spPr>
          <a:xfrm>
            <a:off x="711200" y="4927600"/>
            <a:ext cx="254000" cy="254000"/>
          </a:xfrm>
          <a:prstGeom prst="ellipse">
            <a:avLst/>
          </a:prstGeom>
          <a:solidFill>
            <a:srgbClr val="131922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1079500" y="4914900"/>
            <a:ext cx="2984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นายณัฐดนัย สมสวย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4127500" y="49149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663380034-6</a:t>
            </a:r>
          </a:p>
        </p:txBody>
      </p:sp>
      <p:sp>
        <p:nvSpPr>
          <p:cNvPr id="18" name="Pin 4"/>
          <p:cNvSpPr/>
          <p:nvPr/>
        </p:nvSpPr>
        <p:spPr>
          <a:xfrm>
            <a:off x="711200" y="5321300"/>
            <a:ext cx="254000" cy="254000"/>
          </a:xfrm>
          <a:prstGeom prst="ellipse">
            <a:avLst/>
          </a:prstGeom>
          <a:solidFill>
            <a:srgbClr val="131922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1079500" y="5308600"/>
            <a:ext cx="2984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นางสาวสหกานต์ธีรา สังข์ขาว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4127500" y="53086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663380296-6</a:t>
            </a:r>
          </a:p>
        </p:txBody>
      </p:sp>
      <p:sp>
        <p:nvSpPr>
          <p:cNvPr id="21" name="Pin 5"/>
          <p:cNvSpPr/>
          <p:nvPr/>
        </p:nvSpPr>
        <p:spPr>
          <a:xfrm>
            <a:off x="711200" y="5715000"/>
            <a:ext cx="254000" cy="254000"/>
          </a:xfrm>
          <a:prstGeom prst="ellipse">
            <a:avLst/>
          </a:prstGeom>
          <a:solidFill>
            <a:srgbClr val="131922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5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1079500" y="5702300"/>
            <a:ext cx="2984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นายอัษฎาวุธ เรือนแก้ว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4127500" y="57023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663380303-5</a:t>
            </a:r>
          </a:p>
        </p:txBody>
      </p:sp>
      <p:pic>
        <p:nvPicPr>
          <p:cNvPr id="24" name="ภาพหน้าจอ d-activities" descr="d-activities_96-0-1248x7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0" y="952500"/>
            <a:ext cx="5270500" cy="296465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25" name="ภาพมือถือ" descr="m-activities_0-0-390x84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0" y="3302000"/>
            <a:ext cx="1270000" cy="2748410"/>
          </a:xfrm>
          <a:prstGeom prst="rect">
            <a:avLst/>
          </a:prstGeom>
          <a:ln w="19050">
            <a:solidFill>
              <a:srgbClr val="131922"/>
            </a:solidFill>
          </a:ln>
        </p:spPr>
      </p:pic>
      <p:sp>
        <p:nvSpPr>
          <p:cNvPr id="26" name="Text 25"/>
          <p:cNvSpPr txBox="1"/>
          <p:nvPr/>
        </p:nvSpPr>
        <p:spPr>
          <a:xfrm>
            <a:off x="6413500" y="6223000"/>
            <a:ext cx="393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หน้าจริงของระบบ (ข้อมูลทดสอบ) ใช้ได้ทั้งคอมพิวเตอร์และมือถือ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01 · หลักการและเหตุผล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กิจกรรมมีทุกวัน แต่การหาเพื่อนยังไม่เป็นระบบ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02 / 71</a:t>
            </a:r>
          </a:p>
        </p:txBody>
      </p:sp>
      <p:sp>
        <p:nvSpPr>
          <p:cNvPr id="7" name="ภาพจำลองกลุ่มแชต"/>
          <p:cNvSpPr/>
          <p:nvPr/>
        </p:nvSpPr>
        <p:spPr>
          <a:xfrm>
            <a:off x="508000" y="13335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7"/>
          <p:cNvSpPr txBox="1"/>
          <p:nvPr/>
        </p:nvSpPr>
        <p:spPr>
          <a:xfrm>
            <a:off x="711200" y="14732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ตัวอย่างโพสต์ชวนในกลุ่มแชต (ภาพจำลอง)</a:t>
            </a:r>
          </a:p>
        </p:txBody>
      </p:sp>
      <p:sp>
        <p:nvSpPr>
          <p:cNvPr id="9" name="ข้อความแชต ใครว่างติวแคลคูลัสพรุ่งนี้บ้าง"/>
          <p:cNvSpPr/>
          <p:nvPr/>
        </p:nvSpPr>
        <p:spPr>
          <a:xfrm>
            <a:off x="762000" y="1841500"/>
            <a:ext cx="33020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ใครว่างติวแคลคูลัสพรุ่งนี้บ้าง</a:t>
            </a:r>
          </a:p>
        </p:txBody>
      </p:sp>
      <p:sp>
        <p:nvSpPr>
          <p:cNvPr id="10" name="ข้อความแชต ไปด้วย ๆ"/>
          <p:cNvSpPr/>
          <p:nvPr/>
        </p:nvSpPr>
        <p:spPr>
          <a:xfrm>
            <a:off x="3302000" y="3556000"/>
            <a:ext cx="12065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ไปด้วย ๆ</a:t>
            </a:r>
          </a:p>
        </p:txBody>
      </p:sp>
      <p:sp>
        <p:nvSpPr>
          <p:cNvPr id="11" name="ข้อความแชต +1"/>
          <p:cNvSpPr/>
          <p:nvPr/>
        </p:nvSpPr>
        <p:spPr>
          <a:xfrm>
            <a:off x="3556000" y="4127500"/>
            <a:ext cx="6350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+1</a:t>
            </a:r>
          </a:p>
        </p:txBody>
      </p:sp>
      <p:sp>
        <p:nvSpPr>
          <p:cNvPr id="12" name="ข้อความแชต เปลี่ยนเป็น 18:30 ได้ไหม"/>
          <p:cNvSpPr/>
          <p:nvPr/>
        </p:nvSpPr>
        <p:spPr>
          <a:xfrm>
            <a:off x="1905000" y="4699000"/>
            <a:ext cx="27305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เปลี่ยนเป็น 18:30 ได้ไหม</a:t>
            </a:r>
          </a:p>
        </p:txBody>
      </p:sp>
      <p:sp>
        <p:nvSpPr>
          <p:cNvPr id="13" name="ข้อความแชต ใครถือลูกบาสไปบ้าง?"/>
          <p:cNvSpPr/>
          <p:nvPr/>
        </p:nvSpPr>
        <p:spPr>
          <a:xfrm>
            <a:off x="1270000" y="5270500"/>
            <a:ext cx="225425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ใครถือลูกบาสไปบ้าง?</a:t>
            </a:r>
          </a:p>
        </p:txBody>
      </p:sp>
      <p:sp>
        <p:nvSpPr>
          <p:cNvPr id="14" name="โพสต์หลัก"/>
          <p:cNvSpPr/>
          <p:nvPr/>
        </p:nvSpPr>
        <p:spPr>
          <a:xfrm>
            <a:off x="1016000" y="2413000"/>
            <a:ext cx="4191000" cy="9525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270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14"/>
          <p:cNvSpPr txBox="1"/>
          <p:nvPr/>
        </p:nvSpPr>
        <p:spPr>
          <a:xfrm>
            <a:off x="1244600" y="2527300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เล่นบาส 18:00 สนามกลาง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1244600" y="28956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ขาดอีก 4 คน</a:t>
            </a:r>
          </a:p>
        </p:txBody>
      </p:sp>
      <p:sp>
        <p:nvSpPr>
          <p:cNvPr id="17" name="Rect 16"/>
          <p:cNvSpPr/>
          <p:nvPr/>
        </p:nvSpPr>
        <p:spPr>
          <a:xfrm>
            <a:off x="6350000" y="5715000"/>
            <a:ext cx="5334000" cy="508000"/>
          </a:xfrm>
          <a:prstGeom prst="roundRect">
            <a:avLst>
              <a:gd name="adj" fmla="val 17500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52400" rIns="152400" tIns="50800" bIns="508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UniMate จึงเก็บโพสต์ คำขอ การยืนยัน และรีวิวเป็นข้อมูลในระบบ ตรวจสอบย้อนหลังได้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02 · วัตถุประสงค์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วัตถุประสงค์ 4 ข้อ กับสิ่งที่ระบบทำได้จริง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06 / 71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508000" y="1244600"/>
            <a:ext cx="508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วัตถุประสงค์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413500" y="1244600"/>
            <a:ext cx="508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ในระบบที่พัฒนาเสร็จ</a:t>
            </a:r>
          </a:p>
        </p:txBody>
      </p:sp>
      <p:sp>
        <p:nvSpPr>
          <p:cNvPr id="9" name="กรอบ รวมกิจกรรมไว้ในที่เดียว"/>
          <p:cNvSpPr/>
          <p:nvPr/>
        </p:nvSpPr>
        <p:spPr>
          <a:xfrm>
            <a:off x="508000" y="1549400"/>
            <a:ext cx="5207000" cy="1054100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n 1"/>
          <p:cNvSpPr/>
          <p:nvPr/>
        </p:nvSpPr>
        <p:spPr>
          <a:xfrm>
            <a:off x="635000" y="1689100"/>
            <a:ext cx="330200" cy="3302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1066800" y="1689100"/>
            <a:ext cx="4495800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6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รวมกิจกรรมไว้ในที่เดียว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1066800" y="1993900"/>
            <a:ext cx="44958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ค้นหาและเปรียบเทียบกิจกรรมได้จากหน้าเดียว</a:t>
            </a:r>
          </a:p>
        </p:txBody>
      </p:sp>
      <p:cxnSp>
        <p:nvCxnSpPr>
          <p:cNvPr id="13" name="Arrow 12"/>
          <p:cNvCxnSpPr/>
          <p:nvPr/>
        </p:nvCxnSpPr>
        <p:spPr>
          <a:xfrm>
            <a:off x="5842000" y="2076450"/>
            <a:ext cx="508000" cy="0"/>
          </a:xfrm>
          <a:prstGeom prst="line">
            <a:avLst/>
          </a:prstGeom>
          <a:ln w="31750">
            <a:solidFill>
              <a:srgbClr val="E8470C"/>
            </a:solidFill>
            <a:tailEnd type="triangle" w="med" len="med"/>
          </a:ln>
        </p:spPr>
      </p:cxnSp>
      <p:sp>
        <p:nvSpPr>
          <p:cNvPr id="14" name="ฟีเจอร์ 1"/>
          <p:cNvSpPr/>
          <p:nvPr/>
        </p:nvSpPr>
        <p:spPr>
          <a:xfrm>
            <a:off x="6413500" y="1549400"/>
            <a:ext cx="5270500" cy="1054100"/>
          </a:xfrm>
          <a:prstGeom prst="roundRect">
            <a:avLst>
              <a:gd name="adj" fmla="val 10843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77800" rIns="177800" tIns="63500" bIns="6350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หน้ากิจกรรม: คำค้น หมวด สถานที่ วันที่ สถานะ แบ่งหน้าละ 12 รายการ</a:t>
            </a:r>
          </a:p>
        </p:txBody>
      </p:sp>
      <p:sp>
        <p:nvSpPr>
          <p:cNvPr id="15" name="กรอบ รับสมาชิกอย่างโปร่งใส"/>
          <p:cNvSpPr/>
          <p:nvPr/>
        </p:nvSpPr>
        <p:spPr>
          <a:xfrm>
            <a:off x="508000" y="2755900"/>
            <a:ext cx="5207000" cy="1054100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n 2"/>
          <p:cNvSpPr/>
          <p:nvPr/>
        </p:nvSpPr>
        <p:spPr>
          <a:xfrm>
            <a:off x="635000" y="2895600"/>
            <a:ext cx="330200" cy="3302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1066800" y="2895600"/>
            <a:ext cx="4495800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6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รับสมาชิกอย่างโปร่งใส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1066800" y="3200400"/>
            <a:ext cx="44958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เห็นจำนวนที่รับ สถานะคำขอ และรายชื่อ</a:t>
            </a:r>
          </a:p>
        </p:txBody>
      </p:sp>
      <p:cxnSp>
        <p:nvCxnSpPr>
          <p:cNvPr id="19" name="Arrow 18"/>
          <p:cNvCxnSpPr/>
          <p:nvPr/>
        </p:nvCxnSpPr>
        <p:spPr>
          <a:xfrm>
            <a:off x="5842000" y="3282950"/>
            <a:ext cx="508000" cy="0"/>
          </a:xfrm>
          <a:prstGeom prst="line">
            <a:avLst/>
          </a:prstGeom>
          <a:ln w="31750">
            <a:solidFill>
              <a:srgbClr val="E8470C"/>
            </a:solidFill>
            <a:tailEnd type="triangle" w="med" len="med"/>
          </a:ln>
        </p:spPr>
      </p:cxnSp>
      <p:sp>
        <p:nvSpPr>
          <p:cNvPr id="20" name="ฟีเจอร์ 2"/>
          <p:cNvSpPr/>
          <p:nvPr/>
        </p:nvSpPr>
        <p:spPr>
          <a:xfrm>
            <a:off x="6413500" y="2755900"/>
            <a:ext cx="5270500" cy="1054100"/>
          </a:xfrm>
          <a:prstGeom prst="roundRect">
            <a:avLst>
              <a:gd name="adj" fmla="val 10843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77800" rIns="177800" tIns="63500" bIns="6350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จำนวนที่รับ / ที่ว่าง คำขอ 4 สถานะ และรายชื่อผู้เข้าร่วม</a:t>
            </a:r>
          </a:p>
        </p:txBody>
      </p:sp>
      <p:sp>
        <p:nvSpPr>
          <p:cNvPr id="21" name="กรอบ ลดปัญหาการนัดล่ม"/>
          <p:cNvSpPr/>
          <p:nvPr/>
        </p:nvSpPr>
        <p:spPr>
          <a:xfrm>
            <a:off x="508000" y="3962400"/>
            <a:ext cx="5207000" cy="1054100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n 3"/>
          <p:cNvSpPr/>
          <p:nvPr/>
        </p:nvSpPr>
        <p:spPr>
          <a:xfrm>
            <a:off x="635000" y="4102100"/>
            <a:ext cx="330200" cy="3302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1066800" y="4102100"/>
            <a:ext cx="4495800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6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ลดปัญหาการนัดล่ม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1066800" y="4406900"/>
            <a:ext cx="44958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ยืนยันการเข้าร่วมและประเมินหลังจบ</a:t>
            </a:r>
          </a:p>
        </p:txBody>
      </p:sp>
      <p:cxnSp>
        <p:nvCxnSpPr>
          <p:cNvPr id="25" name="Arrow 24"/>
          <p:cNvCxnSpPr/>
          <p:nvPr/>
        </p:nvCxnSpPr>
        <p:spPr>
          <a:xfrm>
            <a:off x="5842000" y="4489450"/>
            <a:ext cx="508000" cy="0"/>
          </a:xfrm>
          <a:prstGeom prst="line">
            <a:avLst/>
          </a:prstGeom>
          <a:ln w="31750">
            <a:solidFill>
              <a:srgbClr val="E8470C"/>
            </a:solidFill>
            <a:tailEnd type="triangle" w="med" len="med"/>
          </a:ln>
        </p:spPr>
      </p:cxnSp>
      <p:sp>
        <p:nvSpPr>
          <p:cNvPr id="26" name="ฟีเจอร์ 3"/>
          <p:cNvSpPr/>
          <p:nvPr/>
        </p:nvSpPr>
        <p:spPr>
          <a:xfrm>
            <a:off x="6413500" y="3962400"/>
            <a:ext cx="5270500" cy="1054100"/>
          </a:xfrm>
          <a:prstGeom prst="roundRect">
            <a:avLst>
              <a:gd name="adj" fmla="val 10843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77800" rIns="177800" tIns="63500" bIns="6350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อนุมัติไม่เกินจำนวนที่รับ เช็กชื่อ มา/ขาด รีวิวเฉพาะคนที่มาจริง</a:t>
            </a:r>
          </a:p>
        </p:txBody>
      </p:sp>
      <p:sp>
        <p:nvSpPr>
          <p:cNvPr id="27" name="กรอบ ใช้งานได้จริงตามข้อกำหนด"/>
          <p:cNvSpPr/>
          <p:nvPr/>
        </p:nvSpPr>
        <p:spPr>
          <a:xfrm>
            <a:off x="508000" y="5168900"/>
            <a:ext cx="5207000" cy="1054100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Pin 4"/>
          <p:cNvSpPr/>
          <p:nvPr/>
        </p:nvSpPr>
        <p:spPr>
          <a:xfrm>
            <a:off x="635000" y="5308600"/>
            <a:ext cx="330200" cy="3302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1066800" y="5308600"/>
            <a:ext cx="4495800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6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ใช้งานได้จริงตามข้อกำหนด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1066800" y="5613400"/>
            <a:ext cx="44958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Laravel + ฐานข้อมูล + ผู้ใช้มากกว่า 1 ระดับ</a:t>
            </a:r>
          </a:p>
        </p:txBody>
      </p:sp>
      <p:cxnSp>
        <p:nvCxnSpPr>
          <p:cNvPr id="31" name="Arrow 30"/>
          <p:cNvCxnSpPr/>
          <p:nvPr/>
        </p:nvCxnSpPr>
        <p:spPr>
          <a:xfrm>
            <a:off x="5842000" y="5695950"/>
            <a:ext cx="508000" cy="0"/>
          </a:xfrm>
          <a:prstGeom prst="line">
            <a:avLst/>
          </a:prstGeom>
          <a:ln w="31750">
            <a:solidFill>
              <a:srgbClr val="E8470C"/>
            </a:solidFill>
            <a:tailEnd type="triangle" w="med" len="med"/>
          </a:ln>
        </p:spPr>
      </p:cxnSp>
      <p:sp>
        <p:nvSpPr>
          <p:cNvPr id="32" name="ฟีเจอร์ 4"/>
          <p:cNvSpPr/>
          <p:nvPr/>
        </p:nvSpPr>
        <p:spPr>
          <a:xfrm>
            <a:off x="6413500" y="5168900"/>
            <a:ext cx="5270500" cy="1054100"/>
          </a:xfrm>
          <a:prstGeom prst="roundRect">
            <a:avLst>
              <a:gd name="adj" fmla="val 10843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77800" rIns="177800" tIns="63500" bIns="6350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Laravel 13 + SQLite (เปลี่ยนเป็น MySQL ได้) นักศึกษา/ผู้ดูแล ทดสอบอัตโนมัติ 52 กรณี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03 · ฟังก์ชันระบบแบ่งตามผู้ใช้งาน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ผู้ใช้ 3 กลุ่ม เห็นหน้าจอต่างกัน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07 / 71</a:t>
            </a:r>
          </a:p>
        </p:txBody>
      </p:sp>
      <p:sp>
        <p:nvSpPr>
          <p:cNvPr id="7" name="กรอบ ผู้เยี่ยมชม (Guest)"/>
          <p:cNvSpPr/>
          <p:nvPr/>
        </p:nvSpPr>
        <p:spPr>
          <a:xfrm>
            <a:off x="508000" y="1270000"/>
            <a:ext cx="3606800" cy="438150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ภาพ ผู้เยี่ยมชม (Guest)" descr="g01-log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397000"/>
            <a:ext cx="3352800" cy="18859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685800" y="3403600"/>
            <a:ext cx="32512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ผู้เยี่ยมชม (Guest)</a:t>
            </a:r>
          </a:p>
        </p:txBody>
      </p:sp>
      <p:sp>
        <p:nvSpPr>
          <p:cNvPr id="10" name="จุด"/>
          <p:cNvSpPr/>
          <p:nvPr/>
        </p:nvSpPr>
        <p:spPr>
          <a:xfrm>
            <a:off x="723900" y="3924300"/>
            <a:ext cx="88900" cy="889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 10"/>
          <p:cNvSpPr txBox="1"/>
          <p:nvPr/>
        </p:nvSpPr>
        <p:spPr>
          <a:xfrm>
            <a:off x="901700" y="38354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สมัครสมาชิกนักศึกษา</a:t>
            </a:r>
          </a:p>
        </p:txBody>
      </p:sp>
      <p:sp>
        <p:nvSpPr>
          <p:cNvPr id="12" name="จุด"/>
          <p:cNvSpPr/>
          <p:nvPr/>
        </p:nvSpPr>
        <p:spPr>
          <a:xfrm>
            <a:off x="723900" y="4343400"/>
            <a:ext cx="88900" cy="889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12"/>
          <p:cNvSpPr txBox="1"/>
          <p:nvPr/>
        </p:nvSpPr>
        <p:spPr>
          <a:xfrm>
            <a:off x="901700" y="42545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เข้าสู่ระบบ</a:t>
            </a:r>
          </a:p>
        </p:txBody>
      </p:sp>
      <p:sp>
        <p:nvSpPr>
          <p:cNvPr id="14" name="จุด"/>
          <p:cNvSpPr/>
          <p:nvPr/>
        </p:nvSpPr>
        <p:spPr>
          <a:xfrm>
            <a:off x="723900" y="4762500"/>
            <a:ext cx="88900" cy="889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14"/>
          <p:cNvSpPr txBox="1"/>
          <p:nvPr/>
        </p:nvSpPr>
        <p:spPr>
          <a:xfrm>
            <a:off x="901700" y="46736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บัญชีถูกระงับเข้าไม่ได้</a:t>
            </a:r>
          </a:p>
        </p:txBody>
      </p:sp>
      <p:sp>
        <p:nvSpPr>
          <p:cNvPr id="16" name="กรอบ นักศึกษา (Student)"/>
          <p:cNvSpPr/>
          <p:nvPr/>
        </p:nvSpPr>
        <p:spPr>
          <a:xfrm>
            <a:off x="4292600" y="1270000"/>
            <a:ext cx="3606800" cy="438150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ภาพ นักศึกษา (Student)" descr="s01-activiti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97000"/>
            <a:ext cx="3352800" cy="18859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18" name="Text 17"/>
          <p:cNvSpPr txBox="1"/>
          <p:nvPr/>
        </p:nvSpPr>
        <p:spPr>
          <a:xfrm>
            <a:off x="4470400" y="3403600"/>
            <a:ext cx="32512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นักศึกษา (Student)</a:t>
            </a:r>
          </a:p>
        </p:txBody>
      </p:sp>
      <p:sp>
        <p:nvSpPr>
          <p:cNvPr id="19" name="จุด"/>
          <p:cNvSpPr/>
          <p:nvPr/>
        </p:nvSpPr>
        <p:spPr>
          <a:xfrm>
            <a:off x="4508500" y="3924300"/>
            <a:ext cx="88900" cy="889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 19"/>
          <p:cNvSpPr txBox="1"/>
          <p:nvPr/>
        </p:nvSpPr>
        <p:spPr>
          <a:xfrm>
            <a:off x="4686300" y="38354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ค้นหา ขอเข้าร่วม ติดตามนัด</a:t>
            </a:r>
          </a:p>
        </p:txBody>
      </p:sp>
      <p:sp>
        <p:nvSpPr>
          <p:cNvPr id="21" name="จุด"/>
          <p:cNvSpPr/>
          <p:nvPr/>
        </p:nvSpPr>
        <p:spPr>
          <a:xfrm>
            <a:off x="4508500" y="4343400"/>
            <a:ext cx="88900" cy="889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21"/>
          <p:cNvSpPr txBox="1"/>
          <p:nvPr/>
        </p:nvSpPr>
        <p:spPr>
          <a:xfrm>
            <a:off x="4686300" y="42545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สร้างและจัดการโพสต์ของตัวเอง</a:t>
            </a:r>
          </a:p>
        </p:txBody>
      </p:sp>
      <p:sp>
        <p:nvSpPr>
          <p:cNvPr id="23" name="จุด"/>
          <p:cNvSpPr/>
          <p:nvPr/>
        </p:nvSpPr>
        <p:spPr>
          <a:xfrm>
            <a:off x="4508500" y="4762500"/>
            <a:ext cx="88900" cy="889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 23"/>
          <p:cNvSpPr txBox="1"/>
          <p:nvPr/>
        </p:nvSpPr>
        <p:spPr>
          <a:xfrm>
            <a:off x="4686300" y="46736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อนุมัติคำขอ เช็กชื่อ</a:t>
            </a:r>
          </a:p>
        </p:txBody>
      </p:sp>
      <p:sp>
        <p:nvSpPr>
          <p:cNvPr id="25" name="จุด"/>
          <p:cNvSpPr/>
          <p:nvPr/>
        </p:nvSpPr>
        <p:spPr>
          <a:xfrm>
            <a:off x="4508500" y="5181600"/>
            <a:ext cx="88900" cy="889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 25"/>
          <p:cNvSpPr txBox="1"/>
          <p:nvPr/>
        </p:nvSpPr>
        <p:spPr>
          <a:xfrm>
            <a:off x="4686300" y="50927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รีวิว รายงาน แจ้งเตือน โปรไฟล์</a:t>
            </a:r>
          </a:p>
        </p:txBody>
      </p:sp>
      <p:sp>
        <p:nvSpPr>
          <p:cNvPr id="27" name="กรอบ ผู้ดูแลระบบ (Admin)"/>
          <p:cNvSpPr/>
          <p:nvPr/>
        </p:nvSpPr>
        <p:spPr>
          <a:xfrm>
            <a:off x="8077200" y="1270000"/>
            <a:ext cx="3606800" cy="438150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ภาพ ผู้ดูแลระบบ (Admin)" descr="a01-user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4200" y="1397000"/>
            <a:ext cx="3352800" cy="18859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29" name="Text 28"/>
          <p:cNvSpPr txBox="1"/>
          <p:nvPr/>
        </p:nvSpPr>
        <p:spPr>
          <a:xfrm>
            <a:off x="8255000" y="3403600"/>
            <a:ext cx="32512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ผู้ดูแลระบบ (Admin)</a:t>
            </a:r>
          </a:p>
        </p:txBody>
      </p:sp>
      <p:sp>
        <p:nvSpPr>
          <p:cNvPr id="30" name="จุด"/>
          <p:cNvSpPr/>
          <p:nvPr/>
        </p:nvSpPr>
        <p:spPr>
          <a:xfrm>
            <a:off x="8293100" y="3924300"/>
            <a:ext cx="88900" cy="889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 30"/>
          <p:cNvSpPr txBox="1"/>
          <p:nvPr/>
        </p:nvSpPr>
        <p:spPr>
          <a:xfrm>
            <a:off x="8470900" y="38354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สถิติ ค้นหา ระงับ/เปิดบัญชี</a:t>
            </a:r>
          </a:p>
        </p:txBody>
      </p:sp>
      <p:sp>
        <p:nvSpPr>
          <p:cNvPr id="32" name="จุด"/>
          <p:cNvSpPr/>
          <p:nvPr/>
        </p:nvSpPr>
        <p:spPr>
          <a:xfrm>
            <a:off x="8293100" y="4343400"/>
            <a:ext cx="88900" cy="889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 32"/>
          <p:cNvSpPr txBox="1"/>
          <p:nvPr/>
        </p:nvSpPr>
        <p:spPr>
          <a:xfrm>
            <a:off x="8470900" y="42545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เพิ่ม แก้ไข ลบหมวดหมู่</a:t>
            </a:r>
          </a:p>
        </p:txBody>
      </p:sp>
      <p:sp>
        <p:nvSpPr>
          <p:cNvPr id="34" name="จุด"/>
          <p:cNvSpPr/>
          <p:nvPr/>
        </p:nvSpPr>
        <p:spPr>
          <a:xfrm>
            <a:off x="8293100" y="4762500"/>
            <a:ext cx="88900" cy="889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 34"/>
          <p:cNvSpPr txBox="1"/>
          <p:nvPr/>
        </p:nvSpPr>
        <p:spPr>
          <a:xfrm>
            <a:off x="8470900" y="46736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ตรวจรายงาน ซ่อนกิจกรรม</a:t>
            </a:r>
          </a:p>
        </p:txBody>
      </p:sp>
      <p:sp>
        <p:nvSpPr>
          <p:cNvPr id="36" name="จุด"/>
          <p:cNvSpPr/>
          <p:nvPr/>
        </p:nvSpPr>
        <p:spPr>
          <a:xfrm>
            <a:off x="8293100" y="5181600"/>
            <a:ext cx="88900" cy="889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 36"/>
          <p:cNvSpPr txBox="1"/>
          <p:nvPr/>
        </p:nvSpPr>
        <p:spPr>
          <a:xfrm>
            <a:off x="8470900" y="50927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ดูประวัติการดำเนินการ</a:t>
            </a:r>
          </a:p>
        </p:txBody>
      </p:sp>
      <p:sp>
        <p:nvSpPr>
          <p:cNvPr id="38" name="Rect 37"/>
          <p:cNvSpPr/>
          <p:nvPr/>
        </p:nvSpPr>
        <p:spPr>
          <a:xfrm>
            <a:off x="508000" y="5778500"/>
            <a:ext cx="11176000" cy="444500"/>
          </a:xfrm>
          <a:prstGeom prst="roundRect">
            <a:avLst>
              <a:gd name="adj" fmla="val 20000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นักศึกษาหนึ่งบัญชีเป็นได้ทั้ง “ผู้จัด” และ “ผู้เข้าร่วม”  ·  แก้/ยกเลิกโพสต์ได้เฉพาะเจ้าของ (Admin ก็แก้ไม่ได้)  ·  หน้า /admin เฉพาะผู้ดูแล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03 · ภาพรวมการใช้งาน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หนึ่งกิจกรรม ผู้จัดกับผู้เข้าร่วมทำงานต่อกันอย่างไร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08 / 71</a:t>
            </a:r>
          </a:p>
        </p:txBody>
      </p:sp>
      <p:sp>
        <p:nvSpPr>
          <p:cNvPr id="7" name="ช่อง ผู้จัด"/>
          <p:cNvSpPr/>
          <p:nvPr/>
        </p:nvSpPr>
        <p:spPr>
          <a:xfrm>
            <a:off x="508000" y="1270000"/>
            <a:ext cx="11176000" cy="1905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7"/>
          <p:cNvSpPr txBox="1"/>
          <p:nvPr/>
        </p:nvSpPr>
        <p:spPr>
          <a:xfrm>
            <a:off x="660400" y="1384300"/>
            <a:ext cx="1079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5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ผู้จัด</a:t>
            </a:r>
          </a:p>
        </p:txBody>
      </p:sp>
      <p:sp>
        <p:nvSpPr>
          <p:cNvPr id="9" name="ช่อง ผู้เข้าร่วม"/>
          <p:cNvSpPr/>
          <p:nvPr/>
        </p:nvSpPr>
        <p:spPr>
          <a:xfrm>
            <a:off x="508000" y="3302000"/>
            <a:ext cx="11176000" cy="1905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9"/>
          <p:cNvSpPr txBox="1"/>
          <p:nvPr/>
        </p:nvSpPr>
        <p:spPr>
          <a:xfrm>
            <a:off x="660400" y="3416300"/>
            <a:ext cx="1079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5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ผู้เข้าร่วม</a:t>
            </a:r>
          </a:p>
        </p:txBody>
      </p:sp>
      <p:sp>
        <p:nvSpPr>
          <p:cNvPr id="11" name="ช่อง ผู้ดูแล"/>
          <p:cNvSpPr/>
          <p:nvPr/>
        </p:nvSpPr>
        <p:spPr>
          <a:xfrm>
            <a:off x="508000" y="5334000"/>
            <a:ext cx="11176000" cy="889000"/>
          </a:xfrm>
          <a:prstGeom prst="roundRect">
            <a:avLst>
              <a:gd name="adj" fmla="val 12857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60400" y="5448300"/>
            <a:ext cx="1079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5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ผู้ดูแล</a:t>
            </a:r>
          </a:p>
        </p:txBody>
      </p:sp>
      <p:pic>
        <p:nvPicPr>
          <p:cNvPr id="13" name="ภาพหน้าจอ d-created-owner" descr="d-created-owner_112-126-1216x68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485900"/>
            <a:ext cx="1587500" cy="892969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14" name="Pin 1"/>
          <p:cNvSpPr/>
          <p:nvPr/>
        </p:nvSpPr>
        <p:spPr>
          <a:xfrm>
            <a:off x="1695450" y="1339850"/>
            <a:ext cx="292100" cy="2921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1841500" y="2455069"/>
            <a:ext cx="1587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4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สร้างโพสต์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1841500" y="2734469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สไลด์ 27</a:t>
            </a:r>
          </a:p>
        </p:txBody>
      </p:sp>
      <p:pic>
        <p:nvPicPr>
          <p:cNvPr id="17" name="ภาพหน้าจอ d-activities" descr="d-activities_96-0-1248x7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3517900"/>
            <a:ext cx="1587500" cy="892969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18" name="Pin 2"/>
          <p:cNvSpPr/>
          <p:nvPr/>
        </p:nvSpPr>
        <p:spPr>
          <a:xfrm>
            <a:off x="3473450" y="3371850"/>
            <a:ext cx="292100" cy="2921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3619500" y="4487069"/>
            <a:ext cx="1587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4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ค้นหา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3619500" y="4766469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สไลด์ 9</a:t>
            </a:r>
          </a:p>
        </p:txBody>
      </p:sp>
      <p:pic>
        <p:nvPicPr>
          <p:cNvPr id="21" name="ภาพหน้าจอ d-detail" descr="d-detail_96-96-1248x7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7500" y="3517900"/>
            <a:ext cx="1587500" cy="892969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22" name="Pin 3"/>
          <p:cNvSpPr/>
          <p:nvPr/>
        </p:nvSpPr>
        <p:spPr>
          <a:xfrm>
            <a:off x="5251450" y="3371850"/>
            <a:ext cx="292100" cy="2921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5397500" y="4487069"/>
            <a:ext cx="1587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4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ขอเข้าร่วม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5397500" y="4766469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สไลด์ 22</a:t>
            </a:r>
          </a:p>
        </p:txBody>
      </p:sp>
      <p:pic>
        <p:nvPicPr>
          <p:cNvPr id="25" name="ภาพหน้าจอ d-requests" descr="d-requests_240-96-960x54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500" y="1485900"/>
            <a:ext cx="1587500" cy="892969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26" name="Pin 4"/>
          <p:cNvSpPr/>
          <p:nvPr/>
        </p:nvSpPr>
        <p:spPr>
          <a:xfrm>
            <a:off x="7029450" y="1339850"/>
            <a:ext cx="292100" cy="2921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7175500" y="2455069"/>
            <a:ext cx="1587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4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อนุมัติ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7175500" y="2734469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สไลด์ 32</a:t>
            </a:r>
          </a:p>
        </p:txBody>
      </p:sp>
      <p:pic>
        <p:nvPicPr>
          <p:cNvPr id="29" name="ภาพหน้าจอ d-attendance" descr="d-attendance_240-96-960x54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0" y="1485900"/>
            <a:ext cx="1587500" cy="892969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30" name="Pin 5"/>
          <p:cNvSpPr/>
          <p:nvPr/>
        </p:nvSpPr>
        <p:spPr>
          <a:xfrm>
            <a:off x="8807450" y="1339850"/>
            <a:ext cx="292100" cy="2921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5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8953500" y="2455069"/>
            <a:ext cx="1587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4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เช็กชื่อ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8953500" y="2734469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สไลด์ 32</a:t>
            </a:r>
          </a:p>
        </p:txBody>
      </p:sp>
      <p:pic>
        <p:nvPicPr>
          <p:cNvPr id="33" name="ภาพหน้าจอ d-review" descr="d-review_96-96-1248x70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0" y="3517900"/>
            <a:ext cx="1460500" cy="821531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34" name="Pin 6"/>
          <p:cNvSpPr/>
          <p:nvPr/>
        </p:nvSpPr>
        <p:spPr>
          <a:xfrm>
            <a:off x="9950450" y="3371850"/>
            <a:ext cx="292100" cy="2921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6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10096500" y="4415631"/>
            <a:ext cx="1460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4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รีวิว</a:t>
            </a:r>
          </a:p>
        </p:txBody>
      </p:sp>
      <p:sp>
        <p:nvSpPr>
          <p:cNvPr id="36" name="Text 35"/>
          <p:cNvSpPr txBox="1"/>
          <p:nvPr/>
        </p:nvSpPr>
        <p:spPr>
          <a:xfrm>
            <a:off x="10096500" y="4695031"/>
            <a:ext cx="1460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สไลด์ 42</a:t>
            </a:r>
          </a:p>
        </p:txBody>
      </p:sp>
      <p:cxnSp>
        <p:nvCxnSpPr>
          <p:cNvPr id="37" name="Arrow 36"/>
          <p:cNvCxnSpPr/>
          <p:nvPr/>
        </p:nvCxnSpPr>
        <p:spPr>
          <a:xfrm>
            <a:off x="3467100" y="1932384"/>
            <a:ext cx="101600" cy="203200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cxnSp>
        <p:nvCxnSpPr>
          <p:cNvPr id="38" name="Arrow 37"/>
          <p:cNvCxnSpPr/>
          <p:nvPr/>
        </p:nvCxnSpPr>
        <p:spPr>
          <a:xfrm>
            <a:off x="5245100" y="3964384"/>
            <a:ext cx="101600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cxnSp>
        <p:nvCxnSpPr>
          <p:cNvPr id="39" name="Arrow 38"/>
          <p:cNvCxnSpPr/>
          <p:nvPr/>
        </p:nvCxnSpPr>
        <p:spPr>
          <a:xfrm flipV="1">
            <a:off x="7023100" y="1932384"/>
            <a:ext cx="101600" cy="203200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cxnSp>
        <p:nvCxnSpPr>
          <p:cNvPr id="40" name="Arrow 39"/>
          <p:cNvCxnSpPr/>
          <p:nvPr/>
        </p:nvCxnSpPr>
        <p:spPr>
          <a:xfrm>
            <a:off x="8801100" y="1932384"/>
            <a:ext cx="101600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cxnSp>
        <p:nvCxnSpPr>
          <p:cNvPr id="41" name="Arrow 40"/>
          <p:cNvCxnSpPr/>
          <p:nvPr/>
        </p:nvCxnSpPr>
        <p:spPr>
          <a:xfrm flipH="1">
            <a:off x="10045700" y="1932384"/>
            <a:ext cx="533400" cy="1996282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42" name="Text 41"/>
          <p:cNvSpPr txBox="1"/>
          <p:nvPr/>
        </p:nvSpPr>
        <p:spPr>
          <a:xfrm>
            <a:off x="1905000" y="54610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ทุกขั้นตอน: พบปัญหา → รายงานกิจกรรมหรือผู้ใช้ → ผู้ดูแลตรวจ ซ่อน/ระงับ/ยกรายงาน → แจ้งผลผู้รายงาน (สไลด์ 47–63)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หน้ากิจกรรม: ค้นหาและกรองได้ในหน้าเดียว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09 / 71</a:t>
            </a:r>
          </a:p>
        </p:txBody>
      </p:sp>
      <p:pic>
        <p:nvPicPr>
          <p:cNvPr id="7" name="ภาพหน้าจอ d-activities" descr="d-activities_96-0-1248x7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556500" cy="4250531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การ์ดกิจกรรม: ดูข้อมูลสำคัญได้ก่อนเปิด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14 / 71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508000" y="952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เรียงกิจกรรมที่ยังไม่จบขึ้นก่อน · หน้าละ 12 การ์ด</a:t>
            </a:r>
          </a:p>
        </p:txBody>
      </p:sp>
      <p:pic>
        <p:nvPicPr>
          <p:cNvPr id="8" name="ภาพการ์ดกิจกรรม" descr="d-card_0-0-392x4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301750"/>
            <a:ext cx="4540250" cy="488771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2 ดูรายละเอียดและขอเข้าร่วม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เห็นข้อมูลครบก่อนตัดสินใจ แล้วส่งคำขอ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22 / 71</a:t>
            </a:r>
          </a:p>
        </p:txBody>
      </p:sp>
      <p:pic>
        <p:nvPicPr>
          <p:cNvPr id="7" name="ภาพหน้าจอ d-detail" descr="d-detail_96-96-1248x5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15973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detail-pending" descr="d-detail-pending_968-250-360x2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597400"/>
            <a:ext cx="2794000" cy="1629833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3429000" y="45974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หลังกดส่ง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นักศึกษาในฐานะผู้จัด · ขั้น 3 สร้างโพสต์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ฟอร์มสร้างโพสต์ตรวจข้อมูลก่อนบันทึก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27 / 71</a:t>
            </a:r>
          </a:p>
        </p:txBody>
      </p:sp>
      <p:pic>
        <p:nvPicPr>
          <p:cNvPr id="7" name="ภาพหน้าจอ d-create-errors" descr="d-create-errors_176-236-1088x5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6350000" cy="3350092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created-owner" descr="d-created-owner_968-280-360x1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838700"/>
            <a:ext cx="2540000" cy="134055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3175000" y="48387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หลังกรอกครบและบันทึก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นักศึกษาในฐานะผู้จัด · ขั้น 4 อนุมัติและเช็กชื่อ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จัดการคำขอ: อนุมัติไม่เกินจำนวนที่รับ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32 / 71</a:t>
            </a:r>
          </a:p>
        </p:txBody>
      </p:sp>
      <p:pic>
        <p:nvPicPr>
          <p:cNvPr id="7" name="ภาพหน้าจอ d-requests" descr="d-requests_240-140-960x4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6667500" cy="30559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ttendance" descr="d-attendance_272-420-880x1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826000"/>
            <a:ext cx="6667500" cy="113650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508000" y="45212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แท็บ “อนุมัติแล้ว”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5 ติดตามนัด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นัดของฉัน และการแจ้งเตือน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37 / 71</a:t>
            </a:r>
          </a:p>
        </p:txBody>
      </p:sp>
      <p:pic>
        <p:nvPicPr>
          <p:cNvPr id="7" name="ภาพหน้าจอ d-my" descr="d-my_128-196-1184x5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5772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notifications" descr="d-notifications_320-96-800x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991100"/>
            <a:ext cx="3683000" cy="13811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ผู้เข้าร่วม · ขั้น 6 รีวิวหลังจบกิจกรรม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รีวิวได้เฉพาะคนที่มาจริง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42 / 71</a:t>
            </a:r>
          </a:p>
        </p:txBody>
      </p:sp>
      <p:pic>
        <p:nvPicPr>
          <p:cNvPr id="7" name="ภาพหน้าจอ d-ended" descr="d-ended_96-150-1248x4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75014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review" descr="d-review_140-136-780x3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191000"/>
            <a:ext cx="4572000" cy="20515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ผู้เข้าร่วม · ขั้น 7 รายงานปัญหา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รายงานกิจกรรมหรือผู้ใช้ที่เกี่ยวข้อง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47 / 71</a:t>
            </a:r>
          </a:p>
        </p:txBody>
      </p:sp>
      <p:pic>
        <p:nvPicPr>
          <p:cNvPr id="7" name="ภาพหน้าจอ d-report" descr="d-report_96-170-900x4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407833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8" name="Rect 7"/>
          <p:cNvSpPr/>
          <p:nvPr/>
        </p:nvSpPr>
        <p:spPr>
          <a:xfrm>
            <a:off x="508000" y="5016500"/>
            <a:ext cx="7302500" cy="1016000"/>
          </a:xfrm>
          <a:prstGeom prst="roundRect">
            <a:avLst>
              <a:gd name="adj" fmla="val 10000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77800" rIns="177800" tIns="63500" bIns="6350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รายงานทุกรายการไปรอที่หน้า “ตรวจรายงาน” ของผู้ดูแลระบบ (สไลด์ 58) และผู้รายงานได้รับแจ้งผลผ่านการแจ้งเตือน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ผู้ดูแลระบบ · ขั้น 8 บัญชีและหมวดหมู่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จัดการบัญชีผู้ใช้และหมวดหมู่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52 / 71</a:t>
            </a:r>
          </a:p>
        </p:txBody>
      </p:sp>
      <p:pic>
        <p:nvPicPr>
          <p:cNvPr id="7" name="ภาพหน้าจอ d-admin-users" descr="d-admin-users_96-200-1248x4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75014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dmin-categories" descr="d-admin-categories_320-276-800x2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254500"/>
            <a:ext cx="5461000" cy="17748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ผู้ดูแลระบบ · ขั้น 9 ตรวจรายงาน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ทุกการตัดสินใจต้องมีเหตุผล และย้อนดูได้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58 / 71</a:t>
            </a:r>
          </a:p>
        </p:txBody>
      </p:sp>
      <p:pic>
        <p:nvPicPr>
          <p:cNvPr id="7" name="ภาพหน้าจอ d-admin-reports" descr="d-admin-reports_96-276-1248x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10649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dmin-log" descr="d-admin-log_96-286-1248x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810000"/>
            <a:ext cx="7302500" cy="1755409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03 · ลำดับสถานะของคำขอ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คำขอหนึ่งรายการ เปลี่ยนสถานะอย่างไร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64 / 71</a:t>
            </a:r>
          </a:p>
        </p:txBody>
      </p:sp>
      <p:sp>
        <p:nvSpPr>
          <p:cNvPr id="7" name="สถานะ ส่งคำขอ"/>
          <p:cNvSpPr/>
          <p:nvPr/>
        </p:nvSpPr>
        <p:spPr>
          <a:xfrm>
            <a:off x="508000" y="2286000"/>
            <a:ext cx="1905000" cy="952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7"/>
          <p:cNvSpPr txBox="1"/>
          <p:nvPr/>
        </p:nvSpPr>
        <p:spPr>
          <a:xfrm>
            <a:off x="609600" y="2374900"/>
            <a:ext cx="1701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6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ส่งคำขอ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09600" y="2705100"/>
            <a:ext cx="17018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ผู้เข้าร่วม แนบข้อความได้</a:t>
            </a:r>
          </a:p>
        </p:txBody>
      </p:sp>
      <p:sp>
        <p:nvSpPr>
          <p:cNvPr id="10" name="สถานะ รออนุมัติ"/>
          <p:cNvSpPr/>
          <p:nvPr/>
        </p:nvSpPr>
        <p:spPr>
          <a:xfrm>
            <a:off x="2984500" y="2286000"/>
            <a:ext cx="1905000" cy="952500"/>
          </a:xfrm>
          <a:prstGeom prst="roundRect">
            <a:avLst>
              <a:gd name="adj" fmla="val 13333"/>
            </a:avLst>
          </a:prstGeom>
          <a:solidFill>
            <a:srgbClr val="FFF3C4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 10"/>
          <p:cNvSpPr txBox="1"/>
          <p:nvPr/>
        </p:nvSpPr>
        <p:spPr>
          <a:xfrm>
            <a:off x="3086100" y="2374900"/>
            <a:ext cx="1701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6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รออนุมัติ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3086100" y="2705100"/>
            <a:ext cx="17018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pending</a:t>
            </a:r>
          </a:p>
        </p:txBody>
      </p:sp>
      <p:sp>
        <p:nvSpPr>
          <p:cNvPr id="13" name="สถานะ อนุมัติแล้ว"/>
          <p:cNvSpPr/>
          <p:nvPr/>
        </p:nvSpPr>
        <p:spPr>
          <a:xfrm>
            <a:off x="5715000" y="1270000"/>
            <a:ext cx="1905000" cy="952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13"/>
          <p:cNvSpPr txBox="1"/>
          <p:nvPr/>
        </p:nvSpPr>
        <p:spPr>
          <a:xfrm>
            <a:off x="5816600" y="1358900"/>
            <a:ext cx="1701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6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อนุมัติแล้ว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5816600" y="1689100"/>
            <a:ext cx="17018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approved</a:t>
            </a:r>
          </a:p>
        </p:txBody>
      </p:sp>
      <p:sp>
        <p:nvSpPr>
          <p:cNvPr id="16" name="สถานะ ปฏิเสธ"/>
          <p:cNvSpPr/>
          <p:nvPr/>
        </p:nvSpPr>
        <p:spPr>
          <a:xfrm>
            <a:off x="5715000" y="2540000"/>
            <a:ext cx="1905000" cy="952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16"/>
          <p:cNvSpPr txBox="1"/>
          <p:nvPr/>
        </p:nvSpPr>
        <p:spPr>
          <a:xfrm>
            <a:off x="5816600" y="2628900"/>
            <a:ext cx="1701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6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ปฏิเสธ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5816600" y="2959100"/>
            <a:ext cx="17018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rejected</a:t>
            </a:r>
          </a:p>
        </p:txBody>
      </p:sp>
      <p:sp>
        <p:nvSpPr>
          <p:cNvPr id="19" name="สถานะ ถอนคำขอ"/>
          <p:cNvSpPr/>
          <p:nvPr/>
        </p:nvSpPr>
        <p:spPr>
          <a:xfrm>
            <a:off x="5715000" y="3810000"/>
            <a:ext cx="1905000" cy="952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 19"/>
          <p:cNvSpPr txBox="1"/>
          <p:nvPr/>
        </p:nvSpPr>
        <p:spPr>
          <a:xfrm>
            <a:off x="5816600" y="3898900"/>
            <a:ext cx="1701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6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ถอนคำขอ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5816600" y="4229100"/>
            <a:ext cx="17018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cancelled</a:t>
            </a:r>
          </a:p>
        </p:txBody>
      </p:sp>
      <p:sp>
        <p:nvSpPr>
          <p:cNvPr id="22" name="สถานะ เช็กชื่อ: มา / ขาด"/>
          <p:cNvSpPr/>
          <p:nvPr/>
        </p:nvSpPr>
        <p:spPr>
          <a:xfrm>
            <a:off x="8445500" y="1270000"/>
            <a:ext cx="3238500" cy="952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 22"/>
          <p:cNvSpPr txBox="1"/>
          <p:nvPr/>
        </p:nvSpPr>
        <p:spPr>
          <a:xfrm>
            <a:off x="8547100" y="1358900"/>
            <a:ext cx="30353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6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เช็กชื่อ: มา / ขาด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8547100" y="1689100"/>
            <a:ext cx="30353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present / absent</a:t>
            </a:r>
          </a:p>
        </p:txBody>
      </p:sp>
      <p:sp>
        <p:nvSpPr>
          <p:cNvPr id="25" name="สถานะ รีวิวได้ 1 ครั้ง"/>
          <p:cNvSpPr/>
          <p:nvPr/>
        </p:nvSpPr>
        <p:spPr>
          <a:xfrm>
            <a:off x="8445500" y="2984500"/>
            <a:ext cx="3238500" cy="952500"/>
          </a:xfrm>
          <a:prstGeom prst="roundRect">
            <a:avLst>
              <a:gd name="adj" fmla="val 13333"/>
            </a:avLst>
          </a:prstGeom>
          <a:solidFill>
            <a:srgbClr val="FFF3C4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 25"/>
          <p:cNvSpPr txBox="1"/>
          <p:nvPr/>
        </p:nvSpPr>
        <p:spPr>
          <a:xfrm>
            <a:off x="8547100" y="3073400"/>
            <a:ext cx="30353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6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รีวิวได้ 1 ครั้ง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8547100" y="3403600"/>
            <a:ext cx="30353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กิจกรรมจบแล้ว และถูกเช็กว่า “มา”</a:t>
            </a:r>
          </a:p>
        </p:txBody>
      </p:sp>
      <p:cxnSp>
        <p:nvCxnSpPr>
          <p:cNvPr id="28" name="Arrow 27"/>
          <p:cNvCxnSpPr/>
          <p:nvPr/>
        </p:nvCxnSpPr>
        <p:spPr>
          <a:xfrm>
            <a:off x="2438400" y="2762250"/>
            <a:ext cx="508000" cy="0"/>
          </a:xfrm>
          <a:prstGeom prst="line">
            <a:avLst/>
          </a:prstGeom>
          <a:ln w="25400">
            <a:solidFill>
              <a:srgbClr val="131922"/>
            </a:solidFill>
            <a:tailEnd type="triangle" w="med" len="med"/>
          </a:ln>
        </p:spPr>
      </p:cxnSp>
      <p:cxnSp>
        <p:nvCxnSpPr>
          <p:cNvPr id="29" name="Arrow 28"/>
          <p:cNvCxnSpPr/>
          <p:nvPr/>
        </p:nvCxnSpPr>
        <p:spPr>
          <a:xfrm flipV="1">
            <a:off x="4914900" y="1841500"/>
            <a:ext cx="762000" cy="762000"/>
          </a:xfrm>
          <a:prstGeom prst="line">
            <a:avLst/>
          </a:prstGeom>
          <a:ln w="25400">
            <a:solidFill>
              <a:srgbClr val="131922"/>
            </a:solidFill>
            <a:tailEnd type="triangle" w="med" len="med"/>
          </a:ln>
        </p:spPr>
      </p:cxnSp>
      <p:cxnSp>
        <p:nvCxnSpPr>
          <p:cNvPr id="30" name="Arrow 29"/>
          <p:cNvCxnSpPr/>
          <p:nvPr/>
        </p:nvCxnSpPr>
        <p:spPr>
          <a:xfrm>
            <a:off x="4914900" y="2762250"/>
            <a:ext cx="762000" cy="254000"/>
          </a:xfrm>
          <a:prstGeom prst="line">
            <a:avLst/>
          </a:prstGeom>
          <a:ln w="25400">
            <a:solidFill>
              <a:srgbClr val="131922"/>
            </a:solidFill>
            <a:tailEnd type="triangle" w="med" len="med"/>
          </a:ln>
        </p:spPr>
      </p:cxnSp>
      <p:cxnSp>
        <p:nvCxnSpPr>
          <p:cNvPr id="31" name="Arrow 30"/>
          <p:cNvCxnSpPr/>
          <p:nvPr/>
        </p:nvCxnSpPr>
        <p:spPr>
          <a:xfrm>
            <a:off x="4914900" y="2921000"/>
            <a:ext cx="762000" cy="1270000"/>
          </a:xfrm>
          <a:prstGeom prst="line">
            <a:avLst/>
          </a:prstGeom>
          <a:ln w="25400">
            <a:solidFill>
              <a:srgbClr val="131922"/>
            </a:solidFill>
            <a:tailEnd type="triangle" w="med" len="med"/>
          </a:ln>
        </p:spPr>
      </p:cxnSp>
      <p:cxnSp>
        <p:nvCxnSpPr>
          <p:cNvPr id="32" name="Arrow 31"/>
          <p:cNvCxnSpPr/>
          <p:nvPr/>
        </p:nvCxnSpPr>
        <p:spPr>
          <a:xfrm>
            <a:off x="7645400" y="1746250"/>
            <a:ext cx="762000" cy="0"/>
          </a:xfrm>
          <a:prstGeom prst="line">
            <a:avLst/>
          </a:prstGeom>
          <a:ln w="25400">
            <a:solidFill>
              <a:srgbClr val="131922"/>
            </a:solidFill>
            <a:tailEnd type="triangle" w="med" len="med"/>
          </a:ln>
        </p:spPr>
      </p:cxnSp>
      <p:cxnSp>
        <p:nvCxnSpPr>
          <p:cNvPr id="33" name="Arrow 32"/>
          <p:cNvCxnSpPr/>
          <p:nvPr/>
        </p:nvCxnSpPr>
        <p:spPr>
          <a:xfrm>
            <a:off x="10064750" y="2247900"/>
            <a:ext cx="0" cy="698500"/>
          </a:xfrm>
          <a:prstGeom prst="line">
            <a:avLst/>
          </a:prstGeom>
          <a:ln w="25400">
            <a:solidFill>
              <a:srgbClr val="131922"/>
            </a:solidFill>
            <a:tailEnd type="triangle" w="med" len="med"/>
          </a:ln>
        </p:spPr>
      </p:cxnSp>
      <p:sp>
        <p:nvSpPr>
          <p:cNvPr id="34" name="Pin 1"/>
          <p:cNvSpPr/>
          <p:nvPr/>
        </p:nvSpPr>
        <p:spPr>
          <a:xfrm>
            <a:off x="5162550" y="19558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35" name="Pin 2"/>
          <p:cNvSpPr/>
          <p:nvPr/>
        </p:nvSpPr>
        <p:spPr>
          <a:xfrm>
            <a:off x="5162550" y="34163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36" name="Pin 3"/>
          <p:cNvSpPr/>
          <p:nvPr/>
        </p:nvSpPr>
        <p:spPr>
          <a:xfrm>
            <a:off x="7886700" y="13843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37" name="Pin 4"/>
          <p:cNvSpPr/>
          <p:nvPr/>
        </p:nvSpPr>
        <p:spPr>
          <a:xfrm>
            <a:off x="10179050" y="24638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38" name="Pin 1"/>
          <p:cNvSpPr/>
          <p:nvPr/>
        </p:nvSpPr>
        <p:spPr>
          <a:xfrm>
            <a:off x="508000" y="50292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39" name="Text 38"/>
          <p:cNvSpPr txBox="1"/>
          <p:nvPr/>
        </p:nvSpPr>
        <p:spPr>
          <a:xfrm>
            <a:off x="889000" y="50165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ผู้จัดกดอนุมัติ หรือปฏิเสธ</a:t>
            </a:r>
          </a:p>
        </p:txBody>
      </p:sp>
      <p:sp>
        <p:nvSpPr>
          <p:cNvPr id="40" name="Text 39"/>
          <p:cNvSpPr txBox="1"/>
          <p:nvPr/>
        </p:nvSpPr>
        <p:spPr>
          <a:xfrm>
            <a:off x="889000" y="52959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ถ้าเต็มแล้วระบบไม่ให้อนุมัติ (transaction + lock) ผู้ขอได้รับแจ้งเตือน</a:t>
            </a:r>
          </a:p>
        </p:txBody>
      </p:sp>
      <p:sp>
        <p:nvSpPr>
          <p:cNvPr id="41" name="Pin 2"/>
          <p:cNvSpPr/>
          <p:nvPr/>
        </p:nvSpPr>
        <p:spPr>
          <a:xfrm>
            <a:off x="6159500" y="50292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42" name="Text 41"/>
          <p:cNvSpPr txBox="1"/>
          <p:nvPr/>
        </p:nvSpPr>
        <p:spPr>
          <a:xfrm>
            <a:off x="6540500" y="50165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ผู้ขอถอนคำขอเอง</a:t>
            </a:r>
          </a:p>
        </p:txBody>
      </p:sp>
      <p:sp>
        <p:nvSpPr>
          <p:cNvPr id="43" name="Text 42"/>
          <p:cNvSpPr txBox="1"/>
          <p:nvPr/>
        </p:nvSpPr>
        <p:spPr>
          <a:xfrm>
            <a:off x="6540500" y="52959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ถอนได้ทั้งตอนรออนุมัติ และหลังอนุมัติ (ถอนตัว) ส่งคำขอใหม่ได้</a:t>
            </a:r>
          </a:p>
        </p:txBody>
      </p:sp>
      <p:sp>
        <p:nvSpPr>
          <p:cNvPr id="44" name="Pin 3"/>
          <p:cNvSpPr/>
          <p:nvPr/>
        </p:nvSpPr>
        <p:spPr>
          <a:xfrm>
            <a:off x="508000" y="57277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45" name="Text 44"/>
          <p:cNvSpPr txBox="1"/>
          <p:nvPr/>
        </p:nvSpPr>
        <p:spPr>
          <a:xfrm>
            <a:off x="889000" y="57150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ผู้จัดเช็กชื่อ</a:t>
            </a:r>
          </a:p>
        </p:txBody>
      </p:sp>
      <p:sp>
        <p:nvSpPr>
          <p:cNvPr id="46" name="Text 45"/>
          <p:cNvSpPr txBox="1"/>
          <p:nvPr/>
        </p:nvSpPr>
        <p:spPr>
          <a:xfrm>
            <a:off x="889000" y="59944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เช็กได้เฉพาะคนที่อนุมัติแล้ว</a:t>
            </a:r>
          </a:p>
        </p:txBody>
      </p:sp>
      <p:sp>
        <p:nvSpPr>
          <p:cNvPr id="47" name="Pin 4"/>
          <p:cNvSpPr/>
          <p:nvPr/>
        </p:nvSpPr>
        <p:spPr>
          <a:xfrm>
            <a:off x="6159500" y="57277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48" name="Text 47"/>
          <p:cNvSpPr txBox="1"/>
          <p:nvPr/>
        </p:nvSpPr>
        <p:spPr>
          <a:xfrm>
            <a:off x="6540500" y="57150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เปิดให้รีวิว</a:t>
            </a:r>
          </a:p>
        </p:txBody>
      </p:sp>
      <p:sp>
        <p:nvSpPr>
          <p:cNvPr id="49" name="Text 48"/>
          <p:cNvSpPr txBox="1"/>
          <p:nvPr/>
        </p:nvSpPr>
        <p:spPr>
          <a:xfrm>
            <a:off x="6540500" y="59944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หลังเวลาสิ้นสุด เฉพาะคนที่ถูกเช็กว่า “มา” ผู้จัดรีวิวตัวเองไม่ได้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04 · ขอบเขตระบบ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ทำอะไรได้ และไม่ได้ทำอะไร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65 / 71</a:t>
            </a:r>
          </a:p>
        </p:txBody>
      </p:sp>
      <p:sp>
        <p:nvSpPr>
          <p:cNvPr id="7" name="กรอบในขอบเขต"/>
          <p:cNvSpPr/>
          <p:nvPr/>
        </p:nvSpPr>
        <p:spPr>
          <a:xfrm>
            <a:off x="508000" y="1270000"/>
            <a:ext cx="6477000" cy="50165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7"/>
          <p:cNvSpPr txBox="1"/>
          <p:nvPr/>
        </p:nvSpPr>
        <p:spPr>
          <a:xfrm>
            <a:off x="711200" y="1422400"/>
            <a:ext cx="5715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9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อยู่ในขอบเขต (ทำแล้ว)</a:t>
            </a:r>
          </a:p>
        </p:txBody>
      </p:sp>
      <p:sp>
        <p:nvSpPr>
          <p:cNvPr id="9" name="Pin 1"/>
          <p:cNvSpPr/>
          <p:nvPr/>
        </p:nvSpPr>
        <p:spPr>
          <a:xfrm>
            <a:off x="749300" y="2006600"/>
            <a:ext cx="279400" cy="279400"/>
          </a:xfrm>
          <a:prstGeom prst="ellipse">
            <a:avLst/>
          </a:prstGeom>
          <a:solidFill>
            <a:srgbClr val="131922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1168400" y="19812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 2 บทบาท (นักศึกษา / ผู้ดูแลระบบ) และการระงับบัญชี</a:t>
            </a:r>
          </a:p>
        </p:txBody>
      </p:sp>
      <p:sp>
        <p:nvSpPr>
          <p:cNvPr id="11" name="Pin 2"/>
          <p:cNvSpPr/>
          <p:nvPr/>
        </p:nvSpPr>
        <p:spPr>
          <a:xfrm>
            <a:off x="749300" y="2705100"/>
            <a:ext cx="279400" cy="279400"/>
          </a:xfrm>
          <a:prstGeom prst="ellipse">
            <a:avLst/>
          </a:prstGeom>
          <a:solidFill>
            <a:srgbClr val="131922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1168400" y="26797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โพสต์กิจกรรม: สร้าง แก้ไข ยกเลิก ค้นหา กรอง</a:t>
            </a:r>
          </a:p>
        </p:txBody>
      </p:sp>
      <p:sp>
        <p:nvSpPr>
          <p:cNvPr id="13" name="Pin 3"/>
          <p:cNvSpPr/>
          <p:nvPr/>
        </p:nvSpPr>
        <p:spPr>
          <a:xfrm>
            <a:off x="749300" y="3403600"/>
            <a:ext cx="279400" cy="279400"/>
          </a:xfrm>
          <a:prstGeom prst="ellipse">
            <a:avLst/>
          </a:prstGeom>
          <a:solidFill>
            <a:srgbClr val="131922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1168400" y="33782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คำขอเข้าร่วม อนุมัติ / ปฏิเสธ จำกัดตามจำนวนที่รับ</a:t>
            </a:r>
          </a:p>
        </p:txBody>
      </p:sp>
      <p:sp>
        <p:nvSpPr>
          <p:cNvPr id="15" name="Pin 4"/>
          <p:cNvSpPr/>
          <p:nvPr/>
        </p:nvSpPr>
        <p:spPr>
          <a:xfrm>
            <a:off x="749300" y="4102100"/>
            <a:ext cx="279400" cy="279400"/>
          </a:xfrm>
          <a:prstGeom prst="ellipse">
            <a:avLst/>
          </a:prstGeom>
          <a:solidFill>
            <a:srgbClr val="131922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1168400" y="40767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เช็กชื่อ นัดของฉัน และการแจ้งเตือนภายในเว็บ</a:t>
            </a:r>
          </a:p>
        </p:txBody>
      </p:sp>
      <p:sp>
        <p:nvSpPr>
          <p:cNvPr id="17" name="Pin 5"/>
          <p:cNvSpPr/>
          <p:nvPr/>
        </p:nvSpPr>
        <p:spPr>
          <a:xfrm>
            <a:off x="749300" y="4800600"/>
            <a:ext cx="279400" cy="279400"/>
          </a:xfrm>
          <a:prstGeom prst="ellipse">
            <a:avLst/>
          </a:prstGeom>
          <a:solidFill>
            <a:srgbClr val="131922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5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1168400" y="47752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รีวิวหลังจบกิจกรรม รายงานปัญหา และการตรวจของผู้ดูแล</a:t>
            </a:r>
          </a:p>
        </p:txBody>
      </p:sp>
      <p:sp>
        <p:nvSpPr>
          <p:cNvPr id="19" name="Pin 6"/>
          <p:cNvSpPr/>
          <p:nvPr/>
        </p:nvSpPr>
        <p:spPr>
          <a:xfrm>
            <a:off x="749300" y="5499100"/>
            <a:ext cx="279400" cy="279400"/>
          </a:xfrm>
          <a:prstGeom prst="ellipse">
            <a:avLst/>
          </a:prstGeom>
          <a:solidFill>
            <a:srgbClr val="131922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6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1168400" y="54737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ใช้งานผ่านเว็บเบราว์เซอร์ ทั้งคอมพิวเตอร์และมือถือ</a:t>
            </a:r>
          </a:p>
        </p:txBody>
      </p:sp>
      <p:sp>
        <p:nvSpPr>
          <p:cNvPr id="21" name="กรอบนอกขอบเขต"/>
          <p:cNvSpPr/>
          <p:nvPr/>
        </p:nvSpPr>
        <p:spPr>
          <a:xfrm>
            <a:off x="7239000" y="1270000"/>
            <a:ext cx="4445000" cy="5016500"/>
          </a:xfrm>
          <a:prstGeom prst="roundRect">
            <a:avLst>
              <a:gd name="adj" fmla="val 2857"/>
            </a:avLst>
          </a:prstGeom>
          <a:solidFill>
            <a:srgbClr val="FDE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21"/>
          <p:cNvSpPr txBox="1"/>
          <p:nvPr/>
        </p:nvSpPr>
        <p:spPr>
          <a:xfrm>
            <a:off x="7442200" y="1422400"/>
            <a:ext cx="406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900" b="1" lang="th-TH" altLang="en-US">
                <a:solidFill>
                  <a:srgbClr val="E8470C"/>
                </a:solidFill>
                <a:latin typeface="Mitr"/>
                <a:ea typeface="Mitr"/>
                <a:cs typeface="Mitr"/>
              </a:rPr>
              <a:t>ไม่อยู่ในขอบเขต</a:t>
            </a:r>
          </a:p>
        </p:txBody>
      </p:sp>
      <p:cxnSp>
        <p:nvCxnSpPr>
          <p:cNvPr id="23" name="Line 22"/>
          <p:cNvCxnSpPr/>
          <p:nvPr/>
        </p:nvCxnSpPr>
        <p:spPr>
          <a:xfrm>
            <a:off x="7493000" y="2070100"/>
            <a:ext cx="177800" cy="177800"/>
          </a:xfrm>
          <a:prstGeom prst="line">
            <a:avLst/>
          </a:prstGeom>
          <a:ln w="31750">
            <a:solidFill>
              <a:srgbClr val="E8470C"/>
            </a:solidFill>
          </a:ln>
        </p:spPr>
      </p:cxnSp>
      <p:cxnSp>
        <p:nvCxnSpPr>
          <p:cNvPr id="24" name="Line 23"/>
          <p:cNvCxnSpPr/>
          <p:nvPr/>
        </p:nvCxnSpPr>
        <p:spPr>
          <a:xfrm flipH="1">
            <a:off x="7493000" y="2070100"/>
            <a:ext cx="177800" cy="177800"/>
          </a:xfrm>
          <a:prstGeom prst="line">
            <a:avLst/>
          </a:prstGeom>
          <a:ln w="31750">
            <a:solidFill>
              <a:srgbClr val="E8470C"/>
            </a:solidFill>
          </a:ln>
        </p:spPr>
      </p:cxnSp>
      <p:sp>
        <p:nvSpPr>
          <p:cNvPr id="25" name="Text 24"/>
          <p:cNvSpPr txBox="1"/>
          <p:nvPr/>
        </p:nvSpPr>
        <p:spPr>
          <a:xfrm>
            <a:off x="7823200" y="1981200"/>
            <a:ext cx="3683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ซื้อขายสินค้าและชำระเงิน (ข้อห้ามของวิชา)</a:t>
            </a:r>
          </a:p>
        </p:txBody>
      </p:sp>
      <p:cxnSp>
        <p:nvCxnSpPr>
          <p:cNvPr id="26" name="Line 25"/>
          <p:cNvCxnSpPr/>
          <p:nvPr/>
        </p:nvCxnSpPr>
        <p:spPr>
          <a:xfrm>
            <a:off x="7493000" y="2768600"/>
            <a:ext cx="177800" cy="177800"/>
          </a:xfrm>
          <a:prstGeom prst="line">
            <a:avLst/>
          </a:prstGeom>
          <a:ln w="31750">
            <a:solidFill>
              <a:srgbClr val="E8470C"/>
            </a:solidFill>
          </a:ln>
        </p:spPr>
      </p:cxnSp>
      <p:cxnSp>
        <p:nvCxnSpPr>
          <p:cNvPr id="27" name="Line 26"/>
          <p:cNvCxnSpPr/>
          <p:nvPr/>
        </p:nvCxnSpPr>
        <p:spPr>
          <a:xfrm flipH="1">
            <a:off x="7493000" y="2768600"/>
            <a:ext cx="177800" cy="177800"/>
          </a:xfrm>
          <a:prstGeom prst="line">
            <a:avLst/>
          </a:prstGeom>
          <a:ln w="31750">
            <a:solidFill>
              <a:srgbClr val="E8470C"/>
            </a:solidFill>
          </a:ln>
        </p:spPr>
      </p:cxnSp>
      <p:sp>
        <p:nvSpPr>
          <p:cNvPr id="28" name="Text 27"/>
          <p:cNvSpPr txBox="1"/>
          <p:nvPr/>
        </p:nvSpPr>
        <p:spPr>
          <a:xfrm>
            <a:off x="7823200" y="2679700"/>
            <a:ext cx="3683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แชตระหว่างผู้ใช้</a:t>
            </a:r>
          </a:p>
        </p:txBody>
      </p:sp>
      <p:cxnSp>
        <p:nvCxnSpPr>
          <p:cNvPr id="29" name="Line 28"/>
          <p:cNvCxnSpPr/>
          <p:nvPr/>
        </p:nvCxnSpPr>
        <p:spPr>
          <a:xfrm>
            <a:off x="7493000" y="3467100"/>
            <a:ext cx="177800" cy="177800"/>
          </a:xfrm>
          <a:prstGeom prst="line">
            <a:avLst/>
          </a:prstGeom>
          <a:ln w="31750">
            <a:solidFill>
              <a:srgbClr val="E8470C"/>
            </a:solidFill>
          </a:ln>
        </p:spPr>
      </p:cxnSp>
      <p:cxnSp>
        <p:nvCxnSpPr>
          <p:cNvPr id="30" name="Line 29"/>
          <p:cNvCxnSpPr/>
          <p:nvPr/>
        </p:nvCxnSpPr>
        <p:spPr>
          <a:xfrm flipH="1">
            <a:off x="7493000" y="3467100"/>
            <a:ext cx="177800" cy="177800"/>
          </a:xfrm>
          <a:prstGeom prst="line">
            <a:avLst/>
          </a:prstGeom>
          <a:ln w="31750">
            <a:solidFill>
              <a:srgbClr val="E8470C"/>
            </a:solidFill>
          </a:ln>
        </p:spPr>
      </p:cxnSp>
      <p:sp>
        <p:nvSpPr>
          <p:cNvPr id="31" name="Text 30"/>
          <p:cNvSpPr txBox="1"/>
          <p:nvPr/>
        </p:nvSpPr>
        <p:spPr>
          <a:xfrm>
            <a:off x="7823200" y="3378200"/>
            <a:ext cx="3683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แจ้งเตือนทางอีเมลหรือพุช</a:t>
            </a:r>
          </a:p>
        </p:txBody>
      </p:sp>
      <p:cxnSp>
        <p:nvCxnSpPr>
          <p:cNvPr id="32" name="Line 31"/>
          <p:cNvCxnSpPr/>
          <p:nvPr/>
        </p:nvCxnSpPr>
        <p:spPr>
          <a:xfrm>
            <a:off x="7493000" y="4165600"/>
            <a:ext cx="177800" cy="177800"/>
          </a:xfrm>
          <a:prstGeom prst="line">
            <a:avLst/>
          </a:prstGeom>
          <a:ln w="31750">
            <a:solidFill>
              <a:srgbClr val="E8470C"/>
            </a:solidFill>
          </a:ln>
        </p:spPr>
      </p:cxnSp>
      <p:cxnSp>
        <p:nvCxnSpPr>
          <p:cNvPr id="33" name="Line 32"/>
          <p:cNvCxnSpPr/>
          <p:nvPr/>
        </p:nvCxnSpPr>
        <p:spPr>
          <a:xfrm flipH="1">
            <a:off x="7493000" y="4165600"/>
            <a:ext cx="177800" cy="177800"/>
          </a:xfrm>
          <a:prstGeom prst="line">
            <a:avLst/>
          </a:prstGeom>
          <a:ln w="31750">
            <a:solidFill>
              <a:srgbClr val="E8470C"/>
            </a:solidFill>
          </a:ln>
        </p:spPr>
      </p:cxnSp>
      <p:sp>
        <p:nvSpPr>
          <p:cNvPr id="34" name="Text 33"/>
          <p:cNvSpPr txBox="1"/>
          <p:nvPr/>
        </p:nvSpPr>
        <p:spPr>
          <a:xfrm>
            <a:off x="7823200" y="4076700"/>
            <a:ext cx="3683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อัปโหลดรูปกิจกรรม และแผนที่</a:t>
            </a:r>
          </a:p>
        </p:txBody>
      </p:sp>
      <p:cxnSp>
        <p:nvCxnSpPr>
          <p:cNvPr id="35" name="Line 34"/>
          <p:cNvCxnSpPr/>
          <p:nvPr/>
        </p:nvCxnSpPr>
        <p:spPr>
          <a:xfrm>
            <a:off x="7493000" y="4864100"/>
            <a:ext cx="177800" cy="177800"/>
          </a:xfrm>
          <a:prstGeom prst="line">
            <a:avLst/>
          </a:prstGeom>
          <a:ln w="31750">
            <a:solidFill>
              <a:srgbClr val="E8470C"/>
            </a:solidFill>
          </a:ln>
        </p:spPr>
      </p:cxnSp>
      <p:cxnSp>
        <p:nvCxnSpPr>
          <p:cNvPr id="36" name="Line 35"/>
          <p:cNvCxnSpPr/>
          <p:nvPr/>
        </p:nvCxnSpPr>
        <p:spPr>
          <a:xfrm flipH="1">
            <a:off x="7493000" y="4864100"/>
            <a:ext cx="177800" cy="177800"/>
          </a:xfrm>
          <a:prstGeom prst="line">
            <a:avLst/>
          </a:prstGeom>
          <a:ln w="31750">
            <a:solidFill>
              <a:srgbClr val="E8470C"/>
            </a:solidFill>
          </a:ln>
        </p:spPr>
      </p:cxnSp>
      <p:sp>
        <p:nvSpPr>
          <p:cNvPr id="37" name="Text 36"/>
          <p:cNvSpPr txBox="1"/>
          <p:nvPr/>
        </p:nvSpPr>
        <p:spPr>
          <a:xfrm>
            <a:off x="7823200" y="4775200"/>
            <a:ext cx="3683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เชื่อมบัญชีมหาวิทยาลัย / แอปมือถือ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04 · ขอบเขตระบบ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สิทธิ์ตรวจที่เซิร์ฟเวอร์ ไม่ใช่แค่ซ่อนปุ่ม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66 / 71</a:t>
            </a:r>
          </a:p>
        </p:txBody>
      </p:sp>
      <p:pic>
        <p:nvPicPr>
          <p:cNvPr id="7" name="ภาพหน้าจอ d-403" descr="d-403_440-120-560x6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3556000" cy="381000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8" name="กฎ 1"/>
          <p:cNvSpPr/>
          <p:nvPr/>
        </p:nvSpPr>
        <p:spPr>
          <a:xfrm>
            <a:off x="4826000" y="1270000"/>
            <a:ext cx="6858000" cy="74930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 8"/>
          <p:cNvSpPr txBox="1"/>
          <p:nvPr/>
        </p:nvSpPr>
        <p:spPr>
          <a:xfrm>
            <a:off x="5016500" y="1346200"/>
            <a:ext cx="6540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แก้ไข/ยกเลิกโพสต์ได้เฉพาะเจ้าของ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5016500" y="1663700"/>
            <a:ext cx="6540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ผู้อื่นรวม Admin ได้ 403 (ActivityPolicy)</a:t>
            </a:r>
          </a:p>
        </p:txBody>
      </p:sp>
      <p:sp>
        <p:nvSpPr>
          <p:cNvPr id="11" name="กฎ 2"/>
          <p:cNvSpPr/>
          <p:nvPr/>
        </p:nvSpPr>
        <p:spPr>
          <a:xfrm>
            <a:off x="4826000" y="2108200"/>
            <a:ext cx="6858000" cy="749300"/>
          </a:xfrm>
          <a:prstGeom prst="roundRect">
            <a:avLst>
              <a:gd name="adj" fmla="val 11864"/>
            </a:avLst>
          </a:prstGeom>
          <a:solidFill>
            <a:srgbClr val="FDE6DC"/>
          </a:solidFill>
          <a:ln w="25400">
            <a:solidFill>
              <a:srgbClr val="E847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5016500" y="2184400"/>
            <a:ext cx="6540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หน้า /admin เฉพาะผู้ดูแลระบบ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5016500" y="2501900"/>
            <a:ext cx="6540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นักศึกษาเปิด URL เองได้ 403 (Middleware admin)</a:t>
            </a:r>
          </a:p>
        </p:txBody>
      </p:sp>
      <p:sp>
        <p:nvSpPr>
          <p:cNvPr id="14" name="กฎ 3"/>
          <p:cNvSpPr/>
          <p:nvPr/>
        </p:nvSpPr>
        <p:spPr>
          <a:xfrm>
            <a:off x="4826000" y="2946400"/>
            <a:ext cx="6858000" cy="74930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14"/>
          <p:cNvSpPr txBox="1"/>
          <p:nvPr/>
        </p:nvSpPr>
        <p:spPr>
          <a:xfrm>
            <a:off x="5016500" y="3022600"/>
            <a:ext cx="6540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กิจกรรมที่ยกเลิกแล้วแก้ไขไม่ได้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5016500" y="3340100"/>
            <a:ext cx="6540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ได้ 409</a:t>
            </a:r>
          </a:p>
        </p:txBody>
      </p:sp>
      <p:sp>
        <p:nvSpPr>
          <p:cNvPr id="17" name="กฎ 4"/>
          <p:cNvSpPr/>
          <p:nvPr/>
        </p:nvSpPr>
        <p:spPr>
          <a:xfrm>
            <a:off x="4826000" y="3784600"/>
            <a:ext cx="6858000" cy="74930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 17"/>
          <p:cNvSpPr txBox="1"/>
          <p:nvPr/>
        </p:nvSpPr>
        <p:spPr>
          <a:xfrm>
            <a:off x="5016500" y="3860800"/>
            <a:ext cx="6540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ขอเข้าร่วมได้เมื่อยังไม่เริ่ม ไม่ใช่ของตัวเอง ไม่ถูกซ่อน ไม่เต็ม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5016500" y="4178300"/>
            <a:ext cx="6540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เซิร์ฟเวอร์ปฏิเสธ แม้ส่งคำขอเอง</a:t>
            </a:r>
          </a:p>
        </p:txBody>
      </p:sp>
      <p:sp>
        <p:nvSpPr>
          <p:cNvPr id="20" name="กฎ 5"/>
          <p:cNvSpPr/>
          <p:nvPr/>
        </p:nvSpPr>
        <p:spPr>
          <a:xfrm>
            <a:off x="4826000" y="4622800"/>
            <a:ext cx="6858000" cy="74930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 20"/>
          <p:cNvSpPr txBox="1"/>
          <p:nvPr/>
        </p:nvSpPr>
        <p:spPr>
          <a:xfrm>
            <a:off x="5016500" y="4699000"/>
            <a:ext cx="6540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อนุมัติเกินจำนวนที่รับไม่ได้ แม้กดพร้อมกัน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5016500" y="5016500"/>
            <a:ext cx="6540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DB transaction + lockForUpdate</a:t>
            </a:r>
          </a:p>
        </p:txBody>
      </p:sp>
      <p:sp>
        <p:nvSpPr>
          <p:cNvPr id="23" name="กฎ 6"/>
          <p:cNvSpPr/>
          <p:nvPr/>
        </p:nvSpPr>
        <p:spPr>
          <a:xfrm>
            <a:off x="4826000" y="5461000"/>
            <a:ext cx="6858000" cy="74930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 23"/>
          <p:cNvSpPr txBox="1"/>
          <p:nvPr/>
        </p:nvSpPr>
        <p:spPr>
          <a:xfrm>
            <a:off x="5016500" y="5537200"/>
            <a:ext cx="6540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บัญชีที่ถูกระงับใช้งานไม่ได้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5016500" y="5854700"/>
            <a:ext cx="6540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ถูกบังคับออกจากระบบ (Middleware active)</a:t>
            </a:r>
          </a:p>
        </p:txBody>
      </p:sp>
      <p:cxnSp>
        <p:nvCxnSpPr>
          <p:cNvPr id="26" name="Arrow 25"/>
          <p:cNvCxnSpPr/>
          <p:nvPr/>
        </p:nvCxnSpPr>
        <p:spPr>
          <a:xfrm flipH="1">
            <a:off x="2743200" y="2482850"/>
            <a:ext cx="2044700" cy="83820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27" name="Text 26"/>
          <p:cNvSpPr txBox="1"/>
          <p:nvPr/>
        </p:nvSpPr>
        <p:spPr>
          <a:xfrm>
            <a:off x="508000" y="52070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ทดลองจริง: ล็อกอินเป็นนักศึกษา แล้วพิมพ์ /admin/users เอง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05 · เบื้องหลังระบบ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กด “ส่งคำขอเข้าร่วม” แล้ว Laravel ทำอะไรบ้าง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67 / 71</a:t>
            </a:r>
          </a:p>
        </p:txBody>
      </p:sp>
      <p:sp>
        <p:nvSpPr>
          <p:cNvPr id="7" name="ชั้น เบราว์เซอร์"/>
          <p:cNvSpPr/>
          <p:nvPr/>
        </p:nvSpPr>
        <p:spPr>
          <a:xfrm>
            <a:off x="508000" y="1587500"/>
            <a:ext cx="2032000" cy="1460500"/>
          </a:xfrm>
          <a:prstGeom prst="roundRect">
            <a:avLst>
              <a:gd name="adj" fmla="val 7826"/>
            </a:avLst>
          </a:prstGeom>
          <a:solidFill>
            <a:srgbClr val="FFF3C4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7"/>
          <p:cNvSpPr txBox="1"/>
          <p:nvPr/>
        </p:nvSpPr>
        <p:spPr>
          <a:xfrm>
            <a:off x="635000" y="17145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เบราว์เซอร์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35000" y="2133600"/>
            <a:ext cx="1778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Blade + Tailwind CSS</a:t>
            </a:r>
          </a:p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JavaScript</a:t>
            </a:r>
          </a:p>
        </p:txBody>
      </p:sp>
      <p:cxnSp>
        <p:nvCxnSpPr>
          <p:cNvPr id="10" name="Arrow 9"/>
          <p:cNvCxnSpPr/>
          <p:nvPr/>
        </p:nvCxnSpPr>
        <p:spPr>
          <a:xfrm>
            <a:off x="2565400" y="2317750"/>
            <a:ext cx="203200" cy="0"/>
          </a:xfrm>
          <a:prstGeom prst="line">
            <a:avLst/>
          </a:prstGeom>
          <a:ln w="25400">
            <a:solidFill>
              <a:srgbClr val="131922"/>
            </a:solidFill>
            <a:tailEnd type="triangle" w="med" len="med"/>
          </a:ln>
        </p:spPr>
      </p:cxnSp>
      <p:sp>
        <p:nvSpPr>
          <p:cNvPr id="11" name="ชั้น Routes"/>
          <p:cNvSpPr/>
          <p:nvPr/>
        </p:nvSpPr>
        <p:spPr>
          <a:xfrm>
            <a:off x="2794000" y="1587500"/>
            <a:ext cx="2032000" cy="14605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2921000" y="17145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Routes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2921000" y="2133600"/>
            <a:ext cx="1778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POST /activities/{id}/join</a:t>
            </a:r>
          </a:p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Middleware auth · active</a:t>
            </a:r>
          </a:p>
        </p:txBody>
      </p:sp>
      <p:cxnSp>
        <p:nvCxnSpPr>
          <p:cNvPr id="14" name="Arrow 13"/>
          <p:cNvCxnSpPr/>
          <p:nvPr/>
        </p:nvCxnSpPr>
        <p:spPr>
          <a:xfrm>
            <a:off x="4851400" y="2317750"/>
            <a:ext cx="203200" cy="0"/>
          </a:xfrm>
          <a:prstGeom prst="line">
            <a:avLst/>
          </a:prstGeom>
          <a:ln w="25400">
            <a:solidFill>
              <a:srgbClr val="131922"/>
            </a:solidFill>
            <a:tailEnd type="triangle" w="med" len="med"/>
          </a:ln>
        </p:spPr>
      </p:cxnSp>
      <p:sp>
        <p:nvSpPr>
          <p:cNvPr id="15" name="ชั้น Controller"/>
          <p:cNvSpPr/>
          <p:nvPr/>
        </p:nvSpPr>
        <p:spPr>
          <a:xfrm>
            <a:off x="5080000" y="1587500"/>
            <a:ext cx="2032000" cy="14605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15"/>
          <p:cNvSpPr txBox="1"/>
          <p:nvPr/>
        </p:nvSpPr>
        <p:spPr>
          <a:xfrm>
            <a:off x="5207000" y="17145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Controller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5207000" y="2133600"/>
            <a:ext cx="1778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Gate::authorize('join')</a:t>
            </a:r>
          </a:p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validate ข้อความ ≤ 500</a:t>
            </a:r>
          </a:p>
        </p:txBody>
      </p:sp>
      <p:cxnSp>
        <p:nvCxnSpPr>
          <p:cNvPr id="18" name="Arrow 17"/>
          <p:cNvCxnSpPr/>
          <p:nvPr/>
        </p:nvCxnSpPr>
        <p:spPr>
          <a:xfrm>
            <a:off x="7137400" y="2317750"/>
            <a:ext cx="203200" cy="0"/>
          </a:xfrm>
          <a:prstGeom prst="line">
            <a:avLst/>
          </a:prstGeom>
          <a:ln w="25400">
            <a:solidFill>
              <a:srgbClr val="131922"/>
            </a:solidFill>
            <a:tailEnd type="triangle" w="med" len="med"/>
          </a:ln>
        </p:spPr>
      </p:cxnSp>
      <p:sp>
        <p:nvSpPr>
          <p:cNvPr id="19" name="ชั้น Model"/>
          <p:cNvSpPr/>
          <p:nvPr/>
        </p:nvSpPr>
        <p:spPr>
          <a:xfrm>
            <a:off x="7366000" y="1587500"/>
            <a:ext cx="2032000" cy="14605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 19"/>
          <p:cNvSpPr txBox="1"/>
          <p:nvPr/>
        </p:nvSpPr>
        <p:spPr>
          <a:xfrm>
            <a:off x="7493000" y="17145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Model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7493000" y="2133600"/>
            <a:ext cx="1778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Eloquent</a:t>
            </a:r>
          </a:p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ActivityParticipant</a:t>
            </a:r>
          </a:p>
        </p:txBody>
      </p:sp>
      <p:cxnSp>
        <p:nvCxnSpPr>
          <p:cNvPr id="22" name="Arrow 21"/>
          <p:cNvCxnSpPr/>
          <p:nvPr/>
        </p:nvCxnSpPr>
        <p:spPr>
          <a:xfrm>
            <a:off x="9423400" y="2317750"/>
            <a:ext cx="203200" cy="0"/>
          </a:xfrm>
          <a:prstGeom prst="line">
            <a:avLst/>
          </a:prstGeom>
          <a:ln w="25400">
            <a:solidFill>
              <a:srgbClr val="131922"/>
            </a:solidFill>
            <a:tailEnd type="triangle" w="med" len="med"/>
          </a:ln>
        </p:spPr>
      </p:cxnSp>
      <p:sp>
        <p:nvSpPr>
          <p:cNvPr id="23" name="ชั้น ฐานข้อมูล"/>
          <p:cNvSpPr/>
          <p:nvPr/>
        </p:nvSpPr>
        <p:spPr>
          <a:xfrm>
            <a:off x="9652000" y="1587500"/>
            <a:ext cx="2032000" cy="1460500"/>
          </a:xfrm>
          <a:prstGeom prst="roundRect">
            <a:avLst>
              <a:gd name="adj" fmla="val 7826"/>
            </a:avLst>
          </a:prstGeom>
          <a:solidFill>
            <a:srgbClr val="FFF3C4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 23"/>
          <p:cNvSpPr txBox="1"/>
          <p:nvPr/>
        </p:nvSpPr>
        <p:spPr>
          <a:xfrm>
            <a:off x="9779000" y="17145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ฐานข้อมูล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9779000" y="2133600"/>
            <a:ext cx="1778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SQLite</a:t>
            </a:r>
          </a:p>
          <a:p>
            <a:pPr algn="ctr">
              <a:lnSpc>
                <a:spcPct val="100000"/>
              </a:lnSpc>
            </a:pPr>
            <a:r>
              <a:rPr sz="12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(เปลี่ยนเป็น MySQL ได้)</a:t>
            </a:r>
          </a:p>
        </p:txBody>
      </p:sp>
      <p:cxnSp>
        <p:nvCxnSpPr>
          <p:cNvPr id="26" name="Line 25"/>
          <p:cNvCxnSpPr/>
          <p:nvPr/>
        </p:nvCxnSpPr>
        <p:spPr>
          <a:xfrm>
            <a:off x="1524000" y="3086100"/>
            <a:ext cx="0" cy="342900"/>
          </a:xfrm>
          <a:prstGeom prst="line">
            <a:avLst/>
          </a:prstGeom>
          <a:ln w="19050">
            <a:solidFill>
              <a:srgbClr val="E8470C"/>
            </a:solidFill>
          </a:ln>
        </p:spPr>
      </p:cxnSp>
      <p:sp>
        <p:nvSpPr>
          <p:cNvPr id="27" name="Pin 1"/>
          <p:cNvSpPr/>
          <p:nvPr/>
        </p:nvSpPr>
        <p:spPr>
          <a:xfrm>
            <a:off x="1365250" y="346075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508000" y="3848100"/>
            <a:ext cx="2032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ฟอร์มส่ง @csrf token ไปพร้อมคำขอ</a:t>
            </a:r>
          </a:p>
        </p:txBody>
      </p:sp>
      <p:cxnSp>
        <p:nvCxnSpPr>
          <p:cNvPr id="29" name="Line 28"/>
          <p:cNvCxnSpPr/>
          <p:nvPr/>
        </p:nvCxnSpPr>
        <p:spPr>
          <a:xfrm>
            <a:off x="3810000" y="3086100"/>
            <a:ext cx="0" cy="342900"/>
          </a:xfrm>
          <a:prstGeom prst="line">
            <a:avLst/>
          </a:prstGeom>
          <a:ln w="19050">
            <a:solidFill>
              <a:srgbClr val="E8470C"/>
            </a:solidFill>
          </a:ln>
        </p:spPr>
      </p:cxnSp>
      <p:sp>
        <p:nvSpPr>
          <p:cNvPr id="30" name="Pin 2"/>
          <p:cNvSpPr/>
          <p:nvPr/>
        </p:nvSpPr>
        <p:spPr>
          <a:xfrm>
            <a:off x="3651250" y="346075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2794000" y="3848100"/>
            <a:ext cx="2032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ต้องล็อกอิน และบัญชีไม่ถูกระงับ</a:t>
            </a:r>
          </a:p>
        </p:txBody>
      </p:sp>
      <p:cxnSp>
        <p:nvCxnSpPr>
          <p:cNvPr id="32" name="Line 31"/>
          <p:cNvCxnSpPr/>
          <p:nvPr/>
        </p:nvCxnSpPr>
        <p:spPr>
          <a:xfrm>
            <a:off x="6096000" y="3086100"/>
            <a:ext cx="0" cy="342900"/>
          </a:xfrm>
          <a:prstGeom prst="line">
            <a:avLst/>
          </a:prstGeom>
          <a:ln w="19050">
            <a:solidFill>
              <a:srgbClr val="E8470C"/>
            </a:solidFill>
          </a:ln>
        </p:spPr>
      </p:cxnSp>
      <p:sp>
        <p:nvSpPr>
          <p:cNvPr id="33" name="Pin 3"/>
          <p:cNvSpPr/>
          <p:nvPr/>
        </p:nvSpPr>
        <p:spPr>
          <a:xfrm>
            <a:off x="5937250" y="346075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5080000" y="3848100"/>
            <a:ext cx="2032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ไม่ใช่เจ้าของ ยังไม่เริ่ม ไม่ถูกซ่อน ไม่เต็ม</a:t>
            </a:r>
          </a:p>
        </p:txBody>
      </p:sp>
      <p:cxnSp>
        <p:nvCxnSpPr>
          <p:cNvPr id="35" name="Line 34"/>
          <p:cNvCxnSpPr/>
          <p:nvPr/>
        </p:nvCxnSpPr>
        <p:spPr>
          <a:xfrm>
            <a:off x="8382000" y="3086100"/>
            <a:ext cx="0" cy="342900"/>
          </a:xfrm>
          <a:prstGeom prst="line">
            <a:avLst/>
          </a:prstGeom>
          <a:ln w="19050">
            <a:solidFill>
              <a:srgbClr val="E8470C"/>
            </a:solidFill>
          </a:ln>
        </p:spPr>
      </p:cxnSp>
      <p:sp>
        <p:nvSpPr>
          <p:cNvPr id="36" name="Pin 4"/>
          <p:cNvSpPr/>
          <p:nvPr/>
        </p:nvSpPr>
        <p:spPr>
          <a:xfrm>
            <a:off x="8223250" y="346075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37" name="Text 36"/>
          <p:cNvSpPr txBox="1"/>
          <p:nvPr/>
        </p:nvSpPr>
        <p:spPr>
          <a:xfrm>
            <a:off x="7366000" y="3848100"/>
            <a:ext cx="2032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สร้างแถวสถานะ pending</a:t>
            </a:r>
          </a:p>
        </p:txBody>
      </p:sp>
      <p:cxnSp>
        <p:nvCxnSpPr>
          <p:cNvPr id="38" name="Line 37"/>
          <p:cNvCxnSpPr/>
          <p:nvPr/>
        </p:nvCxnSpPr>
        <p:spPr>
          <a:xfrm>
            <a:off x="10668000" y="3086100"/>
            <a:ext cx="0" cy="342900"/>
          </a:xfrm>
          <a:prstGeom prst="line">
            <a:avLst/>
          </a:prstGeom>
          <a:ln w="19050">
            <a:solidFill>
              <a:srgbClr val="E8470C"/>
            </a:solidFill>
          </a:ln>
        </p:spPr>
      </p:cxnSp>
      <p:sp>
        <p:nvSpPr>
          <p:cNvPr id="39" name="Pin 5"/>
          <p:cNvSpPr/>
          <p:nvPr/>
        </p:nvSpPr>
        <p:spPr>
          <a:xfrm>
            <a:off x="10509250" y="346075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5</a:t>
            </a:r>
          </a:p>
        </p:txBody>
      </p:sp>
      <p:sp>
        <p:nvSpPr>
          <p:cNvPr id="40" name="Text 39"/>
          <p:cNvSpPr txBox="1"/>
          <p:nvPr/>
        </p:nvSpPr>
        <p:spPr>
          <a:xfrm>
            <a:off x="9652000" y="3848100"/>
            <a:ext cx="2032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บันทึกลงตาราง activity_participants</a:t>
            </a:r>
          </a:p>
        </p:txBody>
      </p:sp>
      <p:cxnSp>
        <p:nvCxnSpPr>
          <p:cNvPr id="41" name="Arrow 40"/>
          <p:cNvCxnSpPr/>
          <p:nvPr/>
        </p:nvCxnSpPr>
        <p:spPr>
          <a:xfrm flipH="1">
            <a:off x="1524000" y="4953000"/>
            <a:ext cx="9144000" cy="0"/>
          </a:xfrm>
          <a:prstGeom prst="line">
            <a:avLst/>
          </a:prstGeom>
          <a:ln w="25400">
            <a:solidFill>
              <a:srgbClr val="E8470C"/>
            </a:solidFill>
            <a:prstDash val="dash"/>
            <a:tailEnd type="triangle" w="med" len="med"/>
          </a:ln>
        </p:spPr>
      </p:cxnSp>
      <p:sp>
        <p:nvSpPr>
          <p:cNvPr id="42" name="Text 41"/>
          <p:cNvSpPr txBox="1"/>
          <p:nvPr/>
        </p:nvSpPr>
        <p:spPr>
          <a:xfrm>
            <a:off x="2095500" y="5080000"/>
            <a:ext cx="800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ส่งกลับ: redirect พร้อมข้อความ “ส่งคำขอเรียบร้อย รอผู้จัดอนุมัติ”</a:t>
            </a:r>
          </a:p>
        </p:txBody>
      </p:sp>
      <p:sp>
        <p:nvSpPr>
          <p:cNvPr id="43" name="Rect 42"/>
          <p:cNvSpPr/>
          <p:nvPr/>
        </p:nvSpPr>
        <p:spPr>
          <a:xfrm>
            <a:off x="508000" y="5651500"/>
            <a:ext cx="11176000" cy="571500"/>
          </a:xfrm>
          <a:prstGeom prst="roundRect">
            <a:avLst>
              <a:gd name="adj" fmla="val 15555"/>
            </a:avLst>
          </a:prstGeom>
          <a:solidFill>
            <a:srgbClr val="F3F4F6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สิ่งที่เรียนนำมาใช้: HTML/CSS · JavaScript · PHP · Laravel routing, controller, Blade, validation · Eloquent ORM · Authentication และการแบ่งสิทธิ์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05 · ฐานข้อมูล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8 ตารางหลัก เชื่อมกันด้วย Eloquent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68 / 71</a:t>
            </a:r>
          </a:p>
        </p:txBody>
      </p:sp>
      <p:sp>
        <p:nvSpPr>
          <p:cNvPr id="7" name="ตาราง users"/>
          <p:cNvSpPr/>
          <p:nvPr/>
        </p:nvSpPr>
        <p:spPr>
          <a:xfrm>
            <a:off x="508000" y="1333500"/>
            <a:ext cx="2540000" cy="1244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หัวตาราง users"/>
          <p:cNvSpPr/>
          <p:nvPr/>
        </p:nvSpPr>
        <p:spPr>
          <a:xfrm>
            <a:off x="508000" y="1333500"/>
            <a:ext cx="2540000" cy="330200"/>
          </a:xfrm>
          <a:prstGeom prst="roundRect">
            <a:avLst>
              <a:gd name="adj" fmla="val 26923"/>
            </a:avLst>
          </a:prstGeom>
          <a:solidFill>
            <a:srgbClr val="F5C5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 8"/>
          <p:cNvSpPr txBox="1"/>
          <p:nvPr/>
        </p:nvSpPr>
        <p:spPr>
          <a:xfrm>
            <a:off x="622300" y="1371600"/>
            <a:ext cx="23114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users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22300" y="1727200"/>
            <a:ext cx="23114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name, student_id, email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role: student | admin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status: active | suspended</a:t>
            </a:r>
          </a:p>
        </p:txBody>
      </p:sp>
      <p:sp>
        <p:nvSpPr>
          <p:cNvPr id="11" name="ตาราง activities"/>
          <p:cNvSpPr/>
          <p:nvPr/>
        </p:nvSpPr>
        <p:spPr>
          <a:xfrm>
            <a:off x="4699000" y="1333500"/>
            <a:ext cx="2540000" cy="1244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หัวตาราง activities"/>
          <p:cNvSpPr/>
          <p:nvPr/>
        </p:nvSpPr>
        <p:spPr>
          <a:xfrm>
            <a:off x="4699000" y="1333500"/>
            <a:ext cx="2540000" cy="330200"/>
          </a:xfrm>
          <a:prstGeom prst="roundRect">
            <a:avLst>
              <a:gd name="adj" fmla="val 26923"/>
            </a:avLst>
          </a:prstGeom>
          <a:solidFill>
            <a:srgbClr val="F5C5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12"/>
          <p:cNvSpPr txBox="1"/>
          <p:nvPr/>
        </p:nvSpPr>
        <p:spPr>
          <a:xfrm>
            <a:off x="4813300" y="1371600"/>
            <a:ext cx="23114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activities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4813300" y="1727200"/>
            <a:ext cx="23114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user_id, category_id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starts_at, ends_at, capacity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status, hidden_at</a:t>
            </a:r>
          </a:p>
        </p:txBody>
      </p:sp>
      <p:sp>
        <p:nvSpPr>
          <p:cNvPr id="15" name="ตาราง categories"/>
          <p:cNvSpPr/>
          <p:nvPr/>
        </p:nvSpPr>
        <p:spPr>
          <a:xfrm>
            <a:off x="9144000" y="1333500"/>
            <a:ext cx="2540000" cy="1244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หัวตาราง categories"/>
          <p:cNvSpPr/>
          <p:nvPr/>
        </p:nvSpPr>
        <p:spPr>
          <a:xfrm>
            <a:off x="9144000" y="1333500"/>
            <a:ext cx="2540000" cy="330200"/>
          </a:xfrm>
          <a:prstGeom prst="roundRect">
            <a:avLst>
              <a:gd name="adj" fmla="val 26923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16"/>
          <p:cNvSpPr txBox="1"/>
          <p:nvPr/>
        </p:nvSpPr>
        <p:spPr>
          <a:xfrm>
            <a:off x="9258300" y="1371600"/>
            <a:ext cx="23114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categories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9258300" y="1727200"/>
            <a:ext cx="23114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name (unique)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ลบได้เมื่อไม่มีกิจกรรม</a:t>
            </a:r>
          </a:p>
        </p:txBody>
      </p:sp>
      <p:sp>
        <p:nvSpPr>
          <p:cNvPr id="19" name="ตาราง notifications"/>
          <p:cNvSpPr/>
          <p:nvPr/>
        </p:nvSpPr>
        <p:spPr>
          <a:xfrm>
            <a:off x="508000" y="3175000"/>
            <a:ext cx="2540000" cy="1244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หัวตาราง notifications"/>
          <p:cNvSpPr/>
          <p:nvPr/>
        </p:nvSpPr>
        <p:spPr>
          <a:xfrm>
            <a:off x="508000" y="3175000"/>
            <a:ext cx="2540000" cy="330200"/>
          </a:xfrm>
          <a:prstGeom prst="roundRect">
            <a:avLst>
              <a:gd name="adj" fmla="val 26923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 20"/>
          <p:cNvSpPr txBox="1"/>
          <p:nvPr/>
        </p:nvSpPr>
        <p:spPr>
          <a:xfrm>
            <a:off x="622300" y="3213100"/>
            <a:ext cx="23114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notifications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622300" y="3568700"/>
            <a:ext cx="23114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notifiable → users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data, read_at</a:t>
            </a:r>
          </a:p>
        </p:txBody>
      </p:sp>
      <p:sp>
        <p:nvSpPr>
          <p:cNvPr id="23" name="ตาราง activity_participants"/>
          <p:cNvSpPr/>
          <p:nvPr/>
        </p:nvSpPr>
        <p:spPr>
          <a:xfrm>
            <a:off x="4699000" y="3175000"/>
            <a:ext cx="2540000" cy="1244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หัวตาราง activity_participants"/>
          <p:cNvSpPr/>
          <p:nvPr/>
        </p:nvSpPr>
        <p:spPr>
          <a:xfrm>
            <a:off x="4699000" y="3175000"/>
            <a:ext cx="2540000" cy="330200"/>
          </a:xfrm>
          <a:prstGeom prst="roundRect">
            <a:avLst>
              <a:gd name="adj" fmla="val 26923"/>
            </a:avLst>
          </a:prstGeom>
          <a:solidFill>
            <a:srgbClr val="F5C5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 24"/>
          <p:cNvSpPr txBox="1"/>
          <p:nvPr/>
        </p:nvSpPr>
        <p:spPr>
          <a:xfrm>
            <a:off x="4813300" y="3213100"/>
            <a:ext cx="23114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activity_participants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4813300" y="3568700"/>
            <a:ext cx="23114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status: pending · approved ·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rejected · cancelled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attendance: present | absent</a:t>
            </a:r>
          </a:p>
        </p:txBody>
      </p:sp>
      <p:sp>
        <p:nvSpPr>
          <p:cNvPr id="27" name="ตาราง reviews"/>
          <p:cNvSpPr/>
          <p:nvPr/>
        </p:nvSpPr>
        <p:spPr>
          <a:xfrm>
            <a:off x="9144000" y="3175000"/>
            <a:ext cx="2540000" cy="1244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หัวตาราง reviews"/>
          <p:cNvSpPr/>
          <p:nvPr/>
        </p:nvSpPr>
        <p:spPr>
          <a:xfrm>
            <a:off x="9144000" y="3175000"/>
            <a:ext cx="2540000" cy="330200"/>
          </a:xfrm>
          <a:prstGeom prst="roundRect">
            <a:avLst>
              <a:gd name="adj" fmla="val 26923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 28"/>
          <p:cNvSpPr txBox="1"/>
          <p:nvPr/>
        </p:nvSpPr>
        <p:spPr>
          <a:xfrm>
            <a:off x="9258300" y="3213100"/>
            <a:ext cx="23114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reviews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9258300" y="3568700"/>
            <a:ext cx="23114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activity_id, user_id (unique)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rating 1–5, comment</a:t>
            </a:r>
          </a:p>
        </p:txBody>
      </p:sp>
      <p:sp>
        <p:nvSpPr>
          <p:cNvPr id="31" name="ตาราง reports"/>
          <p:cNvSpPr/>
          <p:nvPr/>
        </p:nvSpPr>
        <p:spPr>
          <a:xfrm>
            <a:off x="2667000" y="5016500"/>
            <a:ext cx="2540000" cy="1244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หัวตาราง reports"/>
          <p:cNvSpPr/>
          <p:nvPr/>
        </p:nvSpPr>
        <p:spPr>
          <a:xfrm>
            <a:off x="2667000" y="5016500"/>
            <a:ext cx="2540000" cy="330200"/>
          </a:xfrm>
          <a:prstGeom prst="roundRect">
            <a:avLst>
              <a:gd name="adj" fmla="val 26923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 32"/>
          <p:cNvSpPr txBox="1"/>
          <p:nvPr/>
        </p:nvSpPr>
        <p:spPr>
          <a:xfrm>
            <a:off x="2781300" y="5054600"/>
            <a:ext cx="23114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reports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2781300" y="5410200"/>
            <a:ext cx="23114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reporter_id → users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target: activity | user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status, admin_note</a:t>
            </a:r>
          </a:p>
        </p:txBody>
      </p:sp>
      <p:sp>
        <p:nvSpPr>
          <p:cNvPr id="35" name="ตาราง moderation_logs"/>
          <p:cNvSpPr/>
          <p:nvPr/>
        </p:nvSpPr>
        <p:spPr>
          <a:xfrm>
            <a:off x="6985000" y="5016500"/>
            <a:ext cx="2540000" cy="1244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หัวตาราง moderation_logs"/>
          <p:cNvSpPr/>
          <p:nvPr/>
        </p:nvSpPr>
        <p:spPr>
          <a:xfrm>
            <a:off x="6985000" y="5016500"/>
            <a:ext cx="2540000" cy="330200"/>
          </a:xfrm>
          <a:prstGeom prst="roundRect">
            <a:avLst>
              <a:gd name="adj" fmla="val 26923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 36"/>
          <p:cNvSpPr txBox="1"/>
          <p:nvPr/>
        </p:nvSpPr>
        <p:spPr>
          <a:xfrm>
            <a:off x="7099300" y="5054600"/>
            <a:ext cx="23114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moderation_logs</a:t>
            </a:r>
          </a:p>
        </p:txBody>
      </p:sp>
      <p:sp>
        <p:nvSpPr>
          <p:cNvPr id="38" name="Text 37"/>
          <p:cNvSpPr txBox="1"/>
          <p:nvPr/>
        </p:nvSpPr>
        <p:spPr>
          <a:xfrm>
            <a:off x="7099300" y="5410200"/>
            <a:ext cx="23114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admin_id → users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report_id, action, reason</a:t>
            </a:r>
          </a:p>
        </p:txBody>
      </p:sp>
      <p:cxnSp>
        <p:nvCxnSpPr>
          <p:cNvPr id="39" name="Arrow 38"/>
          <p:cNvCxnSpPr/>
          <p:nvPr/>
        </p:nvCxnSpPr>
        <p:spPr>
          <a:xfrm>
            <a:off x="3048000" y="1841500"/>
            <a:ext cx="1651000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40" name="Rect 39"/>
          <p:cNvSpPr/>
          <p:nvPr/>
        </p:nvSpPr>
        <p:spPr>
          <a:xfrm>
            <a:off x="3581400" y="1701800"/>
            <a:ext cx="5842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1 : N</a:t>
            </a:r>
          </a:p>
        </p:txBody>
      </p:sp>
      <p:cxnSp>
        <p:nvCxnSpPr>
          <p:cNvPr id="41" name="Arrow 40"/>
          <p:cNvCxnSpPr/>
          <p:nvPr/>
        </p:nvCxnSpPr>
        <p:spPr>
          <a:xfrm flipH="1">
            <a:off x="7239000" y="1841500"/>
            <a:ext cx="1905000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42" name="Rect 41"/>
          <p:cNvSpPr/>
          <p:nvPr/>
        </p:nvSpPr>
        <p:spPr>
          <a:xfrm>
            <a:off x="7899400" y="1701800"/>
            <a:ext cx="5842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1 : N</a:t>
            </a:r>
          </a:p>
        </p:txBody>
      </p:sp>
      <p:cxnSp>
        <p:nvCxnSpPr>
          <p:cNvPr id="43" name="Arrow 42"/>
          <p:cNvCxnSpPr/>
          <p:nvPr/>
        </p:nvCxnSpPr>
        <p:spPr>
          <a:xfrm>
            <a:off x="5969000" y="2578100"/>
            <a:ext cx="0" cy="59690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44" name="Rect 43"/>
          <p:cNvSpPr/>
          <p:nvPr/>
        </p:nvSpPr>
        <p:spPr>
          <a:xfrm>
            <a:off x="5676900" y="2736850"/>
            <a:ext cx="5842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1 : N</a:t>
            </a:r>
          </a:p>
        </p:txBody>
      </p:sp>
      <p:cxnSp>
        <p:nvCxnSpPr>
          <p:cNvPr id="45" name="Arrow 44"/>
          <p:cNvCxnSpPr/>
          <p:nvPr/>
        </p:nvCxnSpPr>
        <p:spPr>
          <a:xfrm>
            <a:off x="3048000" y="2413000"/>
            <a:ext cx="1651000" cy="114300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46" name="Rect 45"/>
          <p:cNvSpPr/>
          <p:nvPr/>
        </p:nvSpPr>
        <p:spPr>
          <a:xfrm>
            <a:off x="3581400" y="2844800"/>
            <a:ext cx="5842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1 : N</a:t>
            </a:r>
          </a:p>
        </p:txBody>
      </p:sp>
      <p:cxnSp>
        <p:nvCxnSpPr>
          <p:cNvPr id="47" name="Arrow 46"/>
          <p:cNvCxnSpPr/>
          <p:nvPr/>
        </p:nvCxnSpPr>
        <p:spPr>
          <a:xfrm>
            <a:off x="1143000" y="2578100"/>
            <a:ext cx="0" cy="59690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48" name="Rect 47"/>
          <p:cNvSpPr/>
          <p:nvPr/>
        </p:nvSpPr>
        <p:spPr>
          <a:xfrm>
            <a:off x="850900" y="2736850"/>
            <a:ext cx="5842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1 : N</a:t>
            </a:r>
          </a:p>
        </p:txBody>
      </p:sp>
      <p:cxnSp>
        <p:nvCxnSpPr>
          <p:cNvPr id="49" name="Arrow 48"/>
          <p:cNvCxnSpPr/>
          <p:nvPr/>
        </p:nvCxnSpPr>
        <p:spPr>
          <a:xfrm>
            <a:off x="7239000" y="2413000"/>
            <a:ext cx="1905000" cy="114300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50" name="Rect 49"/>
          <p:cNvSpPr/>
          <p:nvPr/>
        </p:nvSpPr>
        <p:spPr>
          <a:xfrm>
            <a:off x="7899400" y="2844800"/>
            <a:ext cx="5842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1 : N</a:t>
            </a:r>
          </a:p>
        </p:txBody>
      </p:sp>
      <p:cxnSp>
        <p:nvCxnSpPr>
          <p:cNvPr id="51" name="Arrow 50"/>
          <p:cNvCxnSpPr/>
          <p:nvPr/>
        </p:nvCxnSpPr>
        <p:spPr>
          <a:xfrm>
            <a:off x="2794000" y="2578100"/>
            <a:ext cx="0" cy="243840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52" name="Rect 51"/>
          <p:cNvSpPr/>
          <p:nvPr/>
        </p:nvSpPr>
        <p:spPr>
          <a:xfrm>
            <a:off x="2501900" y="3657600"/>
            <a:ext cx="5842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1 : N</a:t>
            </a:r>
          </a:p>
        </p:txBody>
      </p:sp>
      <p:cxnSp>
        <p:nvCxnSpPr>
          <p:cNvPr id="53" name="Arrow 52"/>
          <p:cNvCxnSpPr/>
          <p:nvPr/>
        </p:nvCxnSpPr>
        <p:spPr>
          <a:xfrm>
            <a:off x="5207000" y="5651500"/>
            <a:ext cx="1778000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54" name="Rect 53"/>
          <p:cNvSpPr/>
          <p:nvPr/>
        </p:nvSpPr>
        <p:spPr>
          <a:xfrm>
            <a:off x="5803900" y="5511800"/>
            <a:ext cx="5842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1 : N</a:t>
            </a:r>
          </a:p>
        </p:txBody>
      </p:sp>
      <p:sp>
        <p:nvSpPr>
          <p:cNvPr id="55" name="Text 54"/>
          <p:cNvSpPr txBox="1"/>
          <p:nvPr/>
        </p:nvSpPr>
        <p:spPr>
          <a:xfrm>
            <a:off x="6731000" y="762000"/>
            <a:ext cx="4953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ลูกศรชี้จากฝั่ง 1 ไปฝั่ง N · reports ชี้ได้ทั้งกิจกรรมหรือผู้ใช้ (target_type / target_id)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05 · การทดสอบ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ทุกกฎข้างต้นมีชุดทดสอบอัตโนมัติรองรับ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69 / 71</a:t>
            </a:r>
          </a:p>
        </p:txBody>
      </p:sp>
      <p:sp>
        <p:nvSpPr>
          <p:cNvPr id="7" name="ตัวเลข กรณีทดสอบ ผ่านทั้งหมด"/>
          <p:cNvSpPr/>
          <p:nvPr/>
        </p:nvSpPr>
        <p:spPr>
          <a:xfrm>
            <a:off x="508000" y="1333500"/>
            <a:ext cx="2476500" cy="1905000"/>
          </a:xfrm>
          <a:prstGeom prst="roundRect">
            <a:avLst>
              <a:gd name="adj" fmla="val 6666"/>
            </a:avLst>
          </a:prstGeom>
          <a:solidFill>
            <a:srgbClr val="F5C518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7"/>
          <p:cNvSpPr txBox="1"/>
          <p:nvPr/>
        </p:nvSpPr>
        <p:spPr>
          <a:xfrm>
            <a:off x="698500" y="1460500"/>
            <a:ext cx="20955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7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52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98500" y="27305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กรณีทดสอบ ผ่านทั้งหมด</a:t>
            </a:r>
          </a:p>
        </p:txBody>
      </p:sp>
      <p:sp>
        <p:nvSpPr>
          <p:cNvPr id="10" name="ตัวเลข assertions"/>
          <p:cNvSpPr/>
          <p:nvPr/>
        </p:nvSpPr>
        <p:spPr>
          <a:xfrm>
            <a:off x="3175000" y="1333500"/>
            <a:ext cx="24765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 10"/>
          <p:cNvSpPr txBox="1"/>
          <p:nvPr/>
        </p:nvSpPr>
        <p:spPr>
          <a:xfrm>
            <a:off x="3365500" y="1460500"/>
            <a:ext cx="20955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7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216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3365500" y="27305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assertions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508000" y="3429000"/>
            <a:ext cx="51435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รันด้วย php artisan test (Pest + SQLite ในหน่วยความจำ) เมื่อ 10 ต.ค. 2569</a:t>
            </a:r>
          </a:p>
        </p:txBody>
      </p:sp>
      <p:sp>
        <p:nvSpPr>
          <p:cNvPr id="14" name="ชุด ActivitiesTest"/>
          <p:cNvSpPr/>
          <p:nvPr/>
        </p:nvSpPr>
        <p:spPr>
          <a:xfrm>
            <a:off x="5969000" y="1333500"/>
            <a:ext cx="5715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14"/>
          <p:cNvSpPr txBox="1"/>
          <p:nvPr/>
        </p:nvSpPr>
        <p:spPr>
          <a:xfrm>
            <a:off x="6159500" y="14478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ActivitiesTest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6159500" y="1778000"/>
            <a:ext cx="533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สร้าง ค้นหา แก้ไข ยกเลิก ปลอมเจ้าของไม่ได้ จัดการหมวดหมู่</a:t>
            </a:r>
          </a:p>
        </p:txBody>
      </p:sp>
      <p:sp>
        <p:nvSpPr>
          <p:cNvPr id="17" name="ชุด ParticipationTest"/>
          <p:cNvSpPr/>
          <p:nvPr/>
        </p:nvSpPr>
        <p:spPr>
          <a:xfrm>
            <a:off x="5969000" y="2476500"/>
            <a:ext cx="5715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 17"/>
          <p:cNvSpPr txBox="1"/>
          <p:nvPr/>
        </p:nvSpPr>
        <p:spPr>
          <a:xfrm>
            <a:off x="6159500" y="25908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ParticipationTest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6159500" y="2921000"/>
            <a:ext cx="533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ขอเข้าร่วม อนุมัติไม่เกินจำนวน เช็กชื่อ แจ้งเตือน</a:t>
            </a:r>
          </a:p>
        </p:txBody>
      </p:sp>
      <p:sp>
        <p:nvSpPr>
          <p:cNvPr id="20" name="ชุด ReviewReportTest"/>
          <p:cNvSpPr/>
          <p:nvPr/>
        </p:nvSpPr>
        <p:spPr>
          <a:xfrm>
            <a:off x="5969000" y="3619500"/>
            <a:ext cx="5715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 20"/>
          <p:cNvSpPr txBox="1"/>
          <p:nvPr/>
        </p:nvSpPr>
        <p:spPr>
          <a:xfrm>
            <a:off x="6159500" y="37338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ReviewReportTest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6159500" y="4064000"/>
            <a:ext cx="533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เงื่อนไขรีวิว รายงานซ้ำ ซ่อน/เลิกซ่อน ประวัติ</a:t>
            </a:r>
          </a:p>
        </p:txBody>
      </p:sp>
      <p:sp>
        <p:nvSpPr>
          <p:cNvPr id="23" name="ชุด UiStatesTest"/>
          <p:cNvSpPr/>
          <p:nvPr/>
        </p:nvSpPr>
        <p:spPr>
          <a:xfrm>
            <a:off x="5969000" y="4762500"/>
            <a:ext cx="5715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 23"/>
          <p:cNvSpPr txBox="1"/>
          <p:nvPr/>
        </p:nvSpPr>
        <p:spPr>
          <a:xfrm>
            <a:off x="6159500" y="48768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UiStatesTest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6159500" y="5207000"/>
            <a:ext cx="533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สถานะบนหน้าจอ เช่น เต็ม จบแล้ว ยกเลิก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06 · สาธิตระบบจริง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ลำดับเดโม 7 ขั้น (ประมาณ 6–7 นาที)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70 / 71</a:t>
            </a:r>
          </a:p>
        </p:txBody>
      </p:sp>
      <p:sp>
        <p:nvSpPr>
          <p:cNvPr id="7" name="ขั้นเดโม 1"/>
          <p:cNvSpPr/>
          <p:nvPr/>
        </p:nvSpPr>
        <p:spPr>
          <a:xfrm>
            <a:off x="508000" y="1244600"/>
            <a:ext cx="5461000" cy="118110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ภาพหน้าจอ d-login-suspended" descr="d-login-suspended_520-90-720x5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46200"/>
            <a:ext cx="1301750" cy="976312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Pin 1"/>
          <p:cNvSpPr/>
          <p:nvPr/>
        </p:nvSpPr>
        <p:spPr>
          <a:xfrm>
            <a:off x="469900" y="12065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2070100" y="1397000"/>
            <a:ext cx="3746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เข้าสู่ระบบด้วยบัญชีที่ถูกระงับ → เข้าไม่ได้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2070100" y="2070100"/>
            <a:ext cx="3746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บัญชี suspended@unimate.ac.th</a:t>
            </a:r>
          </a:p>
        </p:txBody>
      </p:sp>
      <p:sp>
        <p:nvSpPr>
          <p:cNvPr id="12" name="ขั้นเดโม 2"/>
          <p:cNvSpPr/>
          <p:nvPr/>
        </p:nvSpPr>
        <p:spPr>
          <a:xfrm>
            <a:off x="508000" y="2540000"/>
            <a:ext cx="5461000" cy="118110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ภาพหน้าจอ d-detail" descr="d-detail_940-150-420x3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641600"/>
            <a:ext cx="1301750" cy="976312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14" name="Pin 2"/>
          <p:cNvSpPr/>
          <p:nvPr/>
        </p:nvSpPr>
        <p:spPr>
          <a:xfrm>
            <a:off x="469900" y="25019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2070100" y="2692400"/>
            <a:ext cx="3746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ค้นหาหมวดติวหนังสือ แล้วส่งคำขอเข้าร่วม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2070100" y="3365500"/>
            <a:ext cx="3746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บัญชี student@unimate.ac.th</a:t>
            </a:r>
          </a:p>
        </p:txBody>
      </p:sp>
      <p:sp>
        <p:nvSpPr>
          <p:cNvPr id="17" name="ขั้นเดโม 3"/>
          <p:cNvSpPr/>
          <p:nvPr/>
        </p:nvSpPr>
        <p:spPr>
          <a:xfrm>
            <a:off x="508000" y="3835400"/>
            <a:ext cx="5461000" cy="118110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ภาพหน้าจอ d-create-errors" descr="d-create-errors_200-250-560x42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937000"/>
            <a:ext cx="1301750" cy="976312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19" name="Pin 3"/>
          <p:cNvSpPr/>
          <p:nvPr/>
        </p:nvSpPr>
        <p:spPr>
          <a:xfrm>
            <a:off x="469900" y="37973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2070100" y="3987800"/>
            <a:ext cx="3746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สร้างโพสต์ ลองส่งฟอร์มว่างให้เห็นการตรวจ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2070100" y="4660900"/>
            <a:ext cx="3746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บัญชี student@unimate.ac.th</a:t>
            </a:r>
          </a:p>
        </p:txBody>
      </p:sp>
      <p:sp>
        <p:nvSpPr>
          <p:cNvPr id="22" name="ขั้นเดโม 4"/>
          <p:cNvSpPr/>
          <p:nvPr/>
        </p:nvSpPr>
        <p:spPr>
          <a:xfrm>
            <a:off x="508000" y="5130800"/>
            <a:ext cx="5461000" cy="118110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ภาพหน้าจอ d-requests" descr="d-requests_272-140-560x42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232400"/>
            <a:ext cx="1301750" cy="976312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24" name="Pin 4"/>
          <p:cNvSpPr/>
          <p:nvPr/>
        </p:nvSpPr>
        <p:spPr>
          <a:xfrm>
            <a:off x="469900" y="50927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2070100" y="5283200"/>
            <a:ext cx="3746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อนุมัติคำขอ แล้วเช็กชื่อ “มา”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2070100" y="5956300"/>
            <a:ext cx="3746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บัญชี student@unimate.ac.th</a:t>
            </a:r>
          </a:p>
        </p:txBody>
      </p:sp>
      <p:sp>
        <p:nvSpPr>
          <p:cNvPr id="27" name="ขั้นเดโม 5"/>
          <p:cNvSpPr/>
          <p:nvPr/>
        </p:nvSpPr>
        <p:spPr>
          <a:xfrm>
            <a:off x="6223000" y="1244600"/>
            <a:ext cx="5461000" cy="118110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ภาพหน้าจอ d-review" descr="d-review_140-140-560x42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1346200"/>
            <a:ext cx="1301750" cy="976312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29" name="Pin 5"/>
          <p:cNvSpPr/>
          <p:nvPr/>
        </p:nvSpPr>
        <p:spPr>
          <a:xfrm>
            <a:off x="6184900" y="12065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5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7785100" y="1397000"/>
            <a:ext cx="3746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รีวิวกิจกรรมที่จบแล้ว และรายงานปัญหา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7785100" y="2070100"/>
            <a:ext cx="3746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บัญชี student@unimate.ac.th</a:t>
            </a:r>
          </a:p>
        </p:txBody>
      </p:sp>
      <p:sp>
        <p:nvSpPr>
          <p:cNvPr id="32" name="ขั้นเดโม 6"/>
          <p:cNvSpPr/>
          <p:nvPr/>
        </p:nvSpPr>
        <p:spPr>
          <a:xfrm>
            <a:off x="6223000" y="2540000"/>
            <a:ext cx="5461000" cy="118110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ภาพหน้าจอ d-403" descr="d-403_440-120-560x42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2641600"/>
            <a:ext cx="1301750" cy="976312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34" name="Pin 6"/>
          <p:cNvSpPr/>
          <p:nvPr/>
        </p:nvSpPr>
        <p:spPr>
          <a:xfrm>
            <a:off x="6184900" y="25019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6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7785100" y="2692400"/>
            <a:ext cx="3746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พิมพ์ /admin/users ด้วยบัญชีนักศึกษา → 403</a:t>
            </a:r>
          </a:p>
        </p:txBody>
      </p:sp>
      <p:sp>
        <p:nvSpPr>
          <p:cNvPr id="36" name="Text 35"/>
          <p:cNvSpPr txBox="1"/>
          <p:nvPr/>
        </p:nvSpPr>
        <p:spPr>
          <a:xfrm>
            <a:off x="7785100" y="3365500"/>
            <a:ext cx="3746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บัญชี student@unimate.ac.th</a:t>
            </a:r>
          </a:p>
        </p:txBody>
      </p:sp>
      <p:sp>
        <p:nvSpPr>
          <p:cNvPr id="37" name="ขั้นเดโม 7"/>
          <p:cNvSpPr/>
          <p:nvPr/>
        </p:nvSpPr>
        <p:spPr>
          <a:xfrm>
            <a:off x="6223000" y="3835400"/>
            <a:ext cx="5461000" cy="118110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ภาพหน้าจอ d-admin-reports" descr="d-admin-reports_96-276-560x42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3937000"/>
            <a:ext cx="1301750" cy="976312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39" name="Pin 7"/>
          <p:cNvSpPr/>
          <p:nvPr/>
        </p:nvSpPr>
        <p:spPr>
          <a:xfrm>
            <a:off x="6184900" y="3797300"/>
            <a:ext cx="279400" cy="2794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7</a:t>
            </a:r>
          </a:p>
        </p:txBody>
      </p:sp>
      <p:sp>
        <p:nvSpPr>
          <p:cNvPr id="40" name="Text 39"/>
          <p:cNvSpPr txBox="1"/>
          <p:nvPr/>
        </p:nvSpPr>
        <p:spPr>
          <a:xfrm>
            <a:off x="7785100" y="3987800"/>
            <a:ext cx="3746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ผู้ดูแลตรวจรายงาน ซ่อนกิจกรรม ดูประวัติ</a:t>
            </a:r>
          </a:p>
        </p:txBody>
      </p:sp>
      <p:sp>
        <p:nvSpPr>
          <p:cNvPr id="41" name="Text 40"/>
          <p:cNvSpPr txBox="1"/>
          <p:nvPr/>
        </p:nvSpPr>
        <p:spPr>
          <a:xfrm>
            <a:off x="7785100" y="4660900"/>
            <a:ext cx="3746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บัญชี admin@unimate.ac.th</a:t>
            </a:r>
          </a:p>
        </p:txBody>
      </p:sp>
      <p:sp>
        <p:nvSpPr>
          <p:cNvPr id="42" name="Rect 41"/>
          <p:cNvSpPr/>
          <p:nvPr/>
        </p:nvSpPr>
        <p:spPr>
          <a:xfrm>
            <a:off x="6223000" y="5130800"/>
            <a:ext cx="5461000" cy="1181100"/>
          </a:xfrm>
          <a:prstGeom prst="roundRect">
            <a:avLst>
              <a:gd name="adj" fmla="val 8602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65100" rIns="165100" tIns="63500" bIns="6350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สำรองฐานข้อมูลก่อนเดโม (รีวิวได้ครั้งเดียว) ถ้าเดโมสดขัดข้อง เปิดภาคผนวกหน้าที่ตรงกัน รหัสผ่านอยู่ใน UserSeeder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08000"/>
            <a:ext cx="698500" cy="698500"/>
          </a:xfrm>
          <a:prstGeom prst="rect">
            <a:avLst/>
          </a:prstGeom>
        </p:spPr>
      </p:pic>
      <p:sp>
        <p:nvSpPr>
          <p:cNvPr id="3" name="Text 2"/>
          <p:cNvSpPr txBox="1"/>
          <p:nvPr/>
        </p:nvSpPr>
        <p:spPr>
          <a:xfrm>
            <a:off x="508000" y="1460500"/>
            <a:ext cx="6985000" cy="158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ขอบคุณครับ/ค่ะ</a:t>
            </a:r>
          </a:p>
          <a:p>
            <a:pPr algn="l">
              <a:lnSpc>
                <a:spcPct val="90000"/>
              </a:lnSpc>
            </a:pPr>
            <a:r>
              <a:rPr sz="5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ถามได้เลย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508000" y="3175000"/>
            <a:ext cx="635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ภาพหน้าจอการทำงานทั้งหมดอยู่ในภาคผนวกที่ส่งใน Classroom</a:t>
            </a:r>
          </a:p>
        </p:txBody>
      </p:sp>
      <p:pic>
        <p:nvPicPr>
          <p:cNvPr id="5" name="ภาพหน้าจอ d-activities" descr="d-activities_96-0-1248x7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064000"/>
            <a:ext cx="3606800" cy="20288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6" name="ป้าย หา"/>
          <p:cNvSpPr/>
          <p:nvPr/>
        </p:nvSpPr>
        <p:spPr>
          <a:xfrm>
            <a:off x="635000" y="3810000"/>
            <a:ext cx="952500" cy="351155"/>
          </a:xfrm>
          <a:prstGeom prst="roundRect">
            <a:avLst>
              <a:gd name="adj" fmla="val 21699"/>
            </a:avLst>
          </a:prstGeom>
          <a:solidFill>
            <a:srgbClr val="F5C518"/>
          </a:solidFill>
          <a:ln>
            <a:noFill/>
          </a:ln>
        </p:spPr>
        <p:txBody>
          <a:bodyPr rtlCol="0" anchor="ctr" wrap="square" lIns="88900" rIns="88900" tIns="25400" bIns="2540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หา</a:t>
            </a:r>
          </a:p>
        </p:txBody>
      </p:sp>
      <p:pic>
        <p:nvPicPr>
          <p:cNvPr id="7" name="ภาพหน้าจอ d-requests" descr="d-requests_240-96-960x54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600" y="4064000"/>
            <a:ext cx="3606800" cy="20288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8" name="ป้าย นัด"/>
          <p:cNvSpPr/>
          <p:nvPr/>
        </p:nvSpPr>
        <p:spPr>
          <a:xfrm>
            <a:off x="4419600" y="3810000"/>
            <a:ext cx="952500" cy="351155"/>
          </a:xfrm>
          <a:prstGeom prst="roundRect">
            <a:avLst>
              <a:gd name="adj" fmla="val 21699"/>
            </a:avLst>
          </a:prstGeom>
          <a:solidFill>
            <a:srgbClr val="F5C518"/>
          </a:solidFill>
          <a:ln>
            <a:noFill/>
          </a:ln>
        </p:spPr>
        <p:txBody>
          <a:bodyPr rtlCol="0" anchor="ctr" wrap="square" lIns="88900" rIns="88900" tIns="25400" bIns="2540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นัด</a:t>
            </a:r>
          </a:p>
        </p:txBody>
      </p:sp>
      <p:pic>
        <p:nvPicPr>
          <p:cNvPr id="9" name="ภาพหน้าจอ d-review-sent" descr="d-review-sent_96-96-1248x7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4064000"/>
            <a:ext cx="3606800" cy="20288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10" name="ป้าย เชื่อใจ"/>
          <p:cNvSpPr/>
          <p:nvPr/>
        </p:nvSpPr>
        <p:spPr>
          <a:xfrm>
            <a:off x="8204200" y="3810000"/>
            <a:ext cx="952500" cy="351155"/>
          </a:xfrm>
          <a:prstGeom prst="roundRect">
            <a:avLst>
              <a:gd name="adj" fmla="val 21699"/>
            </a:avLst>
          </a:prstGeom>
          <a:solidFill>
            <a:srgbClr val="F5C518"/>
          </a:solidFill>
          <a:ln>
            <a:noFill/>
          </a:ln>
        </p:spPr>
        <p:txBody>
          <a:bodyPr rtlCol="0" anchor="ctr" wrap="square" lIns="88900" rIns="88900" tIns="25400" bIns="2540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เชื่อใจ</a:t>
            </a:r>
          </a:p>
        </p:txBody>
      </p:sp>
      <p:sp>
        <p:nvSpPr>
          <p:cNvPr id="11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12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71 / 71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01 · หลักการและเหตุผล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กิจกรรมมีทุกวัน แต่การหาเพื่อนยังไม่เป็นระบบ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03 / 71</a:t>
            </a:r>
          </a:p>
        </p:txBody>
      </p:sp>
      <p:sp>
        <p:nvSpPr>
          <p:cNvPr id="7" name="ภาพจำลองกลุ่มแชต"/>
          <p:cNvSpPr/>
          <p:nvPr/>
        </p:nvSpPr>
        <p:spPr>
          <a:xfrm>
            <a:off x="508000" y="13335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7"/>
          <p:cNvSpPr txBox="1"/>
          <p:nvPr/>
        </p:nvSpPr>
        <p:spPr>
          <a:xfrm>
            <a:off x="711200" y="14732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ตัวอย่างโพสต์ชวนในกลุ่มแชต (ภาพจำลอง)</a:t>
            </a:r>
          </a:p>
        </p:txBody>
      </p:sp>
      <p:sp>
        <p:nvSpPr>
          <p:cNvPr id="9" name="ข้อความแชต ใครว่างติวแคลคูลัสพรุ่งนี้บ้าง"/>
          <p:cNvSpPr/>
          <p:nvPr/>
        </p:nvSpPr>
        <p:spPr>
          <a:xfrm>
            <a:off x="762000" y="1841500"/>
            <a:ext cx="33020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ใครว่างติวแคลคูลัสพรุ่งนี้บ้าง</a:t>
            </a:r>
          </a:p>
        </p:txBody>
      </p:sp>
      <p:sp>
        <p:nvSpPr>
          <p:cNvPr id="10" name="ข้อความแชต ไปด้วย ๆ"/>
          <p:cNvSpPr/>
          <p:nvPr/>
        </p:nvSpPr>
        <p:spPr>
          <a:xfrm>
            <a:off x="3302000" y="3556000"/>
            <a:ext cx="12065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ไปด้วย ๆ</a:t>
            </a:r>
          </a:p>
        </p:txBody>
      </p:sp>
      <p:sp>
        <p:nvSpPr>
          <p:cNvPr id="11" name="ข้อความแชต +1"/>
          <p:cNvSpPr/>
          <p:nvPr/>
        </p:nvSpPr>
        <p:spPr>
          <a:xfrm>
            <a:off x="3556000" y="4127500"/>
            <a:ext cx="6350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+1</a:t>
            </a:r>
          </a:p>
        </p:txBody>
      </p:sp>
      <p:sp>
        <p:nvSpPr>
          <p:cNvPr id="12" name="ข้อความแชต เปลี่ยนเป็น 18:30 ได้ไหม"/>
          <p:cNvSpPr/>
          <p:nvPr/>
        </p:nvSpPr>
        <p:spPr>
          <a:xfrm>
            <a:off x="1905000" y="4699000"/>
            <a:ext cx="27305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เปลี่ยนเป็น 18:30 ได้ไหม</a:t>
            </a:r>
          </a:p>
        </p:txBody>
      </p:sp>
      <p:sp>
        <p:nvSpPr>
          <p:cNvPr id="13" name="ข้อความแชต ใครถือลูกบาสไปบ้าง?"/>
          <p:cNvSpPr/>
          <p:nvPr/>
        </p:nvSpPr>
        <p:spPr>
          <a:xfrm>
            <a:off x="1270000" y="5270500"/>
            <a:ext cx="225425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ใครถือลูกบาสไปบ้าง?</a:t>
            </a:r>
          </a:p>
        </p:txBody>
      </p:sp>
      <p:sp>
        <p:nvSpPr>
          <p:cNvPr id="14" name="โพสต์หลัก"/>
          <p:cNvSpPr/>
          <p:nvPr/>
        </p:nvSpPr>
        <p:spPr>
          <a:xfrm>
            <a:off x="1016000" y="2413000"/>
            <a:ext cx="4191000" cy="9525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270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14"/>
          <p:cNvSpPr txBox="1"/>
          <p:nvPr/>
        </p:nvSpPr>
        <p:spPr>
          <a:xfrm>
            <a:off x="1244600" y="2527300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เล่นบาส 18:00 สนามกลาง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1244600" y="28956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ขาดอีก 4 คน</a:t>
            </a:r>
          </a:p>
        </p:txBody>
      </p:sp>
      <p:sp>
        <p:nvSpPr>
          <p:cNvPr id="17" name="Rect 16"/>
          <p:cNvSpPr/>
          <p:nvPr/>
        </p:nvSpPr>
        <p:spPr>
          <a:xfrm>
            <a:off x="6350000" y="5715000"/>
            <a:ext cx="5334000" cy="508000"/>
          </a:xfrm>
          <a:prstGeom prst="roundRect">
            <a:avLst>
              <a:gd name="adj" fmla="val 17500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52400" rIns="152400" tIns="50800" bIns="508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UniMate จึงเก็บโพสต์ คำขอ การยืนยัน และรีวิวเป็นข้อมูลในระบบ ตรวจสอบย้อนหลังได้</a:t>
            </a:r>
          </a:p>
        </p:txBody>
      </p:sp>
      <p:cxnSp>
        <p:nvCxnSpPr>
          <p:cNvPr id="18" name="เส้นชี้ 1"/>
          <p:cNvCxnSpPr/>
          <p:nvPr/>
        </p:nvCxnSpPr>
        <p:spPr>
          <a:xfrm flipH="1">
            <a:off x="4165600" y="1905000"/>
            <a:ext cx="2120900" cy="71247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9" name="เลข 1"/>
          <p:cNvSpPr/>
          <p:nvPr/>
        </p:nvSpPr>
        <p:spPr>
          <a:xfrm>
            <a:off x="6356350" y="174625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20" name="หัวข้อ 1"/>
          <p:cNvSpPr txBox="1"/>
          <p:nvPr/>
        </p:nvSpPr>
        <p:spPr>
          <a:xfrm>
            <a:off x="6756400" y="1765300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ข้อมูลกระจัดกระจาย</a:t>
            </a:r>
          </a:p>
        </p:txBody>
      </p:sp>
      <p:sp>
        <p:nvSpPr>
          <p:cNvPr id="21" name="คำอธิบาย 1"/>
          <p:cNvSpPr txBox="1"/>
          <p:nvPr/>
        </p:nvSpPr>
        <p:spPr>
          <a:xfrm>
            <a:off x="6756400" y="2052955"/>
            <a:ext cx="49276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รายละเอียดนัดอยู่ในข้อความเดียว ถูกข้อความใหม่ดันหาย ค้นย้อนหลังยาก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01 · หลักการและเหตุผล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กิจกรรมมีทุกวัน แต่การหาเพื่อนยังไม่เป็นระบบ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04 / 71</a:t>
            </a:r>
          </a:p>
        </p:txBody>
      </p:sp>
      <p:sp>
        <p:nvSpPr>
          <p:cNvPr id="7" name="ภาพจำลองกลุ่มแชต"/>
          <p:cNvSpPr/>
          <p:nvPr/>
        </p:nvSpPr>
        <p:spPr>
          <a:xfrm>
            <a:off x="508000" y="13335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7"/>
          <p:cNvSpPr txBox="1"/>
          <p:nvPr/>
        </p:nvSpPr>
        <p:spPr>
          <a:xfrm>
            <a:off x="711200" y="14732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ตัวอย่างโพสต์ชวนในกลุ่มแชต (ภาพจำลอง)</a:t>
            </a:r>
          </a:p>
        </p:txBody>
      </p:sp>
      <p:sp>
        <p:nvSpPr>
          <p:cNvPr id="9" name="ข้อความแชต ใครว่างติวแคลคูลัสพรุ่งนี้บ้าง"/>
          <p:cNvSpPr/>
          <p:nvPr/>
        </p:nvSpPr>
        <p:spPr>
          <a:xfrm>
            <a:off x="762000" y="1841500"/>
            <a:ext cx="33020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ใครว่างติวแคลคูลัสพรุ่งนี้บ้าง</a:t>
            </a:r>
          </a:p>
        </p:txBody>
      </p:sp>
      <p:sp>
        <p:nvSpPr>
          <p:cNvPr id="10" name="ข้อความแชต ไปด้วย ๆ"/>
          <p:cNvSpPr/>
          <p:nvPr/>
        </p:nvSpPr>
        <p:spPr>
          <a:xfrm>
            <a:off x="3302000" y="3556000"/>
            <a:ext cx="12065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ไปด้วย ๆ</a:t>
            </a:r>
          </a:p>
        </p:txBody>
      </p:sp>
      <p:sp>
        <p:nvSpPr>
          <p:cNvPr id="11" name="ข้อความแชต +1"/>
          <p:cNvSpPr/>
          <p:nvPr/>
        </p:nvSpPr>
        <p:spPr>
          <a:xfrm>
            <a:off x="3556000" y="4127500"/>
            <a:ext cx="6350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+1</a:t>
            </a:r>
          </a:p>
        </p:txBody>
      </p:sp>
      <p:sp>
        <p:nvSpPr>
          <p:cNvPr id="12" name="ข้อความแชต เปลี่ยนเป็น 18:30 ได้ไหม"/>
          <p:cNvSpPr/>
          <p:nvPr/>
        </p:nvSpPr>
        <p:spPr>
          <a:xfrm>
            <a:off x="1905000" y="4699000"/>
            <a:ext cx="27305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เปลี่ยนเป็น 18:30 ได้ไหม</a:t>
            </a:r>
          </a:p>
        </p:txBody>
      </p:sp>
      <p:sp>
        <p:nvSpPr>
          <p:cNvPr id="13" name="ข้อความแชต ใครถือลูกบาสไปบ้าง?"/>
          <p:cNvSpPr/>
          <p:nvPr/>
        </p:nvSpPr>
        <p:spPr>
          <a:xfrm>
            <a:off x="1270000" y="5270500"/>
            <a:ext cx="225425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ใครถือลูกบาสไปบ้าง?</a:t>
            </a:r>
          </a:p>
        </p:txBody>
      </p:sp>
      <p:sp>
        <p:nvSpPr>
          <p:cNvPr id="14" name="โพสต์หลัก"/>
          <p:cNvSpPr/>
          <p:nvPr/>
        </p:nvSpPr>
        <p:spPr>
          <a:xfrm>
            <a:off x="1016000" y="2413000"/>
            <a:ext cx="4191000" cy="9525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270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14"/>
          <p:cNvSpPr txBox="1"/>
          <p:nvPr/>
        </p:nvSpPr>
        <p:spPr>
          <a:xfrm>
            <a:off x="1244600" y="2527300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เล่นบาส 18:00 สนามกลาง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1244600" y="28956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ขาดอีก 4 คน</a:t>
            </a:r>
          </a:p>
        </p:txBody>
      </p:sp>
      <p:sp>
        <p:nvSpPr>
          <p:cNvPr id="17" name="Rect 16"/>
          <p:cNvSpPr/>
          <p:nvPr/>
        </p:nvSpPr>
        <p:spPr>
          <a:xfrm>
            <a:off x="6350000" y="5715000"/>
            <a:ext cx="5334000" cy="508000"/>
          </a:xfrm>
          <a:prstGeom prst="roundRect">
            <a:avLst>
              <a:gd name="adj" fmla="val 17500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52400" rIns="152400" tIns="50800" bIns="508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UniMate จึงเก็บโพสต์ คำขอ การยืนยัน และรีวิวเป็นข้อมูลในระบบ ตรวจสอบย้อนหลังได้</a:t>
            </a:r>
          </a:p>
        </p:txBody>
      </p:sp>
      <p:sp>
        <p:nvSpPr>
          <p:cNvPr id="18" name="เลข 1"/>
          <p:cNvSpPr/>
          <p:nvPr/>
        </p:nvSpPr>
        <p:spPr>
          <a:xfrm>
            <a:off x="6356350" y="174625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9" name="หัวข้อ 1"/>
          <p:cNvSpPr txBox="1"/>
          <p:nvPr/>
        </p:nvSpPr>
        <p:spPr>
          <a:xfrm>
            <a:off x="6756400" y="1765300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ข้อมูลกระจัดกระจาย</a:t>
            </a:r>
          </a:p>
        </p:txBody>
      </p:sp>
      <p:cxnSp>
        <p:nvCxnSpPr>
          <p:cNvPr id="20" name="เส้นชี้ 2"/>
          <p:cNvCxnSpPr/>
          <p:nvPr/>
        </p:nvCxnSpPr>
        <p:spPr>
          <a:xfrm flipH="1" flipV="1">
            <a:off x="2578100" y="3122930"/>
            <a:ext cx="3708400" cy="5207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21" name="เลข 2"/>
          <p:cNvSpPr/>
          <p:nvPr/>
        </p:nvSpPr>
        <p:spPr>
          <a:xfrm>
            <a:off x="6356350" y="301625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22" name="หัวข้อ 2"/>
          <p:cNvSpPr txBox="1"/>
          <p:nvPr/>
        </p:nvSpPr>
        <p:spPr>
          <a:xfrm>
            <a:off x="6756400" y="3035300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จัดคนไม่ลงตัว</a:t>
            </a:r>
          </a:p>
        </p:txBody>
      </p:sp>
      <p:sp>
        <p:nvSpPr>
          <p:cNvPr id="23" name="คำอธิบาย 2"/>
          <p:cNvSpPr txBox="1"/>
          <p:nvPr/>
        </p:nvSpPr>
        <p:spPr>
          <a:xfrm>
            <a:off x="6756400" y="3322955"/>
            <a:ext cx="49276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ตอบ “+1” กันในแชต ไม่รู้ว่าใครยืนยันจริง และยังขาดกี่คน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01 · หลักการและเหตุผล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กิจกรรมมีทุกวัน แต่การหาเพื่อนยังไม่เป็นระบบ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05 / 71</a:t>
            </a:r>
          </a:p>
        </p:txBody>
      </p:sp>
      <p:sp>
        <p:nvSpPr>
          <p:cNvPr id="7" name="ภาพจำลองกลุ่มแชต"/>
          <p:cNvSpPr/>
          <p:nvPr/>
        </p:nvSpPr>
        <p:spPr>
          <a:xfrm>
            <a:off x="508000" y="13335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7"/>
          <p:cNvSpPr txBox="1"/>
          <p:nvPr/>
        </p:nvSpPr>
        <p:spPr>
          <a:xfrm>
            <a:off x="711200" y="14732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ตัวอย่างโพสต์ชวนในกลุ่มแชต (ภาพจำลอง)</a:t>
            </a:r>
          </a:p>
        </p:txBody>
      </p:sp>
      <p:sp>
        <p:nvSpPr>
          <p:cNvPr id="9" name="ข้อความแชต ใครว่างติวแคลคูลัสพรุ่งนี้บ้าง"/>
          <p:cNvSpPr/>
          <p:nvPr/>
        </p:nvSpPr>
        <p:spPr>
          <a:xfrm>
            <a:off x="762000" y="1841500"/>
            <a:ext cx="33020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ใครว่างติวแคลคูลัสพรุ่งนี้บ้าง</a:t>
            </a:r>
          </a:p>
        </p:txBody>
      </p:sp>
      <p:sp>
        <p:nvSpPr>
          <p:cNvPr id="10" name="ข้อความแชต ไปด้วย ๆ"/>
          <p:cNvSpPr/>
          <p:nvPr/>
        </p:nvSpPr>
        <p:spPr>
          <a:xfrm>
            <a:off x="3302000" y="3556000"/>
            <a:ext cx="12065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ไปด้วย ๆ</a:t>
            </a:r>
          </a:p>
        </p:txBody>
      </p:sp>
      <p:sp>
        <p:nvSpPr>
          <p:cNvPr id="11" name="ข้อความแชต +1"/>
          <p:cNvSpPr/>
          <p:nvPr/>
        </p:nvSpPr>
        <p:spPr>
          <a:xfrm>
            <a:off x="3556000" y="4127500"/>
            <a:ext cx="6350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+1</a:t>
            </a:r>
          </a:p>
        </p:txBody>
      </p:sp>
      <p:sp>
        <p:nvSpPr>
          <p:cNvPr id="12" name="ข้อความแชต เปลี่ยนเป็น 18:30 ได้ไหม"/>
          <p:cNvSpPr/>
          <p:nvPr/>
        </p:nvSpPr>
        <p:spPr>
          <a:xfrm>
            <a:off x="1905000" y="4699000"/>
            <a:ext cx="273050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เปลี่ยนเป็น 18:30 ได้ไหม</a:t>
            </a:r>
          </a:p>
        </p:txBody>
      </p:sp>
      <p:sp>
        <p:nvSpPr>
          <p:cNvPr id="13" name="ข้อความแชต ใครถือลูกบาสไปบ้าง?"/>
          <p:cNvSpPr/>
          <p:nvPr/>
        </p:nvSpPr>
        <p:spPr>
          <a:xfrm>
            <a:off x="1270000" y="5270500"/>
            <a:ext cx="2254250" cy="38100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52400" rIns="152400" tIns="38100" bIns="381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ใครถือลูกบาสไปบ้าง?</a:t>
            </a:r>
          </a:p>
        </p:txBody>
      </p:sp>
      <p:sp>
        <p:nvSpPr>
          <p:cNvPr id="14" name="โพสต์หลัก"/>
          <p:cNvSpPr/>
          <p:nvPr/>
        </p:nvSpPr>
        <p:spPr>
          <a:xfrm>
            <a:off x="1016000" y="2413000"/>
            <a:ext cx="4191000" cy="9525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2700">
            <a:solidFill>
              <a:srgbClr val="1319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14"/>
          <p:cNvSpPr txBox="1"/>
          <p:nvPr/>
        </p:nvSpPr>
        <p:spPr>
          <a:xfrm>
            <a:off x="1244600" y="2527300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เล่นบาส 18:00 สนามกลาง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1244600" y="28956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7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ขาดอีก 4 คน</a:t>
            </a:r>
          </a:p>
        </p:txBody>
      </p:sp>
      <p:sp>
        <p:nvSpPr>
          <p:cNvPr id="17" name="Rect 16"/>
          <p:cNvSpPr/>
          <p:nvPr/>
        </p:nvSpPr>
        <p:spPr>
          <a:xfrm>
            <a:off x="6350000" y="5715000"/>
            <a:ext cx="5334000" cy="508000"/>
          </a:xfrm>
          <a:prstGeom prst="roundRect">
            <a:avLst>
              <a:gd name="adj" fmla="val 17500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52400" rIns="152400" tIns="50800" bIns="508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UniMate จึงเก็บโพสต์ คำขอ การยืนยัน และรีวิวเป็นข้อมูลในระบบ ตรวจสอบย้อนหลังได้</a:t>
            </a:r>
          </a:p>
        </p:txBody>
      </p:sp>
      <p:sp>
        <p:nvSpPr>
          <p:cNvPr id="18" name="เลข 1"/>
          <p:cNvSpPr/>
          <p:nvPr/>
        </p:nvSpPr>
        <p:spPr>
          <a:xfrm>
            <a:off x="6356350" y="174625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9" name="หัวข้อ 1"/>
          <p:cNvSpPr txBox="1"/>
          <p:nvPr/>
        </p:nvSpPr>
        <p:spPr>
          <a:xfrm>
            <a:off x="6756400" y="1765300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ข้อมูลกระจัดกระจาย</a:t>
            </a:r>
          </a:p>
        </p:txBody>
      </p:sp>
      <p:sp>
        <p:nvSpPr>
          <p:cNvPr id="20" name="เลข 2"/>
          <p:cNvSpPr/>
          <p:nvPr/>
        </p:nvSpPr>
        <p:spPr>
          <a:xfrm>
            <a:off x="6356350" y="301625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21" name="หัวข้อ 2"/>
          <p:cNvSpPr txBox="1"/>
          <p:nvPr/>
        </p:nvSpPr>
        <p:spPr>
          <a:xfrm>
            <a:off x="6756400" y="3035300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จัดคนไม่ลงตัว</a:t>
            </a:r>
          </a:p>
        </p:txBody>
      </p:sp>
      <p:cxnSp>
        <p:nvCxnSpPr>
          <p:cNvPr id="22" name="เส้นชี้ 3"/>
          <p:cNvCxnSpPr/>
          <p:nvPr/>
        </p:nvCxnSpPr>
        <p:spPr>
          <a:xfrm flipH="1">
            <a:off x="4508500" y="4572000"/>
            <a:ext cx="1778000" cy="22098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23" name="เลข 3"/>
          <p:cNvSpPr/>
          <p:nvPr/>
        </p:nvSpPr>
        <p:spPr>
          <a:xfrm>
            <a:off x="6356350" y="441325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24" name="หัวข้อ 3"/>
          <p:cNvSpPr txBox="1"/>
          <p:nvPr/>
        </p:nvSpPr>
        <p:spPr>
          <a:xfrm>
            <a:off x="6756400" y="4432300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ขาดความน่าเชื่อถือ</a:t>
            </a:r>
          </a:p>
        </p:txBody>
      </p:sp>
      <p:sp>
        <p:nvSpPr>
          <p:cNvPr id="25" name="คำอธิบาย 3"/>
          <p:cNvSpPr txBox="1"/>
          <p:nvPr/>
        </p:nvSpPr>
        <p:spPr>
          <a:xfrm>
            <a:off x="6756400" y="4719955"/>
            <a:ext cx="49276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เปลี่ยนเวลาได้กลางทาง ไม่มีประวัติว่าใครมาจริง และไม่มีช่องทางแจ้งปัญหา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หน้ากิจกรรม: ค้นหาและกรองได้ในหน้าเดียว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10 / 71</a:t>
            </a:r>
          </a:p>
        </p:txBody>
      </p:sp>
      <p:pic>
        <p:nvPicPr>
          <p:cNvPr id="7" name="ภาพหน้าจอ d-activities" descr="d-activities_96-0-1248x7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556500" cy="4250531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cxnSp>
        <p:nvCxnSpPr>
          <p:cNvPr id="8" name="เส้นชี้ 1"/>
          <p:cNvCxnSpPr/>
          <p:nvPr/>
        </p:nvCxnSpPr>
        <p:spPr>
          <a:xfrm flipH="1">
            <a:off x="6400586" y="1536415"/>
            <a:ext cx="1968714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9" name="เลข 1"/>
          <p:cNvSpPr/>
          <p:nvPr/>
        </p:nvSpPr>
        <p:spPr>
          <a:xfrm>
            <a:off x="8439150" y="1377665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396715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ปุ่มสร้างโพสต์</a:t>
            </a:r>
          </a:p>
        </p:txBody>
      </p:sp>
      <p:sp>
        <p:nvSpPr>
          <p:cNvPr id="11" name="คำอธิบาย 1"/>
          <p:cNvSpPr txBox="1"/>
          <p:nvPr/>
        </p:nvSpPr>
        <p:spPr>
          <a:xfrm>
            <a:off x="8839200" y="1684370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นักศึกษาทุกคนเป็นผู้จัดกิจกรรมได้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หน้ากิจกรรม: ค้นหาและกรองได้ในหน้าเดียว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11 / 71</a:t>
            </a:r>
          </a:p>
        </p:txBody>
      </p:sp>
      <p:pic>
        <p:nvPicPr>
          <p:cNvPr id="7" name="ภาพหน้าจอ d-activities" descr="d-activities_96-0-1248x7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556500" cy="4250531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8" name="เลข 1"/>
          <p:cNvSpPr/>
          <p:nvPr/>
        </p:nvSpPr>
        <p:spPr>
          <a:xfrm>
            <a:off x="8439150" y="1377665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9" name="หัวข้อ 1"/>
          <p:cNvSpPr txBox="1"/>
          <p:nvPr/>
        </p:nvSpPr>
        <p:spPr>
          <a:xfrm>
            <a:off x="8839200" y="1396715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ปุ่มสร้างโพสต์</a:t>
            </a:r>
          </a:p>
        </p:txBody>
      </p:sp>
      <p:cxnSp>
        <p:nvCxnSpPr>
          <p:cNvPr id="10" name="เส้นชี้ 2"/>
          <p:cNvCxnSpPr/>
          <p:nvPr/>
        </p:nvCxnSpPr>
        <p:spPr>
          <a:xfrm flipH="1">
            <a:off x="6346092" y="3116741"/>
            <a:ext cx="2023208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1" name="เลข 2"/>
          <p:cNvSpPr/>
          <p:nvPr/>
        </p:nvSpPr>
        <p:spPr>
          <a:xfrm>
            <a:off x="8439150" y="2957991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2977041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ช่องค้นหา</a:t>
            </a:r>
          </a:p>
        </p:txBody>
      </p:sp>
      <p:sp>
        <p:nvSpPr>
          <p:cNvPr id="13" name="คำอธิบาย 2"/>
          <p:cNvSpPr txBox="1"/>
          <p:nvPr/>
        </p:nvSpPr>
        <p:spPr>
          <a:xfrm>
            <a:off x="8839200" y="3264696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ค้นจากชื่อหรือรายละเอียดกิจกรรม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หน้ากิจกรรม: ค้นหาและกรองได้ในหน้าเดียว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12 / 71</a:t>
            </a:r>
          </a:p>
        </p:txBody>
      </p:sp>
      <p:pic>
        <p:nvPicPr>
          <p:cNvPr id="7" name="ภาพหน้าจอ d-activities" descr="d-activities_96-0-1248x7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556500" cy="4250531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8" name="เลข 1"/>
          <p:cNvSpPr/>
          <p:nvPr/>
        </p:nvSpPr>
        <p:spPr>
          <a:xfrm>
            <a:off x="8439150" y="1377665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9" name="หัวข้อ 1"/>
          <p:cNvSpPr txBox="1"/>
          <p:nvPr/>
        </p:nvSpPr>
        <p:spPr>
          <a:xfrm>
            <a:off x="8839200" y="1396715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ปุ่มสร้างโพสต์</a:t>
            </a:r>
          </a:p>
        </p:txBody>
      </p:sp>
      <p:sp>
        <p:nvSpPr>
          <p:cNvPr id="10" name="เลข 2"/>
          <p:cNvSpPr/>
          <p:nvPr/>
        </p:nvSpPr>
        <p:spPr>
          <a:xfrm>
            <a:off x="8439150" y="2957991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1" name="หัวข้อ 2"/>
          <p:cNvSpPr txBox="1"/>
          <p:nvPr/>
        </p:nvSpPr>
        <p:spPr>
          <a:xfrm>
            <a:off x="8839200" y="2977041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ช่องค้นหา</a:t>
            </a:r>
          </a:p>
        </p:txBody>
      </p:sp>
      <p:cxnSp>
        <p:nvCxnSpPr>
          <p:cNvPr id="12" name="เส้นชี้ 3"/>
          <p:cNvCxnSpPr/>
          <p:nvPr/>
        </p:nvCxnSpPr>
        <p:spPr>
          <a:xfrm flipH="1" flipV="1">
            <a:off x="5213828" y="3540080"/>
            <a:ext cx="3155472" cy="220297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3" name="เลข 3"/>
          <p:cNvSpPr/>
          <p:nvPr/>
        </p:nvSpPr>
        <p:spPr>
          <a:xfrm>
            <a:off x="8439150" y="3601627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หัวข้อ 3"/>
          <p:cNvSpPr txBox="1"/>
          <p:nvPr/>
        </p:nvSpPr>
        <p:spPr>
          <a:xfrm>
            <a:off x="8839200" y="362067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ตัวกรองเพิ่มเติม</a:t>
            </a:r>
          </a:p>
        </p:txBody>
      </p:sp>
      <p:sp>
        <p:nvSpPr>
          <p:cNvPr id="15" name="คำอธิบาย 3"/>
          <p:cNvSpPr txBox="1"/>
          <p:nvPr/>
        </p:nvSpPr>
        <p:spPr>
          <a:xfrm>
            <a:off x="8839200" y="3908332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สถานที่ วันที่เริ่ม และสถานะ ใช้ร่วมกับคำค้นได้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หน้ากิจกรรม: ค้นหาและกรองได้ในหน้าเดียว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13 / 71</a:t>
            </a:r>
          </a:p>
        </p:txBody>
      </p:sp>
      <p:pic>
        <p:nvPicPr>
          <p:cNvPr id="7" name="ภาพหน้าจอ d-activities" descr="d-activities_96-0-1248x7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556500" cy="4250531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8" name="เลข 1"/>
          <p:cNvSpPr/>
          <p:nvPr/>
        </p:nvSpPr>
        <p:spPr>
          <a:xfrm>
            <a:off x="8439150" y="1377665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9" name="หัวข้อ 1"/>
          <p:cNvSpPr txBox="1"/>
          <p:nvPr/>
        </p:nvSpPr>
        <p:spPr>
          <a:xfrm>
            <a:off x="8839200" y="1396715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ปุ่มสร้างโพสต์</a:t>
            </a:r>
          </a:p>
        </p:txBody>
      </p:sp>
      <p:sp>
        <p:nvSpPr>
          <p:cNvPr id="10" name="เลข 2"/>
          <p:cNvSpPr/>
          <p:nvPr/>
        </p:nvSpPr>
        <p:spPr>
          <a:xfrm>
            <a:off x="8439150" y="2957991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1" name="หัวข้อ 2"/>
          <p:cNvSpPr txBox="1"/>
          <p:nvPr/>
        </p:nvSpPr>
        <p:spPr>
          <a:xfrm>
            <a:off x="8839200" y="2977041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ช่องค้นหา</a:t>
            </a:r>
          </a:p>
        </p:txBody>
      </p:sp>
      <p:sp>
        <p:nvSpPr>
          <p:cNvPr id="12" name="เลข 3"/>
          <p:cNvSpPr/>
          <p:nvPr/>
        </p:nvSpPr>
        <p:spPr>
          <a:xfrm>
            <a:off x="8439150" y="3601627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3" name="หัวข้อ 3"/>
          <p:cNvSpPr txBox="1"/>
          <p:nvPr/>
        </p:nvSpPr>
        <p:spPr>
          <a:xfrm>
            <a:off x="8839200" y="362067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ตัวกรองเพิ่มเติม</a:t>
            </a:r>
          </a:p>
        </p:txBody>
      </p:sp>
      <p:cxnSp>
        <p:nvCxnSpPr>
          <p:cNvPr id="14" name="เส้นชี้ 4"/>
          <p:cNvCxnSpPr/>
          <p:nvPr/>
        </p:nvCxnSpPr>
        <p:spPr>
          <a:xfrm flipH="1" flipV="1">
            <a:off x="6346092" y="3913061"/>
            <a:ext cx="2023208" cy="707233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5" name="เลข 4"/>
          <p:cNvSpPr/>
          <p:nvPr/>
        </p:nvSpPr>
        <p:spPr>
          <a:xfrm>
            <a:off x="8439150" y="4461544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6" name="หัวข้อ 4"/>
          <p:cNvSpPr txBox="1"/>
          <p:nvPr/>
        </p:nvSpPr>
        <p:spPr>
          <a:xfrm>
            <a:off x="8839200" y="4480594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ชิปหมวดหมู่</a:t>
            </a:r>
          </a:p>
        </p:txBody>
      </p:sp>
      <p:sp>
        <p:nvSpPr>
          <p:cNvPr id="17" name="คำอธิบาย 4"/>
          <p:cNvSpPr txBox="1"/>
          <p:nvPr/>
        </p:nvSpPr>
        <p:spPr>
          <a:xfrm>
            <a:off x="8839200" y="4768249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กดเพื่อกรองตามหมวด เช่น กีฬา ติวหนังสือ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การ์ดกิจกรรม: ดูข้อมูลสำคัญได้ก่อนเปิด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15 / 71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508000" y="952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เรียงกิจกรรมที่ยังไม่จบขึ้นก่อน · หน้าละ 12 การ์ด</a:t>
            </a:r>
          </a:p>
        </p:txBody>
      </p:sp>
      <p:pic>
        <p:nvPicPr>
          <p:cNvPr id="8" name="ภาพการ์ดกิจกรรม" descr="d-card_0-0-392x4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301750"/>
            <a:ext cx="4540250" cy="488771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cxnSp>
        <p:nvCxnSpPr>
          <p:cNvPr id="9" name="เส้นชี้ 1"/>
          <p:cNvCxnSpPr/>
          <p:nvPr/>
        </p:nvCxnSpPr>
        <p:spPr>
          <a:xfrm flipH="1">
            <a:off x="5524500" y="1876749"/>
            <a:ext cx="762000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0" name="เลข 1"/>
          <p:cNvSpPr/>
          <p:nvPr/>
        </p:nvSpPr>
        <p:spPr>
          <a:xfrm>
            <a:off x="6356350" y="1717999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6756400" y="1737049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แถบสีและไอคอนหมวด</a:t>
            </a:r>
          </a:p>
        </p:txBody>
      </p:sp>
      <p:sp>
        <p:nvSpPr>
          <p:cNvPr id="12" name="คำอธิบาย 1"/>
          <p:cNvSpPr txBox="1"/>
          <p:nvPr/>
        </p:nvSpPr>
        <p:spPr>
          <a:xfrm>
            <a:off x="6756400" y="2024704"/>
            <a:ext cx="49276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สีกับไอคอนบอกหมวดกิจกรรมได้ในแวบเดียว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การ์ดกิจกรรม: ดูข้อมูลสำคัญได้ก่อนเปิด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16 / 71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508000" y="952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เรียงกิจกรรมที่ยังไม่จบขึ้นก่อน · หน้าละ 12 การ์ด</a:t>
            </a:r>
          </a:p>
        </p:txBody>
      </p:sp>
      <p:pic>
        <p:nvPicPr>
          <p:cNvPr id="8" name="ภาพการ์ดกิจกรรม" descr="d-card_0-0-392x4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301750"/>
            <a:ext cx="4540250" cy="488771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6356350" y="1717999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6756400" y="1737049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แถบสีและไอคอนหมวด</a:t>
            </a:r>
          </a:p>
        </p:txBody>
      </p:sp>
      <p:cxnSp>
        <p:nvCxnSpPr>
          <p:cNvPr id="11" name="เส้นชี้ 2"/>
          <p:cNvCxnSpPr/>
          <p:nvPr/>
        </p:nvCxnSpPr>
        <p:spPr>
          <a:xfrm flipH="1">
            <a:off x="1895135" y="2506306"/>
            <a:ext cx="4391365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2" name="เลข 2"/>
          <p:cNvSpPr/>
          <p:nvPr/>
        </p:nvSpPr>
        <p:spPr>
          <a:xfrm>
            <a:off x="6356350" y="2347556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หัวข้อ 2"/>
          <p:cNvSpPr txBox="1"/>
          <p:nvPr/>
        </p:nvSpPr>
        <p:spPr>
          <a:xfrm>
            <a:off x="6756400" y="2366606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วันที่เริ่มกิจกรรม</a:t>
            </a:r>
          </a:p>
        </p:txBody>
      </p:sp>
      <p:sp>
        <p:nvSpPr>
          <p:cNvPr id="14" name="คำอธิบาย 2"/>
          <p:cNvSpPr txBox="1"/>
          <p:nvPr/>
        </p:nvSpPr>
        <p:spPr>
          <a:xfrm>
            <a:off x="6756400" y="2654261"/>
            <a:ext cx="49276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วัน วันที่ และเดือน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การ์ดกิจกรรม: ดูข้อมูลสำคัญได้ก่อนเปิด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17 / 71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508000" y="952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เรียงกิจกรรมที่ยังไม่จบขึ้นก่อน · หน้าละ 12 การ์ด</a:t>
            </a:r>
          </a:p>
        </p:txBody>
      </p:sp>
      <p:pic>
        <p:nvPicPr>
          <p:cNvPr id="8" name="ภาพการ์ดกิจกรรม" descr="d-card_0-0-392x4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301750"/>
            <a:ext cx="4540250" cy="488771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6356350" y="1717999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6756400" y="1737049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แถบสีและไอคอนหมวด</a:t>
            </a:r>
          </a:p>
        </p:txBody>
      </p:sp>
      <p:sp>
        <p:nvSpPr>
          <p:cNvPr id="11" name="เลข 2"/>
          <p:cNvSpPr/>
          <p:nvPr/>
        </p:nvSpPr>
        <p:spPr>
          <a:xfrm>
            <a:off x="6356350" y="2347556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6756400" y="2366606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วันที่เริ่มกิจกรรม</a:t>
            </a:r>
          </a:p>
        </p:txBody>
      </p:sp>
      <p:cxnSp>
        <p:nvCxnSpPr>
          <p:cNvPr id="13" name="เส้นชี้ 3"/>
          <p:cNvCxnSpPr/>
          <p:nvPr/>
        </p:nvCxnSpPr>
        <p:spPr>
          <a:xfrm flipH="1" flipV="1">
            <a:off x="3377665" y="2837559"/>
            <a:ext cx="2908835" cy="261583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4" name="เลข 3"/>
          <p:cNvSpPr/>
          <p:nvPr/>
        </p:nvSpPr>
        <p:spPr>
          <a:xfrm>
            <a:off x="6356350" y="2940392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5" name="หัวข้อ 3"/>
          <p:cNvSpPr txBox="1"/>
          <p:nvPr/>
        </p:nvSpPr>
        <p:spPr>
          <a:xfrm>
            <a:off x="6756400" y="2959442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หมวดหมู่ + สถานะ</a:t>
            </a:r>
          </a:p>
        </p:txBody>
      </p:sp>
      <p:sp>
        <p:nvSpPr>
          <p:cNvPr id="16" name="คำอธิบาย 3"/>
          <p:cNvSpPr txBox="1"/>
          <p:nvPr/>
        </p:nvSpPr>
        <p:spPr>
          <a:xfrm>
            <a:off x="6756400" y="3247097"/>
            <a:ext cx="49276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เปิดรับ · เต็มแล้ว · เริ่มแล้ว · จบแล้ว · ยกเลิก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การ์ดกิจกรรม: ดูข้อมูลสำคัญได้ก่อนเปิด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18 / 71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508000" y="952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เรียงกิจกรรมที่ยังไม่จบขึ้นก่อน · หน้าละ 12 การ์ด</a:t>
            </a:r>
          </a:p>
        </p:txBody>
      </p:sp>
      <p:pic>
        <p:nvPicPr>
          <p:cNvPr id="8" name="ภาพการ์ดกิจกรรม" descr="d-card_0-0-392x4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301750"/>
            <a:ext cx="4540250" cy="488771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6356350" y="1717999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6756400" y="1737049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แถบสีและไอคอนหมวด</a:t>
            </a:r>
          </a:p>
        </p:txBody>
      </p:sp>
      <p:sp>
        <p:nvSpPr>
          <p:cNvPr id="11" name="เลข 2"/>
          <p:cNvSpPr/>
          <p:nvPr/>
        </p:nvSpPr>
        <p:spPr>
          <a:xfrm>
            <a:off x="6356350" y="2347556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6756400" y="2366606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วันที่เริ่มกิจกรรม</a:t>
            </a:r>
          </a:p>
        </p:txBody>
      </p:sp>
      <p:sp>
        <p:nvSpPr>
          <p:cNvPr id="13" name="เลข 3"/>
          <p:cNvSpPr/>
          <p:nvPr/>
        </p:nvSpPr>
        <p:spPr>
          <a:xfrm>
            <a:off x="6356350" y="2940392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หัวข้อ 3"/>
          <p:cNvSpPr txBox="1"/>
          <p:nvPr/>
        </p:nvSpPr>
        <p:spPr>
          <a:xfrm>
            <a:off x="6756400" y="2959442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หมวดหมู่ + สถานะ</a:t>
            </a:r>
          </a:p>
        </p:txBody>
      </p:sp>
      <p:cxnSp>
        <p:nvCxnSpPr>
          <p:cNvPr id="15" name="เส้นชี้ 4"/>
          <p:cNvCxnSpPr/>
          <p:nvPr/>
        </p:nvCxnSpPr>
        <p:spPr>
          <a:xfrm flipH="1">
            <a:off x="5300322" y="3691978"/>
            <a:ext cx="986178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6" name="เลข 4"/>
          <p:cNvSpPr/>
          <p:nvPr/>
        </p:nvSpPr>
        <p:spPr>
          <a:xfrm>
            <a:off x="6356350" y="3533228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7" name="หัวข้อ 4"/>
          <p:cNvSpPr txBox="1"/>
          <p:nvPr/>
        </p:nvSpPr>
        <p:spPr>
          <a:xfrm>
            <a:off x="6756400" y="3552278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ชื่อและรายละเอียดย่อ</a:t>
            </a:r>
          </a:p>
        </p:txBody>
      </p:sp>
      <p:sp>
        <p:nvSpPr>
          <p:cNvPr id="18" name="คำอธิบาย 4"/>
          <p:cNvSpPr txBox="1"/>
          <p:nvPr/>
        </p:nvSpPr>
        <p:spPr>
          <a:xfrm>
            <a:off x="6756400" y="3839933"/>
            <a:ext cx="49276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แสดงไม่เกิน 2 บรรทัด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การ์ดกิจกรรม: ดูข้อมูลสำคัญได้ก่อนเปิด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19 / 71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508000" y="952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เรียงกิจกรรมที่ยังไม่จบขึ้นก่อน · หน้าละ 12 การ์ด</a:t>
            </a:r>
          </a:p>
        </p:txBody>
      </p:sp>
      <p:pic>
        <p:nvPicPr>
          <p:cNvPr id="8" name="ภาพการ์ดกิจกรรม" descr="d-card_0-0-392x4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301750"/>
            <a:ext cx="4540250" cy="488771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6356350" y="1717999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6756400" y="1737049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แถบสีและไอคอนหมวด</a:t>
            </a:r>
          </a:p>
        </p:txBody>
      </p:sp>
      <p:sp>
        <p:nvSpPr>
          <p:cNvPr id="11" name="เลข 2"/>
          <p:cNvSpPr/>
          <p:nvPr/>
        </p:nvSpPr>
        <p:spPr>
          <a:xfrm>
            <a:off x="6356350" y="2347556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6756400" y="2366606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วันที่เริ่มกิจกรรม</a:t>
            </a:r>
          </a:p>
        </p:txBody>
      </p:sp>
      <p:sp>
        <p:nvSpPr>
          <p:cNvPr id="13" name="เลข 3"/>
          <p:cNvSpPr/>
          <p:nvPr/>
        </p:nvSpPr>
        <p:spPr>
          <a:xfrm>
            <a:off x="6356350" y="2940392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หัวข้อ 3"/>
          <p:cNvSpPr txBox="1"/>
          <p:nvPr/>
        </p:nvSpPr>
        <p:spPr>
          <a:xfrm>
            <a:off x="6756400" y="2959442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หมวดหมู่ + สถานะ</a:t>
            </a:r>
          </a:p>
        </p:txBody>
      </p:sp>
      <p:sp>
        <p:nvSpPr>
          <p:cNvPr id="15" name="เลข 4"/>
          <p:cNvSpPr/>
          <p:nvPr/>
        </p:nvSpPr>
        <p:spPr>
          <a:xfrm>
            <a:off x="6356350" y="3533228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6" name="หัวข้อ 4"/>
          <p:cNvSpPr txBox="1"/>
          <p:nvPr/>
        </p:nvSpPr>
        <p:spPr>
          <a:xfrm>
            <a:off x="6756400" y="3552278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ชื่อและรายละเอียดย่อ</a:t>
            </a:r>
          </a:p>
        </p:txBody>
      </p:sp>
      <p:cxnSp>
        <p:nvCxnSpPr>
          <p:cNvPr id="17" name="เส้นชี้ 5"/>
          <p:cNvCxnSpPr/>
          <p:nvPr/>
        </p:nvCxnSpPr>
        <p:spPr>
          <a:xfrm flipH="1">
            <a:off x="5300322" y="4452128"/>
            <a:ext cx="986178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8" name="เลข 5"/>
          <p:cNvSpPr/>
          <p:nvPr/>
        </p:nvSpPr>
        <p:spPr>
          <a:xfrm>
            <a:off x="6356350" y="4293378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5</a:t>
            </a:r>
          </a:p>
        </p:txBody>
      </p:sp>
      <p:sp>
        <p:nvSpPr>
          <p:cNvPr id="19" name="หัวข้อ 5"/>
          <p:cNvSpPr txBox="1"/>
          <p:nvPr/>
        </p:nvSpPr>
        <p:spPr>
          <a:xfrm>
            <a:off x="6756400" y="4312428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วันเวลาและสถานที่</a:t>
            </a:r>
          </a:p>
        </p:txBody>
      </p:sp>
      <p:sp>
        <p:nvSpPr>
          <p:cNvPr id="20" name="คำอธิบาย 5"/>
          <p:cNvSpPr txBox="1"/>
          <p:nvPr/>
        </p:nvSpPr>
        <p:spPr>
          <a:xfrm>
            <a:off x="6756400" y="4600083"/>
            <a:ext cx="49276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เวลาเริ่ม–สิ้นสุด และจุดนัดพบ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การ์ดกิจกรรม: ดูข้อมูลสำคัญได้ก่อนเปิด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20 / 71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508000" y="952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เรียงกิจกรรมที่ยังไม่จบขึ้นก่อน · หน้าละ 12 การ์ด</a:t>
            </a:r>
          </a:p>
        </p:txBody>
      </p:sp>
      <p:pic>
        <p:nvPicPr>
          <p:cNvPr id="8" name="ภาพการ์ดกิจกรรม" descr="d-card_0-0-392x4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301750"/>
            <a:ext cx="4540250" cy="488771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6356350" y="1717999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6756400" y="1737049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แถบสีและไอคอนหมวด</a:t>
            </a:r>
          </a:p>
        </p:txBody>
      </p:sp>
      <p:sp>
        <p:nvSpPr>
          <p:cNvPr id="11" name="เลข 2"/>
          <p:cNvSpPr/>
          <p:nvPr/>
        </p:nvSpPr>
        <p:spPr>
          <a:xfrm>
            <a:off x="6356350" y="2347556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6756400" y="2366606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วันที่เริ่มกิจกรรม</a:t>
            </a:r>
          </a:p>
        </p:txBody>
      </p:sp>
      <p:sp>
        <p:nvSpPr>
          <p:cNvPr id="13" name="เลข 3"/>
          <p:cNvSpPr/>
          <p:nvPr/>
        </p:nvSpPr>
        <p:spPr>
          <a:xfrm>
            <a:off x="6356350" y="2940392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หัวข้อ 3"/>
          <p:cNvSpPr txBox="1"/>
          <p:nvPr/>
        </p:nvSpPr>
        <p:spPr>
          <a:xfrm>
            <a:off x="6756400" y="2959442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หมวดหมู่ + สถานะ</a:t>
            </a:r>
          </a:p>
        </p:txBody>
      </p:sp>
      <p:sp>
        <p:nvSpPr>
          <p:cNvPr id="15" name="เลข 4"/>
          <p:cNvSpPr/>
          <p:nvPr/>
        </p:nvSpPr>
        <p:spPr>
          <a:xfrm>
            <a:off x="6356350" y="3533228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6" name="หัวข้อ 4"/>
          <p:cNvSpPr txBox="1"/>
          <p:nvPr/>
        </p:nvSpPr>
        <p:spPr>
          <a:xfrm>
            <a:off x="6756400" y="3552278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ชื่อและรายละเอียดย่อ</a:t>
            </a:r>
          </a:p>
        </p:txBody>
      </p:sp>
      <p:sp>
        <p:nvSpPr>
          <p:cNvPr id="17" name="เลข 5"/>
          <p:cNvSpPr/>
          <p:nvPr/>
        </p:nvSpPr>
        <p:spPr>
          <a:xfrm>
            <a:off x="6356350" y="4293378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5</a:t>
            </a:r>
          </a:p>
        </p:txBody>
      </p:sp>
      <p:sp>
        <p:nvSpPr>
          <p:cNvPr id="18" name="หัวข้อ 5"/>
          <p:cNvSpPr txBox="1"/>
          <p:nvPr/>
        </p:nvSpPr>
        <p:spPr>
          <a:xfrm>
            <a:off x="6756400" y="4312428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วันเวลาและสถานที่</a:t>
            </a:r>
          </a:p>
        </p:txBody>
      </p:sp>
      <p:cxnSp>
        <p:nvCxnSpPr>
          <p:cNvPr id="19" name="เส้นชี้ 6"/>
          <p:cNvCxnSpPr/>
          <p:nvPr/>
        </p:nvCxnSpPr>
        <p:spPr>
          <a:xfrm flipH="1">
            <a:off x="5300322" y="5044964"/>
            <a:ext cx="986178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20" name="เลข 6"/>
          <p:cNvSpPr/>
          <p:nvPr/>
        </p:nvSpPr>
        <p:spPr>
          <a:xfrm>
            <a:off x="6356350" y="4886214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6</a:t>
            </a:r>
          </a:p>
        </p:txBody>
      </p:sp>
      <p:sp>
        <p:nvSpPr>
          <p:cNvPr id="21" name="หัวข้อ 6"/>
          <p:cNvSpPr txBox="1"/>
          <p:nvPr/>
        </p:nvSpPr>
        <p:spPr>
          <a:xfrm>
            <a:off x="6756400" y="4905264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ผู้เข้าร่วมและที่ว่าง</a:t>
            </a:r>
          </a:p>
        </p:txBody>
      </p:sp>
      <p:sp>
        <p:nvSpPr>
          <p:cNvPr id="22" name="คำอธิบาย 6"/>
          <p:cNvSpPr txBox="1"/>
          <p:nvPr/>
        </p:nvSpPr>
        <p:spPr>
          <a:xfrm>
            <a:off x="6756400" y="5192919"/>
            <a:ext cx="49276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นับเฉพาะคนที่อนุมัติแล้ว แถบบอกสัดส่วน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1 ค้นหากิจกรรม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การ์ดกิจกรรม: ดูข้อมูลสำคัญได้ก่อนเปิด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21 / 71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508000" y="952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เรียงกิจกรรมที่ยังไม่จบขึ้นก่อน · หน้าละ 12 การ์ด</a:t>
            </a:r>
          </a:p>
        </p:txBody>
      </p:sp>
      <p:pic>
        <p:nvPicPr>
          <p:cNvPr id="8" name="ภาพการ์ดกิจกรรม" descr="d-card_0-0-392x4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301750"/>
            <a:ext cx="4540250" cy="488771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6356350" y="1717999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6756400" y="1737049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แถบสีและไอคอนหมวด</a:t>
            </a:r>
          </a:p>
        </p:txBody>
      </p:sp>
      <p:sp>
        <p:nvSpPr>
          <p:cNvPr id="11" name="เลข 2"/>
          <p:cNvSpPr/>
          <p:nvPr/>
        </p:nvSpPr>
        <p:spPr>
          <a:xfrm>
            <a:off x="6356350" y="2347556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6756400" y="2366606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วันที่เริ่มกิจกรรม</a:t>
            </a:r>
          </a:p>
        </p:txBody>
      </p:sp>
      <p:sp>
        <p:nvSpPr>
          <p:cNvPr id="13" name="เลข 3"/>
          <p:cNvSpPr/>
          <p:nvPr/>
        </p:nvSpPr>
        <p:spPr>
          <a:xfrm>
            <a:off x="6356350" y="2940392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หัวข้อ 3"/>
          <p:cNvSpPr txBox="1"/>
          <p:nvPr/>
        </p:nvSpPr>
        <p:spPr>
          <a:xfrm>
            <a:off x="6756400" y="2959442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หมวดหมู่ + สถานะ</a:t>
            </a:r>
          </a:p>
        </p:txBody>
      </p:sp>
      <p:sp>
        <p:nvSpPr>
          <p:cNvPr id="15" name="เลข 4"/>
          <p:cNvSpPr/>
          <p:nvPr/>
        </p:nvSpPr>
        <p:spPr>
          <a:xfrm>
            <a:off x="6356350" y="3533228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6" name="หัวข้อ 4"/>
          <p:cNvSpPr txBox="1"/>
          <p:nvPr/>
        </p:nvSpPr>
        <p:spPr>
          <a:xfrm>
            <a:off x="6756400" y="3552278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ชื่อและรายละเอียดย่อ</a:t>
            </a:r>
          </a:p>
        </p:txBody>
      </p:sp>
      <p:sp>
        <p:nvSpPr>
          <p:cNvPr id="17" name="เลข 5"/>
          <p:cNvSpPr/>
          <p:nvPr/>
        </p:nvSpPr>
        <p:spPr>
          <a:xfrm>
            <a:off x="6356350" y="4293378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5</a:t>
            </a:r>
          </a:p>
        </p:txBody>
      </p:sp>
      <p:sp>
        <p:nvSpPr>
          <p:cNvPr id="18" name="หัวข้อ 5"/>
          <p:cNvSpPr txBox="1"/>
          <p:nvPr/>
        </p:nvSpPr>
        <p:spPr>
          <a:xfrm>
            <a:off x="6756400" y="4312428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วันเวลาและสถานที่</a:t>
            </a:r>
          </a:p>
        </p:txBody>
      </p:sp>
      <p:sp>
        <p:nvSpPr>
          <p:cNvPr id="19" name="เลข 6"/>
          <p:cNvSpPr/>
          <p:nvPr/>
        </p:nvSpPr>
        <p:spPr>
          <a:xfrm>
            <a:off x="6356350" y="4886214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6</a:t>
            </a:r>
          </a:p>
        </p:txBody>
      </p:sp>
      <p:sp>
        <p:nvSpPr>
          <p:cNvPr id="20" name="หัวข้อ 6"/>
          <p:cNvSpPr txBox="1"/>
          <p:nvPr/>
        </p:nvSpPr>
        <p:spPr>
          <a:xfrm>
            <a:off x="6756400" y="4905264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ผู้เข้าร่วมและที่ว่าง</a:t>
            </a:r>
          </a:p>
        </p:txBody>
      </p:sp>
      <p:cxnSp>
        <p:nvCxnSpPr>
          <p:cNvPr id="21" name="เส้นชี้ 7"/>
          <p:cNvCxnSpPr/>
          <p:nvPr/>
        </p:nvCxnSpPr>
        <p:spPr>
          <a:xfrm flipH="1">
            <a:off x="2404755" y="5830418"/>
            <a:ext cx="3881745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22" name="เลข 7"/>
          <p:cNvSpPr/>
          <p:nvPr/>
        </p:nvSpPr>
        <p:spPr>
          <a:xfrm>
            <a:off x="6356350" y="5671668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7</a:t>
            </a:r>
          </a:p>
        </p:txBody>
      </p:sp>
      <p:sp>
        <p:nvSpPr>
          <p:cNvPr id="23" name="หัวข้อ 7"/>
          <p:cNvSpPr txBox="1"/>
          <p:nvPr/>
        </p:nvSpPr>
        <p:spPr>
          <a:xfrm>
            <a:off x="6756400" y="5690718"/>
            <a:ext cx="49276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ผู้จัดกิจกรรม</a:t>
            </a:r>
          </a:p>
        </p:txBody>
      </p:sp>
      <p:sp>
        <p:nvSpPr>
          <p:cNvPr id="24" name="คำอธิบาย 7"/>
          <p:cNvSpPr txBox="1"/>
          <p:nvPr/>
        </p:nvSpPr>
        <p:spPr>
          <a:xfrm>
            <a:off x="6756400" y="5978373"/>
            <a:ext cx="49276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กดตรงไหนก็ได้บนการ์ดเพื่อเปิดรายละเอียด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2 ดูรายละเอียดและขอเข้าร่วม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เห็นข้อมูลครบก่อนตัดสินใจ แล้วส่งคำขอ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23 / 71</a:t>
            </a:r>
          </a:p>
        </p:txBody>
      </p:sp>
      <p:pic>
        <p:nvPicPr>
          <p:cNvPr id="7" name="ภาพหน้าจอ d-detail" descr="d-detail_96-96-1248x5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15973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detail-pending" descr="d-detail-pending_968-250-360x2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597400"/>
            <a:ext cx="2794000" cy="1629833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3429000" y="45974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หลังกดส่ง</a:t>
            </a:r>
          </a:p>
        </p:txBody>
      </p:sp>
      <p:cxnSp>
        <p:nvCxnSpPr>
          <p:cNvPr id="10" name="เส้นชี้ 1"/>
          <p:cNvCxnSpPr/>
          <p:nvPr/>
        </p:nvCxnSpPr>
        <p:spPr>
          <a:xfrm flipH="1">
            <a:off x="7595994" y="2036528"/>
            <a:ext cx="773306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1" name="เลข 1"/>
          <p:cNvSpPr/>
          <p:nvPr/>
        </p:nvSpPr>
        <p:spPr>
          <a:xfrm>
            <a:off x="8439150" y="1877778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2" name="หัวข้อ 1"/>
          <p:cNvSpPr txBox="1"/>
          <p:nvPr/>
        </p:nvSpPr>
        <p:spPr>
          <a:xfrm>
            <a:off x="8839200" y="1896828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จำนวนที่รับ</a:t>
            </a:r>
          </a:p>
        </p:txBody>
      </p:sp>
      <p:sp>
        <p:nvSpPr>
          <p:cNvPr id="13" name="คำอธิบาย 1"/>
          <p:cNvSpPr txBox="1"/>
          <p:nvPr/>
        </p:nvSpPr>
        <p:spPr>
          <a:xfrm>
            <a:off x="8839200" y="2184483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นับเฉพาะคนที่ได้รับอนุมัติ เทียบกับจำนวนที่ผู้จัดรับ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2 ดูรายละเอียดและขอเข้าร่วม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เห็นข้อมูลครบก่อนตัดสินใจ แล้วส่งคำขอ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24 / 71</a:t>
            </a:r>
          </a:p>
        </p:txBody>
      </p:sp>
      <p:pic>
        <p:nvPicPr>
          <p:cNvPr id="7" name="ภาพหน้าจอ d-detail" descr="d-detail_96-96-1248x5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15973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detail-pending" descr="d-detail-pending_968-250-360x2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597400"/>
            <a:ext cx="2794000" cy="1629833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3429000" y="45974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หลังกดส่ง</a:t>
            </a:r>
          </a:p>
        </p:txBody>
      </p:sp>
      <p:sp>
        <p:nvSpPr>
          <p:cNvPr id="10" name="เลข 1"/>
          <p:cNvSpPr/>
          <p:nvPr/>
        </p:nvSpPr>
        <p:spPr>
          <a:xfrm>
            <a:off x="8439150" y="1877778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1896828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จำนวนที่รับ</a:t>
            </a:r>
          </a:p>
        </p:txBody>
      </p:sp>
      <p:cxnSp>
        <p:nvCxnSpPr>
          <p:cNvPr id="12" name="เส้นชี้ 2"/>
          <p:cNvCxnSpPr/>
          <p:nvPr/>
        </p:nvCxnSpPr>
        <p:spPr>
          <a:xfrm flipH="1">
            <a:off x="7595994" y="3338457"/>
            <a:ext cx="773306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3" name="เลข 2"/>
          <p:cNvSpPr/>
          <p:nvPr/>
        </p:nvSpPr>
        <p:spPr>
          <a:xfrm>
            <a:off x="8439150" y="3179707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4" name="หัวข้อ 2"/>
          <p:cNvSpPr txBox="1"/>
          <p:nvPr/>
        </p:nvSpPr>
        <p:spPr>
          <a:xfrm>
            <a:off x="8839200" y="319875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ข้อความถึงผู้จัด + ส่งคำขอ</a:t>
            </a:r>
          </a:p>
        </p:txBody>
      </p:sp>
      <p:sp>
        <p:nvSpPr>
          <p:cNvPr id="15" name="คำอธิบาย 2"/>
          <p:cNvSpPr txBox="1"/>
          <p:nvPr/>
        </p:nvSpPr>
        <p:spPr>
          <a:xfrm>
            <a:off x="8839200" y="3486412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แนบข้อความได้ไม่เกิน 500 ตัวอักษร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2 ดูรายละเอียดและขอเข้าร่วม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เห็นข้อมูลครบก่อนตัดสินใจ แล้วส่งคำขอ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25 / 71</a:t>
            </a:r>
          </a:p>
        </p:txBody>
      </p:sp>
      <p:pic>
        <p:nvPicPr>
          <p:cNvPr id="7" name="ภาพหน้าจอ d-detail" descr="d-detail_96-96-1248x5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15973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detail-pending" descr="d-detail-pending_968-250-360x2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597400"/>
            <a:ext cx="2794000" cy="1629833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3429000" y="45974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หลังกดส่ง</a:t>
            </a:r>
          </a:p>
        </p:txBody>
      </p:sp>
      <p:sp>
        <p:nvSpPr>
          <p:cNvPr id="10" name="เลข 1"/>
          <p:cNvSpPr/>
          <p:nvPr/>
        </p:nvSpPr>
        <p:spPr>
          <a:xfrm>
            <a:off x="8439150" y="1877778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1896828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จำนวนที่รับ</a:t>
            </a:r>
          </a:p>
        </p:txBody>
      </p:sp>
      <p:sp>
        <p:nvSpPr>
          <p:cNvPr id="12" name="เลข 2"/>
          <p:cNvSpPr/>
          <p:nvPr/>
        </p:nvSpPr>
        <p:spPr>
          <a:xfrm>
            <a:off x="8439150" y="3179707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หัวข้อ 2"/>
          <p:cNvSpPr txBox="1"/>
          <p:nvPr/>
        </p:nvSpPr>
        <p:spPr>
          <a:xfrm>
            <a:off x="8839200" y="319875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ข้อความถึงผู้จัด + ส่งคำขอ</a:t>
            </a:r>
          </a:p>
        </p:txBody>
      </p:sp>
      <p:cxnSp>
        <p:nvCxnSpPr>
          <p:cNvPr id="14" name="เส้นชี้ 3"/>
          <p:cNvCxnSpPr/>
          <p:nvPr/>
        </p:nvCxnSpPr>
        <p:spPr>
          <a:xfrm flipH="1">
            <a:off x="5255449" y="3982093"/>
            <a:ext cx="3113851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5" name="เลข 3"/>
          <p:cNvSpPr/>
          <p:nvPr/>
        </p:nvSpPr>
        <p:spPr>
          <a:xfrm>
            <a:off x="8439150" y="3823343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6" name="หัวข้อ 3"/>
          <p:cNvSpPr txBox="1"/>
          <p:nvPr/>
        </p:nvSpPr>
        <p:spPr>
          <a:xfrm>
            <a:off x="8839200" y="384239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ข้อมูลนัดหมาย</a:t>
            </a:r>
          </a:p>
        </p:txBody>
      </p:sp>
      <p:sp>
        <p:nvSpPr>
          <p:cNvPr id="17" name="คำอธิบาย 3"/>
          <p:cNvSpPr txBox="1"/>
          <p:nvPr/>
        </p:nvSpPr>
        <p:spPr>
          <a:xfrm>
            <a:off x="8839200" y="4130048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วันที่ เวลา จำนวนผู้เข้าร่วม และคะแนนรีวิวของกิจกรรม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2 ดูรายละเอียดและขอเข้าร่วม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เห็นข้อมูลครบก่อนตัดสินใจ แล้วส่งคำขอ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26 / 71</a:t>
            </a:r>
          </a:p>
        </p:txBody>
      </p:sp>
      <p:pic>
        <p:nvPicPr>
          <p:cNvPr id="7" name="ภาพหน้าจอ d-detail" descr="d-detail_96-96-1248x5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15973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detail-pending" descr="d-detail-pending_968-250-360x2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597400"/>
            <a:ext cx="2794000" cy="1629833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3429000" y="45974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หลังกดส่ง</a:t>
            </a:r>
          </a:p>
        </p:txBody>
      </p:sp>
      <p:sp>
        <p:nvSpPr>
          <p:cNvPr id="10" name="เลข 1"/>
          <p:cNvSpPr/>
          <p:nvPr/>
        </p:nvSpPr>
        <p:spPr>
          <a:xfrm>
            <a:off x="8439150" y="1877778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1896828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จำนวนที่รับ</a:t>
            </a:r>
          </a:p>
        </p:txBody>
      </p:sp>
      <p:sp>
        <p:nvSpPr>
          <p:cNvPr id="12" name="เลข 2"/>
          <p:cNvSpPr/>
          <p:nvPr/>
        </p:nvSpPr>
        <p:spPr>
          <a:xfrm>
            <a:off x="8439150" y="3179707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หัวข้อ 2"/>
          <p:cNvSpPr txBox="1"/>
          <p:nvPr/>
        </p:nvSpPr>
        <p:spPr>
          <a:xfrm>
            <a:off x="8839200" y="319875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ข้อความถึงผู้จัด + ส่งคำขอ</a:t>
            </a:r>
          </a:p>
        </p:txBody>
      </p:sp>
      <p:sp>
        <p:nvSpPr>
          <p:cNvPr id="14" name="เลข 3"/>
          <p:cNvSpPr/>
          <p:nvPr/>
        </p:nvSpPr>
        <p:spPr>
          <a:xfrm>
            <a:off x="8439150" y="3823343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5" name="หัวข้อ 3"/>
          <p:cNvSpPr txBox="1"/>
          <p:nvPr/>
        </p:nvSpPr>
        <p:spPr>
          <a:xfrm>
            <a:off x="8839200" y="384239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ข้อมูลนัดหมาย</a:t>
            </a:r>
          </a:p>
        </p:txBody>
      </p:sp>
      <p:cxnSp>
        <p:nvCxnSpPr>
          <p:cNvPr id="16" name="เส้นชี้ 4"/>
          <p:cNvCxnSpPr/>
          <p:nvPr/>
        </p:nvCxnSpPr>
        <p:spPr>
          <a:xfrm flipH="1">
            <a:off x="3182761" y="5270500"/>
            <a:ext cx="5186539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7" name="เลข 4"/>
          <p:cNvSpPr/>
          <p:nvPr/>
        </p:nvSpPr>
        <p:spPr>
          <a:xfrm>
            <a:off x="8439150" y="511175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8" name="หัวข้อ 4"/>
          <p:cNvSpPr txBox="1"/>
          <p:nvPr/>
        </p:nvSpPr>
        <p:spPr>
          <a:xfrm>
            <a:off x="8839200" y="513080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หลังส่งคำขอ</a:t>
            </a:r>
          </a:p>
        </p:txBody>
      </p:sp>
      <p:sp>
        <p:nvSpPr>
          <p:cNvPr id="19" name="คำอธิบาย 4"/>
          <p:cNvSpPr txBox="1"/>
          <p:nvPr/>
        </p:nvSpPr>
        <p:spPr>
          <a:xfrm>
            <a:off x="8839200" y="5418455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สถานะเป็น “รออนุมัติ” และกดถอนคำขอได้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นักศึกษาในฐานะผู้จัด · ขั้น 3 สร้างโพสต์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ฟอร์มสร้างโพสต์ตรวจข้อมูลก่อนบันทึก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28 / 71</a:t>
            </a:r>
          </a:p>
        </p:txBody>
      </p:sp>
      <p:pic>
        <p:nvPicPr>
          <p:cNvPr id="7" name="ภาพหน้าจอ d-create-errors" descr="d-create-errors_176-236-1088x5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6350000" cy="3350092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created-owner" descr="d-created-owner_968-280-360x1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838700"/>
            <a:ext cx="2540000" cy="134055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3175000" y="48387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หลังกรอกครบและบันทึก</a:t>
            </a:r>
          </a:p>
        </p:txBody>
      </p:sp>
      <p:cxnSp>
        <p:nvCxnSpPr>
          <p:cNvPr id="10" name="เส้นชี้ 1"/>
          <p:cNvCxnSpPr/>
          <p:nvPr/>
        </p:nvCxnSpPr>
        <p:spPr>
          <a:xfrm flipH="1">
            <a:off x="6696635" y="2075423"/>
            <a:ext cx="1672665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1" name="เลข 1"/>
          <p:cNvSpPr/>
          <p:nvPr/>
        </p:nvSpPr>
        <p:spPr>
          <a:xfrm>
            <a:off x="8439150" y="1916673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2" name="หัวข้อ 1"/>
          <p:cNvSpPr txBox="1"/>
          <p:nvPr/>
        </p:nvSpPr>
        <p:spPr>
          <a:xfrm>
            <a:off x="8839200" y="193572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สรุปสิ่งที่ต้องแก้</a:t>
            </a:r>
          </a:p>
        </p:txBody>
      </p:sp>
      <p:sp>
        <p:nvSpPr>
          <p:cNvPr id="13" name="คำอธิบาย 1"/>
          <p:cNvSpPr txBox="1"/>
          <p:nvPr/>
        </p:nvSpPr>
        <p:spPr>
          <a:xfrm>
            <a:off x="8839200" y="2223378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ส่งฟอร์มว่าง ระบบรวมทุกช่องที่ผิดไว้ด้านบน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นักศึกษาในฐานะผู้จัด · ขั้น 3 สร้างโพสต์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ฟอร์มสร้างโพสต์ตรวจข้อมูลก่อนบันทึก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29 / 71</a:t>
            </a:r>
          </a:p>
        </p:txBody>
      </p:sp>
      <p:pic>
        <p:nvPicPr>
          <p:cNvPr id="7" name="ภาพหน้าจอ d-create-errors" descr="d-create-errors_176-236-1088x5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6350000" cy="3350092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created-owner" descr="d-created-owner_968-280-360x1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838700"/>
            <a:ext cx="2540000" cy="134055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3175000" y="48387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หลังกรอกครบและบันทึก</a:t>
            </a:r>
          </a:p>
        </p:txBody>
      </p:sp>
      <p:sp>
        <p:nvSpPr>
          <p:cNvPr id="10" name="เลข 1"/>
          <p:cNvSpPr/>
          <p:nvPr/>
        </p:nvSpPr>
        <p:spPr>
          <a:xfrm>
            <a:off x="8439150" y="1916673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193572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สรุปสิ่งที่ต้องแก้</a:t>
            </a:r>
          </a:p>
        </p:txBody>
      </p:sp>
      <p:cxnSp>
        <p:nvCxnSpPr>
          <p:cNvPr id="12" name="เส้นชี้ 2"/>
          <p:cNvCxnSpPr/>
          <p:nvPr/>
        </p:nvCxnSpPr>
        <p:spPr>
          <a:xfrm flipH="1">
            <a:off x="4613042" y="3861360"/>
            <a:ext cx="3756258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3" name="เลข 2"/>
          <p:cNvSpPr/>
          <p:nvPr/>
        </p:nvSpPr>
        <p:spPr>
          <a:xfrm>
            <a:off x="8439150" y="370261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4" name="หัวข้อ 2"/>
          <p:cNvSpPr txBox="1"/>
          <p:nvPr/>
        </p:nvSpPr>
        <p:spPr>
          <a:xfrm>
            <a:off x="8839200" y="372166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แจ้งใต้ช่องที่ผิด</a:t>
            </a:r>
          </a:p>
        </p:txBody>
      </p:sp>
      <p:sp>
        <p:nvSpPr>
          <p:cNvPr id="15" name="คำอธิบาย 2"/>
          <p:cNvSpPr txBox="1"/>
          <p:nvPr/>
        </p:nvSpPr>
        <p:spPr>
          <a:xfrm>
            <a:off x="8839200" y="4009315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กรอบสีแดงและข้อความใต้ช่อง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นักศึกษาในฐานะผู้จัด · ขั้น 3 สร้างโพสต์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ฟอร์มสร้างโพสต์ตรวจข้อมูลก่อนบันทึก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30 / 71</a:t>
            </a:r>
          </a:p>
        </p:txBody>
      </p:sp>
      <p:pic>
        <p:nvPicPr>
          <p:cNvPr id="7" name="ภาพหน้าจอ d-create-errors" descr="d-create-errors_176-236-1088x5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6350000" cy="3350092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created-owner" descr="d-created-owner_968-280-360x1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838700"/>
            <a:ext cx="2540000" cy="134055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3175000" y="48387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หลังกรอกครบและบันทึก</a:t>
            </a:r>
          </a:p>
        </p:txBody>
      </p:sp>
      <p:sp>
        <p:nvSpPr>
          <p:cNvPr id="10" name="เลข 1"/>
          <p:cNvSpPr/>
          <p:nvPr/>
        </p:nvSpPr>
        <p:spPr>
          <a:xfrm>
            <a:off x="8439150" y="1916673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193572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สรุปสิ่งที่ต้องแก้</a:t>
            </a:r>
          </a:p>
        </p:txBody>
      </p:sp>
      <p:sp>
        <p:nvSpPr>
          <p:cNvPr id="12" name="เลข 2"/>
          <p:cNvSpPr/>
          <p:nvPr/>
        </p:nvSpPr>
        <p:spPr>
          <a:xfrm>
            <a:off x="8439150" y="370261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หัวข้อ 2"/>
          <p:cNvSpPr txBox="1"/>
          <p:nvPr/>
        </p:nvSpPr>
        <p:spPr>
          <a:xfrm>
            <a:off x="8839200" y="372166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แจ้งใต้ช่องที่ผิด</a:t>
            </a:r>
          </a:p>
        </p:txBody>
      </p:sp>
      <p:cxnSp>
        <p:nvCxnSpPr>
          <p:cNvPr id="14" name="เส้นชี้ 3"/>
          <p:cNvCxnSpPr/>
          <p:nvPr/>
        </p:nvCxnSpPr>
        <p:spPr>
          <a:xfrm flipH="1">
            <a:off x="4613042" y="4504996"/>
            <a:ext cx="3756258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5" name="เลข 3"/>
          <p:cNvSpPr/>
          <p:nvPr/>
        </p:nvSpPr>
        <p:spPr>
          <a:xfrm>
            <a:off x="8439150" y="4346246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6" name="หัวข้อ 3"/>
          <p:cNvSpPr txBox="1"/>
          <p:nvPr/>
        </p:nvSpPr>
        <p:spPr>
          <a:xfrm>
            <a:off x="8839200" y="4365296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ตรวจซ้ำที่เซิร์ฟเวอร์</a:t>
            </a:r>
          </a:p>
        </p:txBody>
      </p:sp>
      <p:sp>
        <p:nvSpPr>
          <p:cNvPr id="17" name="คำอธิบาย 3"/>
          <p:cNvSpPr txBox="1"/>
          <p:nvPr/>
        </p:nvSpPr>
        <p:spPr>
          <a:xfrm>
            <a:off x="8839200" y="4652951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หมวดต้องมีอยู่จริง เวลาเริ่มต้องเป็นอนาคต เวลาจบหลังเวลาเริ่ม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นักศึกษาในฐานะผู้จัด · ขั้น 3 สร้างโพสต์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ฟอร์มสร้างโพสต์ตรวจข้อมูลก่อนบันทึก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31 / 71</a:t>
            </a:r>
          </a:p>
        </p:txBody>
      </p:sp>
      <p:pic>
        <p:nvPicPr>
          <p:cNvPr id="7" name="ภาพหน้าจอ d-create-errors" descr="d-create-errors_176-236-1088x5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6350000" cy="3350092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created-owner" descr="d-created-owner_968-280-360x1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838700"/>
            <a:ext cx="2540000" cy="134055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3175000" y="48387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หลังกรอกครบและบันทึก</a:t>
            </a:r>
          </a:p>
        </p:txBody>
      </p:sp>
      <p:sp>
        <p:nvSpPr>
          <p:cNvPr id="10" name="เลข 1"/>
          <p:cNvSpPr/>
          <p:nvPr/>
        </p:nvSpPr>
        <p:spPr>
          <a:xfrm>
            <a:off x="8439150" y="1916673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193572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สรุปสิ่งที่ต้องแก้</a:t>
            </a:r>
          </a:p>
        </p:txBody>
      </p:sp>
      <p:sp>
        <p:nvSpPr>
          <p:cNvPr id="12" name="เลข 2"/>
          <p:cNvSpPr/>
          <p:nvPr/>
        </p:nvSpPr>
        <p:spPr>
          <a:xfrm>
            <a:off x="8439150" y="370261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หัวข้อ 2"/>
          <p:cNvSpPr txBox="1"/>
          <p:nvPr/>
        </p:nvSpPr>
        <p:spPr>
          <a:xfrm>
            <a:off x="8839200" y="372166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แจ้งใต้ช่องที่ผิด</a:t>
            </a:r>
          </a:p>
        </p:txBody>
      </p:sp>
      <p:sp>
        <p:nvSpPr>
          <p:cNvPr id="14" name="เลข 3"/>
          <p:cNvSpPr/>
          <p:nvPr/>
        </p:nvSpPr>
        <p:spPr>
          <a:xfrm>
            <a:off x="8439150" y="4346246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5" name="หัวข้อ 3"/>
          <p:cNvSpPr txBox="1"/>
          <p:nvPr/>
        </p:nvSpPr>
        <p:spPr>
          <a:xfrm>
            <a:off x="8839200" y="4365296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ตรวจซ้ำที่เซิร์ฟเวอร์</a:t>
            </a:r>
          </a:p>
        </p:txBody>
      </p:sp>
      <p:cxnSp>
        <p:nvCxnSpPr>
          <p:cNvPr id="16" name="เส้นชี้ 4"/>
          <p:cNvCxnSpPr/>
          <p:nvPr/>
        </p:nvCxnSpPr>
        <p:spPr>
          <a:xfrm flipH="1">
            <a:off x="2940756" y="5461000"/>
            <a:ext cx="5428544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7" name="เลข 4"/>
          <p:cNvSpPr/>
          <p:nvPr/>
        </p:nvSpPr>
        <p:spPr>
          <a:xfrm>
            <a:off x="8439150" y="530225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8" name="หัวข้อ 4"/>
          <p:cNvSpPr txBox="1"/>
          <p:nvPr/>
        </p:nvSpPr>
        <p:spPr>
          <a:xfrm>
            <a:off x="8839200" y="532130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บันทึกสำเร็จ</a:t>
            </a:r>
          </a:p>
        </p:txBody>
      </p:sp>
      <p:sp>
        <p:nvSpPr>
          <p:cNvPr id="19" name="คำอธิบาย 4"/>
          <p:cNvSpPr txBox="1"/>
          <p:nvPr/>
        </p:nvSpPr>
        <p:spPr>
          <a:xfrm>
            <a:off x="8839200" y="5608955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เจ้าของเห็นปุ่มจัดการคำขอ แก้ไข และยกเลิก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นักศึกษาในฐานะผู้จัด · ขั้น 4 อนุมัติและเช็กชื่อ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จัดการคำขอ: อนุมัติไม่เกินจำนวนที่รับ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33 / 71</a:t>
            </a:r>
          </a:p>
        </p:txBody>
      </p:sp>
      <p:pic>
        <p:nvPicPr>
          <p:cNvPr id="7" name="ภาพหน้าจอ d-requests" descr="d-requests_240-140-960x4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6667500" cy="30559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ttendance" descr="d-attendance_272-420-880x1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826000"/>
            <a:ext cx="6667500" cy="113650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508000" y="45212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แท็บ “อนุมัติแล้ว”</a:t>
            </a:r>
          </a:p>
        </p:txBody>
      </p:sp>
      <p:cxnSp>
        <p:nvCxnSpPr>
          <p:cNvPr id="10" name="เส้นชี้ 1"/>
          <p:cNvCxnSpPr/>
          <p:nvPr/>
        </p:nvCxnSpPr>
        <p:spPr>
          <a:xfrm flipH="1">
            <a:off x="6978650" y="2415977"/>
            <a:ext cx="1390650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1" name="เลข 1"/>
          <p:cNvSpPr/>
          <p:nvPr/>
        </p:nvSpPr>
        <p:spPr>
          <a:xfrm>
            <a:off x="8439150" y="2257227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2" name="หัวข้อ 1"/>
          <p:cNvSpPr txBox="1"/>
          <p:nvPr/>
        </p:nvSpPr>
        <p:spPr>
          <a:xfrm>
            <a:off x="8839200" y="227627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สรุปตัวเลข</a:t>
            </a:r>
          </a:p>
        </p:txBody>
      </p:sp>
      <p:sp>
        <p:nvSpPr>
          <p:cNvPr id="13" name="คำอธิบาย 1"/>
          <p:cNvSpPr txBox="1"/>
          <p:nvPr/>
        </p:nvSpPr>
        <p:spPr>
          <a:xfrm>
            <a:off x="8839200" y="2563932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รออนุมัติ ผู้เข้าร่วมแล้ว และที่ว่างคงเหลือ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นักศึกษาในฐานะผู้จัด · ขั้น 4 อนุมัติและเช็กชื่อ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จัดการคำขอ: อนุมัติไม่เกินจำนวนที่รับ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34 / 71</a:t>
            </a:r>
          </a:p>
        </p:txBody>
      </p:sp>
      <p:pic>
        <p:nvPicPr>
          <p:cNvPr id="7" name="ภาพหน้าจอ d-requests" descr="d-requests_240-140-960x4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6667500" cy="30559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ttendance" descr="d-attendance_272-420-880x1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826000"/>
            <a:ext cx="6667500" cy="113650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508000" y="45212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แท็บ “อนุมัติแล้ว”</a:t>
            </a:r>
          </a:p>
        </p:txBody>
      </p:sp>
      <p:sp>
        <p:nvSpPr>
          <p:cNvPr id="10" name="เลข 1"/>
          <p:cNvSpPr/>
          <p:nvPr/>
        </p:nvSpPr>
        <p:spPr>
          <a:xfrm>
            <a:off x="8439150" y="2257227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227627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สรุปตัวเลข</a:t>
            </a:r>
          </a:p>
        </p:txBody>
      </p:sp>
      <p:cxnSp>
        <p:nvCxnSpPr>
          <p:cNvPr id="12" name="เส้นชี้ 2"/>
          <p:cNvCxnSpPr/>
          <p:nvPr/>
        </p:nvCxnSpPr>
        <p:spPr>
          <a:xfrm flipH="1" flipV="1">
            <a:off x="6792317" y="3192205"/>
            <a:ext cx="1576983" cy="83689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3" name="เลข 2"/>
          <p:cNvSpPr/>
          <p:nvPr/>
        </p:nvSpPr>
        <p:spPr>
          <a:xfrm>
            <a:off x="8439150" y="3117144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4" name="หัวข้อ 2"/>
          <p:cNvSpPr txBox="1"/>
          <p:nvPr/>
        </p:nvSpPr>
        <p:spPr>
          <a:xfrm>
            <a:off x="8839200" y="3136194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แท็บตามสถานะ</a:t>
            </a:r>
          </a:p>
        </p:txBody>
      </p:sp>
      <p:sp>
        <p:nvSpPr>
          <p:cNvPr id="15" name="คำอธิบาย 2"/>
          <p:cNvSpPr txBox="1"/>
          <p:nvPr/>
        </p:nvSpPr>
        <p:spPr>
          <a:xfrm>
            <a:off x="8839200" y="3423849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รออนุมัติ อนุมัติแล้ว ปฏิเสธแล้ว ทั้งหมด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นักศึกษาในฐานะผู้จัด · ขั้น 4 อนุมัติและเช็กชื่อ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จัดการคำขอ: อนุมัติไม่เกินจำนวนที่รับ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35 / 71</a:t>
            </a:r>
          </a:p>
        </p:txBody>
      </p:sp>
      <p:pic>
        <p:nvPicPr>
          <p:cNvPr id="7" name="ภาพหน้าจอ d-requests" descr="d-requests_240-140-960x4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6667500" cy="30559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ttendance" descr="d-attendance_272-420-880x1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826000"/>
            <a:ext cx="6667500" cy="113650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508000" y="45212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แท็บ “อนุมัติแล้ว”</a:t>
            </a:r>
          </a:p>
        </p:txBody>
      </p:sp>
      <p:sp>
        <p:nvSpPr>
          <p:cNvPr id="10" name="เลข 1"/>
          <p:cNvSpPr/>
          <p:nvPr/>
        </p:nvSpPr>
        <p:spPr>
          <a:xfrm>
            <a:off x="8439150" y="2257227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227627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สรุปตัวเลข</a:t>
            </a:r>
          </a:p>
        </p:txBody>
      </p:sp>
      <p:sp>
        <p:nvSpPr>
          <p:cNvPr id="12" name="เลข 2"/>
          <p:cNvSpPr/>
          <p:nvPr/>
        </p:nvSpPr>
        <p:spPr>
          <a:xfrm>
            <a:off x="8439150" y="3117144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หัวข้อ 2"/>
          <p:cNvSpPr txBox="1"/>
          <p:nvPr/>
        </p:nvSpPr>
        <p:spPr>
          <a:xfrm>
            <a:off x="8839200" y="3136194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แท็บตามสถานะ</a:t>
            </a:r>
          </a:p>
        </p:txBody>
      </p:sp>
      <p:cxnSp>
        <p:nvCxnSpPr>
          <p:cNvPr id="14" name="เส้นชี้ 3"/>
          <p:cNvCxnSpPr/>
          <p:nvPr/>
        </p:nvCxnSpPr>
        <p:spPr>
          <a:xfrm flipH="1" flipV="1">
            <a:off x="6805017" y="3641090"/>
            <a:ext cx="1564283" cy="27844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5" name="เลข 3"/>
          <p:cNvSpPr/>
          <p:nvPr/>
        </p:nvSpPr>
        <p:spPr>
          <a:xfrm>
            <a:off x="8439150" y="376078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6" name="หัวข้อ 3"/>
          <p:cNvSpPr txBox="1"/>
          <p:nvPr/>
        </p:nvSpPr>
        <p:spPr>
          <a:xfrm>
            <a:off x="8839200" y="377983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อนุมัติ / ปฏิเสธ</a:t>
            </a:r>
          </a:p>
        </p:txBody>
      </p:sp>
      <p:sp>
        <p:nvSpPr>
          <p:cNvPr id="17" name="คำอธิบาย 3"/>
          <p:cNvSpPr txBox="1"/>
          <p:nvPr/>
        </p:nvSpPr>
        <p:spPr>
          <a:xfrm>
            <a:off x="8839200" y="4067485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ผู้ขอได้รับแจ้งเตือนทันที ถ้าเต็มแล้วระบบไม่ให้อนุมัติเพิ่ม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นักศึกษาในฐานะผู้จัด · ขั้น 4 อนุมัติและเช็กชื่อ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จัดการคำขอ: อนุมัติไม่เกินจำนวนที่รับ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36 / 71</a:t>
            </a:r>
          </a:p>
        </p:txBody>
      </p:sp>
      <p:pic>
        <p:nvPicPr>
          <p:cNvPr id="7" name="ภาพหน้าจอ d-requests" descr="d-requests_240-140-960x4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6667500" cy="30559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ttendance" descr="d-attendance_272-420-880x1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826000"/>
            <a:ext cx="6667500" cy="1136506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Text 8"/>
          <p:cNvSpPr txBox="1"/>
          <p:nvPr/>
        </p:nvSpPr>
        <p:spPr>
          <a:xfrm>
            <a:off x="508000" y="45212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แท็บ “อนุมัติแล้ว”</a:t>
            </a:r>
          </a:p>
        </p:txBody>
      </p:sp>
      <p:sp>
        <p:nvSpPr>
          <p:cNvPr id="10" name="เลข 1"/>
          <p:cNvSpPr/>
          <p:nvPr/>
        </p:nvSpPr>
        <p:spPr>
          <a:xfrm>
            <a:off x="8439150" y="2257227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227627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สรุปตัวเลข</a:t>
            </a:r>
          </a:p>
        </p:txBody>
      </p:sp>
      <p:sp>
        <p:nvSpPr>
          <p:cNvPr id="12" name="เลข 2"/>
          <p:cNvSpPr/>
          <p:nvPr/>
        </p:nvSpPr>
        <p:spPr>
          <a:xfrm>
            <a:off x="8439150" y="3117144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หัวข้อ 2"/>
          <p:cNvSpPr txBox="1"/>
          <p:nvPr/>
        </p:nvSpPr>
        <p:spPr>
          <a:xfrm>
            <a:off x="8839200" y="3136194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แท็บตามสถานะ</a:t>
            </a:r>
          </a:p>
        </p:txBody>
      </p:sp>
      <p:sp>
        <p:nvSpPr>
          <p:cNvPr id="14" name="เลข 3"/>
          <p:cNvSpPr/>
          <p:nvPr/>
        </p:nvSpPr>
        <p:spPr>
          <a:xfrm>
            <a:off x="8439150" y="376078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5" name="หัวข้อ 3"/>
          <p:cNvSpPr txBox="1"/>
          <p:nvPr/>
        </p:nvSpPr>
        <p:spPr>
          <a:xfrm>
            <a:off x="8839200" y="377983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อนุมัติ / ปฏิเสธ</a:t>
            </a:r>
          </a:p>
        </p:txBody>
      </p:sp>
      <p:cxnSp>
        <p:nvCxnSpPr>
          <p:cNvPr id="16" name="เส้นชี้ 4"/>
          <p:cNvCxnSpPr/>
          <p:nvPr/>
        </p:nvCxnSpPr>
        <p:spPr>
          <a:xfrm flipH="1">
            <a:off x="7132710" y="5235142"/>
            <a:ext cx="1236590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7" name="เลข 4"/>
          <p:cNvSpPr/>
          <p:nvPr/>
        </p:nvSpPr>
        <p:spPr>
          <a:xfrm>
            <a:off x="8439150" y="5076392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8" name="หัวข้อ 4"/>
          <p:cNvSpPr txBox="1"/>
          <p:nvPr/>
        </p:nvSpPr>
        <p:spPr>
          <a:xfrm>
            <a:off x="8839200" y="5095442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เช็กชื่อ มา / ขาด</a:t>
            </a:r>
          </a:p>
        </p:txBody>
      </p:sp>
      <p:sp>
        <p:nvSpPr>
          <p:cNvPr id="19" name="คำอธิบาย 4"/>
          <p:cNvSpPr txBox="1"/>
          <p:nvPr/>
        </p:nvSpPr>
        <p:spPr>
          <a:xfrm>
            <a:off x="8839200" y="5383097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แท็บอนุมัติแล้ว เช็กได้เฉพาะคนที่อนุมัติแล้ว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5 ติดตามนัด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นัดของฉัน และการแจ้งเตือน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38 / 71</a:t>
            </a:r>
          </a:p>
        </p:txBody>
      </p:sp>
      <p:pic>
        <p:nvPicPr>
          <p:cNvPr id="7" name="ภาพหน้าจอ d-my" descr="d-my_128-196-1184x5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5772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notifications" descr="d-notifications_320-96-800x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991100"/>
            <a:ext cx="3683000" cy="13811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cxnSp>
        <p:nvCxnSpPr>
          <p:cNvPr id="9" name="เส้นชี้ 1"/>
          <p:cNvCxnSpPr/>
          <p:nvPr/>
        </p:nvCxnSpPr>
        <p:spPr>
          <a:xfrm flipH="1">
            <a:off x="7737218" y="1450233"/>
            <a:ext cx="632082" cy="59868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0" name="เลข 1"/>
          <p:cNvSpPr/>
          <p:nvPr/>
        </p:nvSpPr>
        <p:spPr>
          <a:xfrm>
            <a:off x="8439150" y="1291483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131053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สรุปสิ่งที่ต้องทำ</a:t>
            </a:r>
          </a:p>
        </p:txBody>
      </p:sp>
      <p:sp>
        <p:nvSpPr>
          <p:cNvPr id="12" name="คำอธิบาย 1"/>
          <p:cNvSpPr txBox="1"/>
          <p:nvPr/>
        </p:nvSpPr>
        <p:spPr>
          <a:xfrm>
            <a:off x="8839200" y="1598188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กิจกรรมที่สร้าง คำขอใหม่ คำขอที่รอ และกิจกรรมที่ได้เข้าร่วม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5 ติดตามนัด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นัดของฉัน และการแจ้งเตือน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39 / 71</a:t>
            </a:r>
          </a:p>
        </p:txBody>
      </p:sp>
      <p:pic>
        <p:nvPicPr>
          <p:cNvPr id="7" name="ภาพหน้าจอ d-my" descr="d-my_128-196-1184x5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5772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notifications" descr="d-notifications_320-96-800x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991100"/>
            <a:ext cx="3683000" cy="13811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1291483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31053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สรุปสิ่งที่ต้องทำ</a:t>
            </a:r>
          </a:p>
        </p:txBody>
      </p:sp>
      <p:cxnSp>
        <p:nvCxnSpPr>
          <p:cNvPr id="11" name="เส้นชี้ 2"/>
          <p:cNvCxnSpPr/>
          <p:nvPr/>
        </p:nvCxnSpPr>
        <p:spPr>
          <a:xfrm flipH="1">
            <a:off x="7594997" y="4392203"/>
            <a:ext cx="774303" cy="126624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2" name="เลข 2"/>
          <p:cNvSpPr/>
          <p:nvPr/>
        </p:nvSpPr>
        <p:spPr>
          <a:xfrm>
            <a:off x="8439150" y="4233453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หัวข้อ 2"/>
          <p:cNvSpPr txBox="1"/>
          <p:nvPr/>
        </p:nvSpPr>
        <p:spPr>
          <a:xfrm>
            <a:off x="8839200" y="425250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ลิงก์ไปจัดการคำขอ</a:t>
            </a:r>
          </a:p>
        </p:txBody>
      </p:sp>
      <p:sp>
        <p:nvSpPr>
          <p:cNvPr id="14" name="คำอธิบาย 2"/>
          <p:cNvSpPr txBox="1"/>
          <p:nvPr/>
        </p:nvSpPr>
        <p:spPr>
          <a:xfrm>
            <a:off x="8839200" y="4540158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การ์ดของผู้จัดบอกจำนวนคำขอที่รอ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5 ติดตามนัด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นัดของฉัน และการแจ้งเตือน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40 / 71</a:t>
            </a:r>
          </a:p>
        </p:txBody>
      </p:sp>
      <p:pic>
        <p:nvPicPr>
          <p:cNvPr id="7" name="ภาพหน้าจอ d-my" descr="d-my_128-196-1184x5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5772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notifications" descr="d-notifications_320-96-800x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991100"/>
            <a:ext cx="3683000" cy="13811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1291483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31053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สรุปสิ่งที่ต้องทำ</a:t>
            </a:r>
          </a:p>
        </p:txBody>
      </p:sp>
      <p:sp>
        <p:nvSpPr>
          <p:cNvPr id="11" name="เลข 2"/>
          <p:cNvSpPr/>
          <p:nvPr/>
        </p:nvSpPr>
        <p:spPr>
          <a:xfrm>
            <a:off x="8439150" y="4233453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425250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ลิงก์ไปจัดการคำขอ</a:t>
            </a:r>
          </a:p>
        </p:txBody>
      </p:sp>
      <p:cxnSp>
        <p:nvCxnSpPr>
          <p:cNvPr id="13" name="เส้นชี้ 3"/>
          <p:cNvCxnSpPr/>
          <p:nvPr/>
        </p:nvCxnSpPr>
        <p:spPr>
          <a:xfrm flipH="1">
            <a:off x="4130040" y="5151247"/>
            <a:ext cx="4239260" cy="128016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4" name="เลข 3"/>
          <p:cNvSpPr/>
          <p:nvPr/>
        </p:nvSpPr>
        <p:spPr>
          <a:xfrm>
            <a:off x="8439150" y="4992497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5" name="หัวข้อ 3"/>
          <p:cNvSpPr txBox="1"/>
          <p:nvPr/>
        </p:nvSpPr>
        <p:spPr>
          <a:xfrm>
            <a:off x="8839200" y="501154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อ่านทั้งหมดแล้ว</a:t>
            </a:r>
          </a:p>
        </p:txBody>
      </p:sp>
      <p:sp>
        <p:nvSpPr>
          <p:cNvPr id="16" name="คำอธิบาย 3"/>
          <p:cNvSpPr txBox="1"/>
          <p:nvPr/>
        </p:nvSpPr>
        <p:spPr>
          <a:xfrm>
            <a:off x="8839200" y="5299202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เคลียร์ตัวเลขบนกระดิ่งในแถบเมนู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นักศึกษา · ขั้น 5 ติดตามนัด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นัดของฉัน และการแจ้งเตือน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41 / 71</a:t>
            </a:r>
          </a:p>
        </p:txBody>
      </p:sp>
      <p:pic>
        <p:nvPicPr>
          <p:cNvPr id="7" name="ภาพหน้าจอ d-my" descr="d-my_128-196-1184x5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5772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notifications" descr="d-notifications_320-96-800x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991100"/>
            <a:ext cx="3683000" cy="13811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1291483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31053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สรุปสิ่งที่ต้องทำ</a:t>
            </a:r>
          </a:p>
        </p:txBody>
      </p:sp>
      <p:sp>
        <p:nvSpPr>
          <p:cNvPr id="11" name="เลข 2"/>
          <p:cNvSpPr/>
          <p:nvPr/>
        </p:nvSpPr>
        <p:spPr>
          <a:xfrm>
            <a:off x="8439150" y="4233453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425250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ลิงก์ไปจัดการคำขอ</a:t>
            </a:r>
          </a:p>
        </p:txBody>
      </p:sp>
      <p:sp>
        <p:nvSpPr>
          <p:cNvPr id="13" name="เลข 3"/>
          <p:cNvSpPr/>
          <p:nvPr/>
        </p:nvSpPr>
        <p:spPr>
          <a:xfrm>
            <a:off x="8439150" y="4992497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หัวข้อ 3"/>
          <p:cNvSpPr txBox="1"/>
          <p:nvPr/>
        </p:nvSpPr>
        <p:spPr>
          <a:xfrm>
            <a:off x="8839200" y="501154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อ่านทั้งหมดแล้ว</a:t>
            </a:r>
          </a:p>
        </p:txBody>
      </p:sp>
      <p:cxnSp>
        <p:nvCxnSpPr>
          <p:cNvPr id="15" name="เส้นชี้ 4"/>
          <p:cNvCxnSpPr/>
          <p:nvPr/>
        </p:nvCxnSpPr>
        <p:spPr>
          <a:xfrm flipH="1">
            <a:off x="4125436" y="5794883"/>
            <a:ext cx="4243864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6" name="เลข 4"/>
          <p:cNvSpPr/>
          <p:nvPr/>
        </p:nvSpPr>
        <p:spPr>
          <a:xfrm>
            <a:off x="8439150" y="5636133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7" name="หัวข้อ 4"/>
          <p:cNvSpPr txBox="1"/>
          <p:nvPr/>
        </p:nvSpPr>
        <p:spPr>
          <a:xfrm>
            <a:off x="8839200" y="565518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แจ้งเตือนในเว็บ</a:t>
            </a:r>
          </a:p>
        </p:txBody>
      </p:sp>
      <p:sp>
        <p:nvSpPr>
          <p:cNvPr id="18" name="คำอธิบาย 4"/>
          <p:cNvSpPr txBox="1"/>
          <p:nvPr/>
        </p:nvSpPr>
        <p:spPr>
          <a:xfrm>
            <a:off x="8839200" y="5942838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เมื่อคำขอได้รับอนุมัติ/ปฏิเสธ และผลการตรวจรายงาน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ผู้เข้าร่วม · ขั้น 6 รีวิวหลังจบกิจกรรม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รีวิวได้เฉพาะคนที่มาจริง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43 / 71</a:t>
            </a:r>
          </a:p>
        </p:txBody>
      </p:sp>
      <p:pic>
        <p:nvPicPr>
          <p:cNvPr id="7" name="ภาพหน้าจอ d-ended" descr="d-ended_96-150-1248x4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75014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review" descr="d-review_140-136-780x3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191000"/>
            <a:ext cx="4572000" cy="20515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cxnSp>
        <p:nvCxnSpPr>
          <p:cNvPr id="9" name="เส้นชี้ 1"/>
          <p:cNvCxnSpPr/>
          <p:nvPr/>
        </p:nvCxnSpPr>
        <p:spPr>
          <a:xfrm flipH="1">
            <a:off x="2205892" y="2539746"/>
            <a:ext cx="6163408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0" name="เลข 1"/>
          <p:cNvSpPr/>
          <p:nvPr/>
        </p:nvSpPr>
        <p:spPr>
          <a:xfrm>
            <a:off x="8439150" y="2380996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2400046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กิจกรรมจบแล้ว</a:t>
            </a:r>
          </a:p>
        </p:txBody>
      </p:sp>
      <p:sp>
        <p:nvSpPr>
          <p:cNvPr id="12" name="คำอธิบาย 1"/>
          <p:cNvSpPr txBox="1"/>
          <p:nvPr/>
        </p:nvSpPr>
        <p:spPr>
          <a:xfrm>
            <a:off x="8839200" y="2687701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รีวิวเปิดหลังเวลาสิ้นสุดเท่านั้น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ผู้เข้าร่วม · ขั้น 6 รีวิวหลังจบกิจกรรม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รีวิวได้เฉพาะคนที่มาจริง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44 / 71</a:t>
            </a:r>
          </a:p>
        </p:txBody>
      </p:sp>
      <p:pic>
        <p:nvPicPr>
          <p:cNvPr id="7" name="ภาพหน้าจอ d-ended" descr="d-ended_96-150-1248x4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75014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review" descr="d-review_140-136-780x3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191000"/>
            <a:ext cx="4572000" cy="20515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2380996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2400046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กิจกรรมจบแล้ว</a:t>
            </a:r>
          </a:p>
        </p:txBody>
      </p:sp>
      <p:cxnSp>
        <p:nvCxnSpPr>
          <p:cNvPr id="11" name="เส้นชี้ 2"/>
          <p:cNvCxnSpPr/>
          <p:nvPr/>
        </p:nvCxnSpPr>
        <p:spPr>
          <a:xfrm flipH="1" flipV="1">
            <a:off x="7595994" y="2806594"/>
            <a:ext cx="773306" cy="376788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2" name="เลข 2"/>
          <p:cNvSpPr/>
          <p:nvPr/>
        </p:nvSpPr>
        <p:spPr>
          <a:xfrm>
            <a:off x="8439150" y="3024632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หัวข้อ 2"/>
          <p:cNvSpPr txBox="1"/>
          <p:nvPr/>
        </p:nvSpPr>
        <p:spPr>
          <a:xfrm>
            <a:off x="8839200" y="3043682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อยู่ในรายชื่อ → ให้คะแนน</a:t>
            </a:r>
          </a:p>
        </p:txBody>
      </p:sp>
      <p:sp>
        <p:nvSpPr>
          <p:cNvPr id="14" name="คำอธิบาย 2"/>
          <p:cNvSpPr txBox="1"/>
          <p:nvPr/>
        </p:nvSpPr>
        <p:spPr>
          <a:xfrm>
            <a:off x="8839200" y="3331337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ต้องได้รับอนุมัติและถูกเช็กชื่อว่า “มา”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ผู้เข้าร่วม · ขั้น 6 รีวิวหลังจบกิจกรรม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รีวิวได้เฉพาะคนที่มาจริง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45 / 71</a:t>
            </a:r>
          </a:p>
        </p:txBody>
      </p:sp>
      <p:pic>
        <p:nvPicPr>
          <p:cNvPr id="7" name="ภาพหน้าจอ d-ended" descr="d-ended_96-150-1248x4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75014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review" descr="d-review_140-136-780x3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191000"/>
            <a:ext cx="4572000" cy="20515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2380996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2400046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กิจกรรมจบแล้ว</a:t>
            </a:r>
          </a:p>
        </p:txBody>
      </p:sp>
      <p:sp>
        <p:nvSpPr>
          <p:cNvPr id="11" name="เลข 2"/>
          <p:cNvSpPr/>
          <p:nvPr/>
        </p:nvSpPr>
        <p:spPr>
          <a:xfrm>
            <a:off x="8439150" y="3024632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3043682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อยู่ในรายชื่อ → ให้คะแนน</a:t>
            </a:r>
          </a:p>
        </p:txBody>
      </p:sp>
      <p:cxnSp>
        <p:nvCxnSpPr>
          <p:cNvPr id="13" name="เส้นชี้ 3"/>
          <p:cNvCxnSpPr/>
          <p:nvPr/>
        </p:nvCxnSpPr>
        <p:spPr>
          <a:xfrm flipH="1" flipV="1">
            <a:off x="5248601" y="3730125"/>
            <a:ext cx="3120699" cy="96893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4" name="เลข 3"/>
          <p:cNvSpPr/>
          <p:nvPr/>
        </p:nvSpPr>
        <p:spPr>
          <a:xfrm>
            <a:off x="8439150" y="3668268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5" name="หัวข้อ 3"/>
          <p:cNvSpPr txBox="1"/>
          <p:nvPr/>
        </p:nvSpPr>
        <p:spPr>
          <a:xfrm>
            <a:off x="8839200" y="3687318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คะแนนเฉลี่ย</a:t>
            </a:r>
          </a:p>
        </p:txBody>
      </p:sp>
      <p:sp>
        <p:nvSpPr>
          <p:cNvPr id="16" name="คำอธิบาย 3"/>
          <p:cNvSpPr txBox="1"/>
          <p:nvPr/>
        </p:nvSpPr>
        <p:spPr>
          <a:xfrm>
            <a:off x="8839200" y="3974973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คำนวณจากรีวิวทั้งหมดของกิจกรรม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ผู้เข้าร่วม · ขั้น 6 รีวิวหลังจบกิจกรรม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รีวิวได้เฉพาะคนที่มาจริง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46 / 71</a:t>
            </a:r>
          </a:p>
        </p:txBody>
      </p:sp>
      <p:pic>
        <p:nvPicPr>
          <p:cNvPr id="7" name="ภาพหน้าจอ d-ended" descr="d-ended_96-150-1248x4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75014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review" descr="d-review_140-136-780x3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191000"/>
            <a:ext cx="4572000" cy="2051538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2380996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2400046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กิจกรรมจบแล้ว</a:t>
            </a:r>
          </a:p>
        </p:txBody>
      </p:sp>
      <p:sp>
        <p:nvSpPr>
          <p:cNvPr id="11" name="เลข 2"/>
          <p:cNvSpPr/>
          <p:nvPr/>
        </p:nvSpPr>
        <p:spPr>
          <a:xfrm>
            <a:off x="8439150" y="3024632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3043682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อยู่ในรายชื่อ → ให้คะแนน</a:t>
            </a:r>
          </a:p>
        </p:txBody>
      </p:sp>
      <p:sp>
        <p:nvSpPr>
          <p:cNvPr id="13" name="เลข 3"/>
          <p:cNvSpPr/>
          <p:nvPr/>
        </p:nvSpPr>
        <p:spPr>
          <a:xfrm>
            <a:off x="8439150" y="3668268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หัวข้อ 3"/>
          <p:cNvSpPr txBox="1"/>
          <p:nvPr/>
        </p:nvSpPr>
        <p:spPr>
          <a:xfrm>
            <a:off x="8839200" y="3687318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คะแนนเฉลี่ย</a:t>
            </a:r>
          </a:p>
        </p:txBody>
      </p:sp>
      <p:cxnSp>
        <p:nvCxnSpPr>
          <p:cNvPr id="15" name="เส้นชี้ 4"/>
          <p:cNvCxnSpPr/>
          <p:nvPr/>
        </p:nvCxnSpPr>
        <p:spPr>
          <a:xfrm flipH="1">
            <a:off x="4875823" y="5281246"/>
            <a:ext cx="3493477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6" name="เลข 4"/>
          <p:cNvSpPr/>
          <p:nvPr/>
        </p:nvSpPr>
        <p:spPr>
          <a:xfrm>
            <a:off x="8439150" y="5122496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7" name="หัวข้อ 4"/>
          <p:cNvSpPr txBox="1"/>
          <p:nvPr/>
        </p:nvSpPr>
        <p:spPr>
          <a:xfrm>
            <a:off x="8839200" y="5141546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ดาว 1–5 + ความคิดเห็น</a:t>
            </a:r>
          </a:p>
        </p:txBody>
      </p:sp>
      <p:sp>
        <p:nvSpPr>
          <p:cNvPr id="18" name="คำอธิบาย 4"/>
          <p:cNvSpPr txBox="1"/>
          <p:nvPr/>
        </p:nvSpPr>
        <p:spPr>
          <a:xfrm>
            <a:off x="8839200" y="5429201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รีวิวได้ครั้งเดียวต่อกิจกรรม ผู้จัดรีวิวตัวเองไม่ได้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ผู้เข้าร่วม · ขั้น 7 รายงานปัญหา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รายงานกิจกรรมหรือผู้ใช้ที่เกี่ยวข้อง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48 / 71</a:t>
            </a:r>
          </a:p>
        </p:txBody>
      </p:sp>
      <p:pic>
        <p:nvPicPr>
          <p:cNvPr id="7" name="ภาพหน้าจอ d-report" descr="d-report_96-170-900x4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407833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8" name="Rect 7"/>
          <p:cNvSpPr/>
          <p:nvPr/>
        </p:nvSpPr>
        <p:spPr>
          <a:xfrm>
            <a:off x="508000" y="5016500"/>
            <a:ext cx="7302500" cy="1016000"/>
          </a:xfrm>
          <a:prstGeom prst="roundRect">
            <a:avLst>
              <a:gd name="adj" fmla="val 10000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77800" rIns="177800" tIns="63500" bIns="6350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รายงานทุกรายการไปรอที่หน้า “ตรวจรายงาน” ของผู้ดูแลระบบ (สไลด์ 58) และผู้รายงานได้รับแจ้งผลผ่านการแจ้งเตือน</a:t>
            </a:r>
          </a:p>
        </p:txBody>
      </p:sp>
      <p:cxnSp>
        <p:nvCxnSpPr>
          <p:cNvPr id="9" name="เส้นชี้ 1"/>
          <p:cNvCxnSpPr/>
          <p:nvPr/>
        </p:nvCxnSpPr>
        <p:spPr>
          <a:xfrm flipH="1">
            <a:off x="1937103" y="1562100"/>
            <a:ext cx="6432197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0" name="เลข 1"/>
          <p:cNvSpPr/>
          <p:nvPr/>
        </p:nvSpPr>
        <p:spPr>
          <a:xfrm>
            <a:off x="8439150" y="140335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142240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เปิดฟอร์มรายงาน</a:t>
            </a:r>
          </a:p>
        </p:txBody>
      </p:sp>
      <p:sp>
        <p:nvSpPr>
          <p:cNvPr id="12" name="คำอธิบาย 1"/>
          <p:cNvSpPr txBox="1"/>
          <p:nvPr/>
        </p:nvSpPr>
        <p:spPr>
          <a:xfrm>
            <a:off x="8839200" y="1710055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อยู่ท้ายหน้ารายละเอียดกิจกรรม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ผู้เข้าร่วม · ขั้น 7 รายงานปัญหา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รายงานกิจกรรมหรือผู้ใช้ที่เกี่ยวข้อง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49 / 71</a:t>
            </a:r>
          </a:p>
        </p:txBody>
      </p:sp>
      <p:pic>
        <p:nvPicPr>
          <p:cNvPr id="7" name="ภาพหน้าจอ d-report" descr="d-report_96-170-900x4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407833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8" name="Rect 7"/>
          <p:cNvSpPr/>
          <p:nvPr/>
        </p:nvSpPr>
        <p:spPr>
          <a:xfrm>
            <a:off x="508000" y="5016500"/>
            <a:ext cx="7302500" cy="1016000"/>
          </a:xfrm>
          <a:prstGeom prst="roundRect">
            <a:avLst>
              <a:gd name="adj" fmla="val 10000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77800" rIns="177800" tIns="63500" bIns="6350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รายงานทุกรายการไปรอที่หน้า “ตรวจรายงาน” ของผู้ดูแลระบบ (สไลด์ 58) และผู้รายงานได้รับแจ้งผลผ่านการแจ้งเตือน</a:t>
            </a:r>
          </a:p>
        </p:txBody>
      </p:sp>
      <p:sp>
        <p:nvSpPr>
          <p:cNvPr id="9" name="เลข 1"/>
          <p:cNvSpPr/>
          <p:nvPr/>
        </p:nvSpPr>
        <p:spPr>
          <a:xfrm>
            <a:off x="8439150" y="140335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42240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เปิดฟอร์มรายงาน</a:t>
            </a:r>
          </a:p>
        </p:txBody>
      </p:sp>
      <p:cxnSp>
        <p:nvCxnSpPr>
          <p:cNvPr id="11" name="เส้นชี้ 2"/>
          <p:cNvCxnSpPr/>
          <p:nvPr/>
        </p:nvCxnSpPr>
        <p:spPr>
          <a:xfrm flipH="1">
            <a:off x="7146219" y="2543881"/>
            <a:ext cx="1223081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2" name="เลข 2"/>
          <p:cNvSpPr/>
          <p:nvPr/>
        </p:nvSpPr>
        <p:spPr>
          <a:xfrm>
            <a:off x="8439150" y="2385131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หัวข้อ 2"/>
          <p:cNvSpPr txBox="1"/>
          <p:nvPr/>
        </p:nvSpPr>
        <p:spPr>
          <a:xfrm>
            <a:off x="8839200" y="2404181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เลือกสิ่งที่รายงาน</a:t>
            </a:r>
          </a:p>
        </p:txBody>
      </p:sp>
      <p:sp>
        <p:nvSpPr>
          <p:cNvPr id="14" name="คำอธิบาย 2"/>
          <p:cNvSpPr txBox="1"/>
          <p:nvPr/>
        </p:nvSpPr>
        <p:spPr>
          <a:xfrm>
            <a:off x="8839200" y="2691836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ตัวกิจกรรม หรือผู้จัด/สมาชิกที่ได้รับอนุมัติ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ผู้เข้าร่วม · ขั้น 7 รายงานปัญหา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รายงานกิจกรรมหรือผู้ใช้ที่เกี่ยวข้อง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50 / 71</a:t>
            </a:r>
          </a:p>
        </p:txBody>
      </p:sp>
      <p:pic>
        <p:nvPicPr>
          <p:cNvPr id="7" name="ภาพหน้าจอ d-report" descr="d-report_96-170-900x4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407833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8" name="Rect 7"/>
          <p:cNvSpPr/>
          <p:nvPr/>
        </p:nvSpPr>
        <p:spPr>
          <a:xfrm>
            <a:off x="508000" y="5016500"/>
            <a:ext cx="7302500" cy="1016000"/>
          </a:xfrm>
          <a:prstGeom prst="roundRect">
            <a:avLst>
              <a:gd name="adj" fmla="val 10000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77800" rIns="177800" tIns="63500" bIns="6350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รายงานทุกรายการไปรอที่หน้า “ตรวจรายงาน” ของผู้ดูแลระบบ (สไลด์ 58) และผู้รายงานได้รับแจ้งผลผ่านการแจ้งเตือน</a:t>
            </a:r>
          </a:p>
        </p:txBody>
      </p:sp>
      <p:sp>
        <p:nvSpPr>
          <p:cNvPr id="9" name="เลข 1"/>
          <p:cNvSpPr/>
          <p:nvPr/>
        </p:nvSpPr>
        <p:spPr>
          <a:xfrm>
            <a:off x="8439150" y="140335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42240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เปิดฟอร์มรายงาน</a:t>
            </a:r>
          </a:p>
        </p:txBody>
      </p:sp>
      <p:sp>
        <p:nvSpPr>
          <p:cNvPr id="11" name="เลข 2"/>
          <p:cNvSpPr/>
          <p:nvPr/>
        </p:nvSpPr>
        <p:spPr>
          <a:xfrm>
            <a:off x="8439150" y="2385131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2404181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เลือกสิ่งที่รายงาน</a:t>
            </a:r>
          </a:p>
        </p:txBody>
      </p:sp>
      <p:cxnSp>
        <p:nvCxnSpPr>
          <p:cNvPr id="13" name="เส้นชี้ 3"/>
          <p:cNvCxnSpPr/>
          <p:nvPr/>
        </p:nvCxnSpPr>
        <p:spPr>
          <a:xfrm flipH="1">
            <a:off x="7146219" y="3481035"/>
            <a:ext cx="1223081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4" name="เลข 3"/>
          <p:cNvSpPr/>
          <p:nvPr/>
        </p:nvSpPr>
        <p:spPr>
          <a:xfrm>
            <a:off x="8439150" y="3322285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5" name="หัวข้อ 3"/>
          <p:cNvSpPr txBox="1"/>
          <p:nvPr/>
        </p:nvSpPr>
        <p:spPr>
          <a:xfrm>
            <a:off x="8839200" y="3341335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ระบุเหตุผล</a:t>
            </a:r>
          </a:p>
        </p:txBody>
      </p:sp>
      <p:sp>
        <p:nvSpPr>
          <p:cNvPr id="16" name="คำอธิบาย 3"/>
          <p:cNvSpPr txBox="1"/>
          <p:nvPr/>
        </p:nvSpPr>
        <p:spPr>
          <a:xfrm>
            <a:off x="8839200" y="3628990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อย่างน้อย 5 ตัวอักษร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ผู้เข้าร่วม · ขั้น 7 รายงานปัญหา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รายงานกิจกรรมหรือผู้ใช้ที่เกี่ยวข้อง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51 / 71</a:t>
            </a:r>
          </a:p>
        </p:txBody>
      </p:sp>
      <p:pic>
        <p:nvPicPr>
          <p:cNvPr id="7" name="ภาพหน้าจอ d-report" descr="d-report_96-170-900x4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3407833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8" name="Rect 7"/>
          <p:cNvSpPr/>
          <p:nvPr/>
        </p:nvSpPr>
        <p:spPr>
          <a:xfrm>
            <a:off x="508000" y="5016500"/>
            <a:ext cx="7302500" cy="1016000"/>
          </a:xfrm>
          <a:prstGeom prst="roundRect">
            <a:avLst>
              <a:gd name="adj" fmla="val 10000"/>
            </a:avLst>
          </a:prstGeom>
          <a:solidFill>
            <a:srgbClr val="FFF3C4"/>
          </a:solidFill>
          <a:ln>
            <a:noFill/>
          </a:ln>
        </p:spPr>
        <p:txBody>
          <a:bodyPr rtlCol="0" anchor="ctr" wrap="square" lIns="177800" rIns="177800" tIns="63500" bIns="6350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รายงานทุกรายการไปรอที่หน้า “ตรวจรายงาน” ของผู้ดูแลระบบ (สไลด์ 58) และผู้รายงานได้รับแจ้งผลผ่านการแจ้งเตือน</a:t>
            </a:r>
          </a:p>
        </p:txBody>
      </p:sp>
      <p:sp>
        <p:nvSpPr>
          <p:cNvPr id="9" name="เลข 1"/>
          <p:cNvSpPr/>
          <p:nvPr/>
        </p:nvSpPr>
        <p:spPr>
          <a:xfrm>
            <a:off x="8439150" y="140335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42240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เปิดฟอร์มรายงาน</a:t>
            </a:r>
          </a:p>
        </p:txBody>
      </p:sp>
      <p:sp>
        <p:nvSpPr>
          <p:cNvPr id="11" name="เลข 2"/>
          <p:cNvSpPr/>
          <p:nvPr/>
        </p:nvSpPr>
        <p:spPr>
          <a:xfrm>
            <a:off x="8439150" y="2385131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2404181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เลือกสิ่งที่รายงาน</a:t>
            </a:r>
          </a:p>
        </p:txBody>
      </p:sp>
      <p:sp>
        <p:nvSpPr>
          <p:cNvPr id="13" name="เลข 3"/>
          <p:cNvSpPr/>
          <p:nvPr/>
        </p:nvSpPr>
        <p:spPr>
          <a:xfrm>
            <a:off x="8439150" y="3322285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หัวข้อ 3"/>
          <p:cNvSpPr txBox="1"/>
          <p:nvPr/>
        </p:nvSpPr>
        <p:spPr>
          <a:xfrm>
            <a:off x="8839200" y="3341335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ระบุเหตุผล</a:t>
            </a:r>
          </a:p>
        </p:txBody>
      </p:sp>
      <p:cxnSp>
        <p:nvCxnSpPr>
          <p:cNvPr id="15" name="เส้นชี้ 4"/>
          <p:cNvCxnSpPr/>
          <p:nvPr/>
        </p:nvCxnSpPr>
        <p:spPr>
          <a:xfrm flipH="1">
            <a:off x="1701800" y="4191000"/>
            <a:ext cx="6667500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6" name="เลข 4"/>
          <p:cNvSpPr/>
          <p:nvPr/>
        </p:nvSpPr>
        <p:spPr>
          <a:xfrm>
            <a:off x="8439150" y="403225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7" name="หัวข้อ 4"/>
          <p:cNvSpPr txBox="1"/>
          <p:nvPr/>
        </p:nvSpPr>
        <p:spPr>
          <a:xfrm>
            <a:off x="8839200" y="405130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ส่งรายงาน</a:t>
            </a:r>
          </a:p>
        </p:txBody>
      </p:sp>
      <p:sp>
        <p:nvSpPr>
          <p:cNvPr id="18" name="คำอธิบาย 4"/>
          <p:cNvSpPr txBox="1"/>
          <p:nvPr/>
        </p:nvSpPr>
        <p:spPr>
          <a:xfrm>
            <a:off x="8839200" y="4338955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รายงานตัวเองไม่ได้ และส่งซ้ำระหว่างรอตรวจไม่ได้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ผู้ดูแลระบบ · ขั้น 8 บัญชีและหมวดหมู่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จัดการบัญชีผู้ใช้และหมวดหมู่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53 / 71</a:t>
            </a:r>
          </a:p>
        </p:txBody>
      </p:sp>
      <p:pic>
        <p:nvPicPr>
          <p:cNvPr id="7" name="ภาพหน้าจอ d-admin-users" descr="d-admin-users_96-200-1248x4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75014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dmin-categories" descr="d-admin-categories_320-276-800x2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254500"/>
            <a:ext cx="5461000" cy="17748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cxnSp>
        <p:nvCxnSpPr>
          <p:cNvPr id="9" name="เส้นชี้ 1"/>
          <p:cNvCxnSpPr/>
          <p:nvPr/>
        </p:nvCxnSpPr>
        <p:spPr>
          <a:xfrm flipH="1">
            <a:off x="7729578" y="1495277"/>
            <a:ext cx="639722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0" name="เลข 1"/>
          <p:cNvSpPr/>
          <p:nvPr/>
        </p:nvSpPr>
        <p:spPr>
          <a:xfrm>
            <a:off x="8439150" y="1336527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135557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เมนูผู้ดูแล 3 ส่วน</a:t>
            </a:r>
          </a:p>
        </p:txBody>
      </p:sp>
      <p:sp>
        <p:nvSpPr>
          <p:cNvPr id="12" name="คำอธิบาย 1"/>
          <p:cNvSpPr txBox="1"/>
          <p:nvPr/>
        </p:nvSpPr>
        <p:spPr>
          <a:xfrm>
            <a:off x="8839200" y="1643232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ผู้ใช้งาน หมวดหมู่ และตรวจรายงาน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ผู้ดูแลระบบ · ขั้น 8 บัญชีและหมวดหมู่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จัดการบัญชีผู้ใช้และหมวดหมู่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54 / 71</a:t>
            </a:r>
          </a:p>
        </p:txBody>
      </p:sp>
      <p:pic>
        <p:nvPicPr>
          <p:cNvPr id="7" name="ภาพหน้าจอ d-admin-users" descr="d-admin-users_96-200-1248x4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75014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dmin-categories" descr="d-admin-categories_320-276-800x2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254500"/>
            <a:ext cx="5461000" cy="17748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1336527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35557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เมนูผู้ดูแล 3 ส่วน</a:t>
            </a:r>
          </a:p>
        </p:txBody>
      </p:sp>
      <p:cxnSp>
        <p:nvCxnSpPr>
          <p:cNvPr id="11" name="เส้นชี้ 2"/>
          <p:cNvCxnSpPr/>
          <p:nvPr/>
        </p:nvCxnSpPr>
        <p:spPr>
          <a:xfrm flipH="1">
            <a:off x="7729578" y="2138913"/>
            <a:ext cx="639722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2" name="เลข 2"/>
          <p:cNvSpPr/>
          <p:nvPr/>
        </p:nvSpPr>
        <p:spPr>
          <a:xfrm>
            <a:off x="8439150" y="1980163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หัวข้อ 2"/>
          <p:cNvSpPr txBox="1"/>
          <p:nvPr/>
        </p:nvSpPr>
        <p:spPr>
          <a:xfrm>
            <a:off x="8839200" y="199921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สถิติสมาชิก</a:t>
            </a:r>
          </a:p>
        </p:txBody>
      </p:sp>
      <p:sp>
        <p:nvSpPr>
          <p:cNvPr id="14" name="คำอธิบาย 2"/>
          <p:cNvSpPr txBox="1"/>
          <p:nvPr/>
        </p:nvSpPr>
        <p:spPr>
          <a:xfrm>
            <a:off x="8839200" y="2286868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ทั้งหมด นักศึกษา เปิดใช้งาน และถูกระงับ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ผู้ดูแลระบบ · ขั้น 8 บัญชีและหมวดหมู่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จัดการบัญชีผู้ใช้และหมวดหมู่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55 / 71</a:t>
            </a:r>
          </a:p>
        </p:txBody>
      </p:sp>
      <p:pic>
        <p:nvPicPr>
          <p:cNvPr id="7" name="ภาพหน้าจอ d-admin-users" descr="d-admin-users_96-200-1248x4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75014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dmin-categories" descr="d-admin-categories_320-276-800x2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254500"/>
            <a:ext cx="5461000" cy="17748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1336527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35557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เมนูผู้ดูแล 3 ส่วน</a:t>
            </a:r>
          </a:p>
        </p:txBody>
      </p:sp>
      <p:sp>
        <p:nvSpPr>
          <p:cNvPr id="11" name="เลข 2"/>
          <p:cNvSpPr/>
          <p:nvPr/>
        </p:nvSpPr>
        <p:spPr>
          <a:xfrm>
            <a:off x="8439150" y="1980163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199921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สถิติสมาชิก</a:t>
            </a:r>
          </a:p>
        </p:txBody>
      </p:sp>
      <p:cxnSp>
        <p:nvCxnSpPr>
          <p:cNvPr id="13" name="เส้นชี้ 3"/>
          <p:cNvCxnSpPr/>
          <p:nvPr/>
        </p:nvCxnSpPr>
        <p:spPr>
          <a:xfrm flipH="1" flipV="1">
            <a:off x="7226361" y="2689168"/>
            <a:ext cx="1142939" cy="309662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4" name="เลข 3"/>
          <p:cNvSpPr/>
          <p:nvPr/>
        </p:nvSpPr>
        <p:spPr>
          <a:xfrm>
            <a:off x="8439150" y="284008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5" name="หัวข้อ 3"/>
          <p:cNvSpPr txBox="1"/>
          <p:nvPr/>
        </p:nvSpPr>
        <p:spPr>
          <a:xfrm>
            <a:off x="8839200" y="285913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ค้นหา + กรองสถานะ</a:t>
            </a:r>
          </a:p>
        </p:txBody>
      </p:sp>
      <p:sp>
        <p:nvSpPr>
          <p:cNvPr id="16" name="คำอธิบาย 3"/>
          <p:cNvSpPr txBox="1"/>
          <p:nvPr/>
        </p:nvSpPr>
        <p:spPr>
          <a:xfrm>
            <a:off x="8839200" y="3146785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ชื่อ อีเมล หรือรหัสนักศึกษา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ผู้ดูแลระบบ · ขั้น 8 บัญชีและหมวดหมู่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จัดการบัญชีผู้ใช้และหมวดหมู่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56 / 71</a:t>
            </a:r>
          </a:p>
        </p:txBody>
      </p:sp>
      <p:pic>
        <p:nvPicPr>
          <p:cNvPr id="7" name="ภาพหน้าจอ d-admin-users" descr="d-admin-users_96-200-1248x4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75014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dmin-categories" descr="d-admin-categories_320-276-800x2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254500"/>
            <a:ext cx="5461000" cy="17748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1336527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35557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เมนูผู้ดูแล 3 ส่วน</a:t>
            </a:r>
          </a:p>
        </p:txBody>
      </p:sp>
      <p:sp>
        <p:nvSpPr>
          <p:cNvPr id="11" name="เลข 2"/>
          <p:cNvSpPr/>
          <p:nvPr/>
        </p:nvSpPr>
        <p:spPr>
          <a:xfrm>
            <a:off x="8439150" y="1980163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199921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สถิติสมาชิก</a:t>
            </a:r>
          </a:p>
        </p:txBody>
      </p:sp>
      <p:sp>
        <p:nvSpPr>
          <p:cNvPr id="13" name="เลข 3"/>
          <p:cNvSpPr/>
          <p:nvPr/>
        </p:nvSpPr>
        <p:spPr>
          <a:xfrm>
            <a:off x="8439150" y="284008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หัวข้อ 3"/>
          <p:cNvSpPr txBox="1"/>
          <p:nvPr/>
        </p:nvSpPr>
        <p:spPr>
          <a:xfrm>
            <a:off x="8839200" y="285913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ค้นหา + กรองสถานะ</a:t>
            </a:r>
          </a:p>
        </p:txBody>
      </p:sp>
      <p:cxnSp>
        <p:nvCxnSpPr>
          <p:cNvPr id="15" name="เส้นชี้ 4"/>
          <p:cNvCxnSpPr/>
          <p:nvPr/>
        </p:nvCxnSpPr>
        <p:spPr>
          <a:xfrm flipH="1">
            <a:off x="7583294" y="3727572"/>
            <a:ext cx="786006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6" name="เลข 4"/>
          <p:cNvSpPr/>
          <p:nvPr/>
        </p:nvSpPr>
        <p:spPr>
          <a:xfrm>
            <a:off x="8439150" y="3568822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7" name="หัวข้อ 4"/>
          <p:cNvSpPr txBox="1"/>
          <p:nvPr/>
        </p:nvSpPr>
        <p:spPr>
          <a:xfrm>
            <a:off x="8839200" y="3587872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ระงับ / เปิดใช้งาน</a:t>
            </a:r>
          </a:p>
        </p:txBody>
      </p:sp>
      <p:sp>
        <p:nvSpPr>
          <p:cNvPr id="18" name="คำอธิบาย 4"/>
          <p:cNvSpPr txBox="1"/>
          <p:nvPr/>
        </p:nvSpPr>
        <p:spPr>
          <a:xfrm>
            <a:off x="8839200" y="3875527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บัญชีที่ถูกระงับถูกบังคับออกจากระบบ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ผู้ดูแลระบบ · ขั้น 8 บัญชีและหมวดหมู่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จัดการบัญชีผู้ใช้และหมวดหมู่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57 / 71</a:t>
            </a:r>
          </a:p>
        </p:txBody>
      </p:sp>
      <p:pic>
        <p:nvPicPr>
          <p:cNvPr id="7" name="ภาพหน้าจอ d-admin-users" descr="d-admin-users_96-200-1248x4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75014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dmin-categories" descr="d-admin-categories_320-276-800x2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254500"/>
            <a:ext cx="5461000" cy="1774825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1336527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355577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เมนูผู้ดูแล 3 ส่วน</a:t>
            </a:r>
          </a:p>
        </p:txBody>
      </p:sp>
      <p:sp>
        <p:nvSpPr>
          <p:cNvPr id="11" name="เลข 2"/>
          <p:cNvSpPr/>
          <p:nvPr/>
        </p:nvSpPr>
        <p:spPr>
          <a:xfrm>
            <a:off x="8439150" y="1980163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1999213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สถิติสมาชิก</a:t>
            </a:r>
          </a:p>
        </p:txBody>
      </p:sp>
      <p:sp>
        <p:nvSpPr>
          <p:cNvPr id="13" name="เลข 3"/>
          <p:cNvSpPr/>
          <p:nvPr/>
        </p:nvSpPr>
        <p:spPr>
          <a:xfrm>
            <a:off x="8439150" y="284008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หัวข้อ 3"/>
          <p:cNvSpPr txBox="1"/>
          <p:nvPr/>
        </p:nvSpPr>
        <p:spPr>
          <a:xfrm>
            <a:off x="8839200" y="285913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ค้นหา + กรองสถานะ</a:t>
            </a:r>
          </a:p>
        </p:txBody>
      </p:sp>
      <p:sp>
        <p:nvSpPr>
          <p:cNvPr id="15" name="เลข 4"/>
          <p:cNvSpPr/>
          <p:nvPr/>
        </p:nvSpPr>
        <p:spPr>
          <a:xfrm>
            <a:off x="8439150" y="3568822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6" name="หัวข้อ 4"/>
          <p:cNvSpPr txBox="1"/>
          <p:nvPr/>
        </p:nvSpPr>
        <p:spPr>
          <a:xfrm>
            <a:off x="8839200" y="3587872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ระงับ / เปิดใช้งาน</a:t>
            </a:r>
          </a:p>
        </p:txBody>
      </p:sp>
      <p:cxnSp>
        <p:nvCxnSpPr>
          <p:cNvPr id="17" name="เส้นชี้ 5"/>
          <p:cNvCxnSpPr/>
          <p:nvPr/>
        </p:nvCxnSpPr>
        <p:spPr>
          <a:xfrm flipH="1">
            <a:off x="5729129" y="5769928"/>
            <a:ext cx="2640171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8" name="เลข 5"/>
          <p:cNvSpPr/>
          <p:nvPr/>
        </p:nvSpPr>
        <p:spPr>
          <a:xfrm>
            <a:off x="8439150" y="5611178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5</a:t>
            </a:r>
          </a:p>
        </p:txBody>
      </p:sp>
      <p:sp>
        <p:nvSpPr>
          <p:cNvPr id="19" name="หัวข้อ 5"/>
          <p:cNvSpPr txBox="1"/>
          <p:nvPr/>
        </p:nvSpPr>
        <p:spPr>
          <a:xfrm>
            <a:off x="8839200" y="5630228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ลบหมวดหมู่</a:t>
            </a:r>
          </a:p>
        </p:txBody>
      </p:sp>
      <p:sp>
        <p:nvSpPr>
          <p:cNvPr id="20" name="คำอธิบาย 5"/>
          <p:cNvSpPr txBox="1"/>
          <p:nvPr/>
        </p:nvSpPr>
        <p:spPr>
          <a:xfrm>
            <a:off x="8839200" y="5917882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ลบได้เฉพาะหมวดที่ยังไม่มีกิจกรรม ชื่อหมวดห้ามซ้ำ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ผู้ดูแลระบบ · ขั้น 9 ตรวจรายงาน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ทุกการตัดสินใจต้องมีเหตุผล และย้อนดูได้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59 / 71</a:t>
            </a:r>
          </a:p>
        </p:txBody>
      </p:sp>
      <p:pic>
        <p:nvPicPr>
          <p:cNvPr id="7" name="ภาพหน้าจอ d-admin-reports" descr="d-admin-reports_96-276-1248x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10649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dmin-log" descr="d-admin-log_96-286-1248x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810000"/>
            <a:ext cx="7302500" cy="1755409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cxnSp>
        <p:nvCxnSpPr>
          <p:cNvPr id="9" name="เส้นชี้ 1"/>
          <p:cNvCxnSpPr/>
          <p:nvPr/>
        </p:nvCxnSpPr>
        <p:spPr>
          <a:xfrm flipH="1">
            <a:off x="7729578" y="1439690"/>
            <a:ext cx="639722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0" name="เลข 1"/>
          <p:cNvSpPr/>
          <p:nvPr/>
        </p:nvSpPr>
        <p:spPr>
          <a:xfrm>
            <a:off x="8439150" y="1280940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1" name="หัวข้อ 1"/>
          <p:cNvSpPr txBox="1"/>
          <p:nvPr/>
        </p:nvSpPr>
        <p:spPr>
          <a:xfrm>
            <a:off x="8839200" y="129999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แยกตามสถานะ</a:t>
            </a:r>
          </a:p>
        </p:txBody>
      </p:sp>
      <p:sp>
        <p:nvSpPr>
          <p:cNvPr id="12" name="คำอธิบาย 1"/>
          <p:cNvSpPr txBox="1"/>
          <p:nvPr/>
        </p:nvSpPr>
        <p:spPr>
          <a:xfrm>
            <a:off x="8839200" y="1587645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รอตรวจ ดำเนินการแล้ว ยกรายงาน ทั้งหมด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ผู้ดูแลระบบ · ขั้น 9 ตรวจรายงาน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ทุกการตัดสินใจต้องมีเหตุผล และย้อนดูได้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60 / 71</a:t>
            </a:r>
          </a:p>
        </p:txBody>
      </p:sp>
      <p:pic>
        <p:nvPicPr>
          <p:cNvPr id="7" name="ภาพหน้าจอ d-admin-reports" descr="d-admin-reports_96-276-1248x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10649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dmin-log" descr="d-admin-log_96-286-1248x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810000"/>
            <a:ext cx="7302500" cy="1755409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128094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29999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แยกตามสถานะ</a:t>
            </a:r>
          </a:p>
        </p:txBody>
      </p:sp>
      <p:cxnSp>
        <p:nvCxnSpPr>
          <p:cNvPr id="11" name="เส้นชี้ 2"/>
          <p:cNvCxnSpPr/>
          <p:nvPr/>
        </p:nvCxnSpPr>
        <p:spPr>
          <a:xfrm flipH="1">
            <a:off x="7583294" y="2346651"/>
            <a:ext cx="786006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2" name="เลข 2"/>
          <p:cNvSpPr/>
          <p:nvPr/>
        </p:nvSpPr>
        <p:spPr>
          <a:xfrm>
            <a:off x="8439150" y="2187901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3" name="หัวข้อ 2"/>
          <p:cNvSpPr txBox="1"/>
          <p:nvPr/>
        </p:nvSpPr>
        <p:spPr>
          <a:xfrm>
            <a:off x="8839200" y="2206951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เหตุผลจากผู้รายงาน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ผู้ดูแลระบบ · ขั้น 9 ตรวจรายงาน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ทุกการตัดสินใจต้องมีเหตุผล และย้อนดูได้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61 / 71</a:t>
            </a:r>
          </a:p>
        </p:txBody>
      </p:sp>
      <p:pic>
        <p:nvPicPr>
          <p:cNvPr id="7" name="ภาพหน้าจอ d-admin-reports" descr="d-admin-reports_96-276-1248x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10649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dmin-log" descr="d-admin-log_96-286-1248x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810000"/>
            <a:ext cx="7302500" cy="1755409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128094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29999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แยกตามสถานะ</a:t>
            </a:r>
          </a:p>
        </p:txBody>
      </p:sp>
      <p:sp>
        <p:nvSpPr>
          <p:cNvPr id="11" name="เลข 2"/>
          <p:cNvSpPr/>
          <p:nvPr/>
        </p:nvSpPr>
        <p:spPr>
          <a:xfrm>
            <a:off x="8439150" y="2187901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2206951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เหตุผลจากผู้รายงาน</a:t>
            </a:r>
          </a:p>
        </p:txBody>
      </p:sp>
      <p:cxnSp>
        <p:nvCxnSpPr>
          <p:cNvPr id="13" name="เส้นชี้ 3"/>
          <p:cNvCxnSpPr/>
          <p:nvPr/>
        </p:nvCxnSpPr>
        <p:spPr>
          <a:xfrm flipH="1">
            <a:off x="7583294" y="2879125"/>
            <a:ext cx="786006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4" name="เลข 3"/>
          <p:cNvSpPr/>
          <p:nvPr/>
        </p:nvSpPr>
        <p:spPr>
          <a:xfrm>
            <a:off x="8439150" y="2720375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5" name="หัวข้อ 3"/>
          <p:cNvSpPr txBox="1"/>
          <p:nvPr/>
        </p:nvSpPr>
        <p:spPr>
          <a:xfrm>
            <a:off x="8839200" y="2739425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บันทึกเหตุผล แล้วตัดสิน</a:t>
            </a:r>
          </a:p>
        </p:txBody>
      </p:sp>
      <p:sp>
        <p:nvSpPr>
          <p:cNvPr id="16" name="คำอธิบาย 3"/>
          <p:cNvSpPr txBox="1"/>
          <p:nvPr/>
        </p:nvSpPr>
        <p:spPr>
          <a:xfrm>
            <a:off x="8839200" y="3027080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ซ่อนกิจกรรม/ระงับผู้ใช้ หรือยกรายงาน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ผู้ดูแลระบบ · ขั้น 9 ตรวจรายงาน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ทุกการตัดสินใจต้องมีเหตุผล และย้อนดูได้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62 / 71</a:t>
            </a:r>
          </a:p>
        </p:txBody>
      </p:sp>
      <p:pic>
        <p:nvPicPr>
          <p:cNvPr id="7" name="ภาพหน้าจอ d-admin-reports" descr="d-admin-reports_96-276-1248x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10649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dmin-log" descr="d-admin-log_96-286-1248x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810000"/>
            <a:ext cx="7302500" cy="1755409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128094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29999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แยกตามสถานะ</a:t>
            </a:r>
          </a:p>
        </p:txBody>
      </p:sp>
      <p:sp>
        <p:nvSpPr>
          <p:cNvPr id="11" name="เลข 2"/>
          <p:cNvSpPr/>
          <p:nvPr/>
        </p:nvSpPr>
        <p:spPr>
          <a:xfrm>
            <a:off x="8439150" y="2187901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2206951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เหตุผลจากผู้รายงาน</a:t>
            </a:r>
          </a:p>
        </p:txBody>
      </p:sp>
      <p:sp>
        <p:nvSpPr>
          <p:cNvPr id="13" name="เลข 3"/>
          <p:cNvSpPr/>
          <p:nvPr/>
        </p:nvSpPr>
        <p:spPr>
          <a:xfrm>
            <a:off x="8439150" y="2720375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หัวข้อ 3"/>
          <p:cNvSpPr txBox="1"/>
          <p:nvPr/>
        </p:nvSpPr>
        <p:spPr>
          <a:xfrm>
            <a:off x="8839200" y="2739425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บันทึกเหตุผล แล้วตัดสิน</a:t>
            </a:r>
          </a:p>
        </p:txBody>
      </p:sp>
      <p:cxnSp>
        <p:nvCxnSpPr>
          <p:cNvPr id="15" name="เส้นชี้ 4"/>
          <p:cNvCxnSpPr/>
          <p:nvPr/>
        </p:nvCxnSpPr>
        <p:spPr>
          <a:xfrm flipH="1">
            <a:off x="7729578" y="4243001"/>
            <a:ext cx="639722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6" name="เลข 4"/>
          <p:cNvSpPr/>
          <p:nvPr/>
        </p:nvSpPr>
        <p:spPr>
          <a:xfrm>
            <a:off x="8439150" y="4084251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7" name="หัวข้อ 4"/>
          <p:cNvSpPr txBox="1"/>
          <p:nvPr/>
        </p:nvSpPr>
        <p:spPr>
          <a:xfrm>
            <a:off x="8839200" y="4103301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กิจกรรมที่ถูกซ่อน</a:t>
            </a:r>
          </a:p>
        </p:txBody>
      </p:sp>
      <p:sp>
        <p:nvSpPr>
          <p:cNvPr id="18" name="คำอธิบาย 4"/>
          <p:cNvSpPr txBox="1"/>
          <p:nvPr/>
        </p:nvSpPr>
        <p:spPr>
          <a:xfrm>
            <a:off x="8839200" y="4390956"/>
            <a:ext cx="2844800" cy="25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เลิกซ่อนได้ โดยต้องใส่เหตุผล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หมวด"/>
          <p:cNvSpPr txBox="1"/>
          <p:nvPr/>
        </p:nvSpPr>
        <p:spPr>
          <a:xfrm>
            <a:off x="508000" y="2921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ผู้ดูแลระบบ · ขั้น 9 ตรวจรายงาน</a:t>
            </a:r>
          </a:p>
        </p:txBody>
      </p:sp>
      <p:sp>
        <p:nvSpPr>
          <p:cNvPr id="3" name="หัวเรื่อง"/>
          <p:cNvSpPr txBox="1"/>
          <p:nvPr/>
        </p:nvSpPr>
        <p:spPr>
          <a:xfrm>
            <a:off x="508000" y="5334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ทุกการตัดสินใจต้องมีเหตุผล และย้อนดูได้</a:t>
            </a:r>
          </a:p>
        </p:txBody>
      </p:sp>
      <p:pic>
        <p:nvPicPr>
          <p:cNvPr id="4" name="โลโก้" descr="unimat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330200"/>
            <a:ext cx="279400" cy="279400"/>
          </a:xfrm>
          <a:prstGeom prst="rect">
            <a:avLst/>
          </a:prstGeom>
        </p:spPr>
      </p:pic>
      <p:sp>
        <p:nvSpPr>
          <p:cNvPr id="5" name="ส่วนท้าย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CP410805 ส่วนที่ 2 · กลุ่ม AI04</a:t>
            </a:r>
          </a:p>
        </p:txBody>
      </p:sp>
      <p:sp>
        <p:nvSpPr>
          <p:cNvPr id="6" name="เลขหน้า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63 / 71</a:t>
            </a:r>
          </a:p>
        </p:txBody>
      </p:sp>
      <p:pic>
        <p:nvPicPr>
          <p:cNvPr id="7" name="ภาพหน้าจอ d-admin-reports" descr="d-admin-reports_96-276-1248x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70000"/>
            <a:ext cx="7302500" cy="210649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pic>
        <p:nvPicPr>
          <p:cNvPr id="8" name="ภาพหน้าจอ d-admin-log" descr="d-admin-log_96-286-1248x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810000"/>
            <a:ext cx="7302500" cy="1755409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9" name="เลข 1"/>
          <p:cNvSpPr/>
          <p:nvPr/>
        </p:nvSpPr>
        <p:spPr>
          <a:xfrm>
            <a:off x="8439150" y="1280940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1</a:t>
            </a:r>
          </a:p>
        </p:txBody>
      </p:sp>
      <p:sp>
        <p:nvSpPr>
          <p:cNvPr id="10" name="หัวข้อ 1"/>
          <p:cNvSpPr txBox="1"/>
          <p:nvPr/>
        </p:nvSpPr>
        <p:spPr>
          <a:xfrm>
            <a:off x="8839200" y="1299990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แยกตามสถานะ</a:t>
            </a:r>
          </a:p>
        </p:txBody>
      </p:sp>
      <p:sp>
        <p:nvSpPr>
          <p:cNvPr id="11" name="เลข 2"/>
          <p:cNvSpPr/>
          <p:nvPr/>
        </p:nvSpPr>
        <p:spPr>
          <a:xfrm>
            <a:off x="8439150" y="2187901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2</a:t>
            </a:r>
          </a:p>
        </p:txBody>
      </p:sp>
      <p:sp>
        <p:nvSpPr>
          <p:cNvPr id="12" name="หัวข้อ 2"/>
          <p:cNvSpPr txBox="1"/>
          <p:nvPr/>
        </p:nvSpPr>
        <p:spPr>
          <a:xfrm>
            <a:off x="8839200" y="2206951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เหตุผลจากผู้รายงาน</a:t>
            </a:r>
          </a:p>
        </p:txBody>
      </p:sp>
      <p:sp>
        <p:nvSpPr>
          <p:cNvPr id="13" name="เลข 3"/>
          <p:cNvSpPr/>
          <p:nvPr/>
        </p:nvSpPr>
        <p:spPr>
          <a:xfrm>
            <a:off x="8439150" y="2720375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3</a:t>
            </a:r>
          </a:p>
        </p:txBody>
      </p:sp>
      <p:sp>
        <p:nvSpPr>
          <p:cNvPr id="14" name="หัวข้อ 3"/>
          <p:cNvSpPr txBox="1"/>
          <p:nvPr/>
        </p:nvSpPr>
        <p:spPr>
          <a:xfrm>
            <a:off x="8839200" y="2739425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บันทึกเหตุผล แล้วตัดสิน</a:t>
            </a:r>
          </a:p>
        </p:txBody>
      </p:sp>
      <p:sp>
        <p:nvSpPr>
          <p:cNvPr id="15" name="เลข 4"/>
          <p:cNvSpPr/>
          <p:nvPr/>
        </p:nvSpPr>
        <p:spPr>
          <a:xfrm>
            <a:off x="8439150" y="4084251"/>
            <a:ext cx="317500" cy="317500"/>
          </a:xfrm>
          <a:prstGeom prst="ellipse">
            <a:avLst/>
          </a:prstGeom>
          <a:solidFill>
            <a:srgbClr val="B8BEC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4</a:t>
            </a:r>
          </a:p>
        </p:txBody>
      </p:sp>
      <p:sp>
        <p:nvSpPr>
          <p:cNvPr id="16" name="หัวข้อ 4"/>
          <p:cNvSpPr txBox="1"/>
          <p:nvPr/>
        </p:nvSpPr>
        <p:spPr>
          <a:xfrm>
            <a:off x="8839200" y="4103301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9CA3AF"/>
                </a:solidFill>
                <a:latin typeface="Sarabun"/>
                <a:ea typeface="Sarabun"/>
                <a:cs typeface="Sarabun"/>
              </a:rPr>
              <a:t>กิจกรรมที่ถูกซ่อน</a:t>
            </a:r>
          </a:p>
        </p:txBody>
      </p:sp>
      <p:cxnSp>
        <p:nvCxnSpPr>
          <p:cNvPr id="17" name="เส้นชี้ 5"/>
          <p:cNvCxnSpPr/>
          <p:nvPr/>
        </p:nvCxnSpPr>
        <p:spPr>
          <a:xfrm flipH="1">
            <a:off x="7723727" y="5249435"/>
            <a:ext cx="645573" cy="0"/>
          </a:xfrm>
          <a:prstGeom prst="line">
            <a:avLst/>
          </a:prstGeom>
          <a:ln w="25400">
            <a:solidFill>
              <a:srgbClr val="E8470C"/>
            </a:solidFill>
            <a:tailEnd type="triangle" w="med" len="med"/>
          </a:ln>
        </p:spPr>
      </p:cxnSp>
      <p:sp>
        <p:nvSpPr>
          <p:cNvPr id="18" name="เลข 5"/>
          <p:cNvSpPr/>
          <p:nvPr/>
        </p:nvSpPr>
        <p:spPr>
          <a:xfrm>
            <a:off x="8439150" y="5090685"/>
            <a:ext cx="317500" cy="3175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5</a:t>
            </a:r>
          </a:p>
        </p:txBody>
      </p:sp>
      <p:sp>
        <p:nvSpPr>
          <p:cNvPr id="19" name="หัวข้อ 5"/>
          <p:cNvSpPr txBox="1"/>
          <p:nvPr/>
        </p:nvSpPr>
        <p:spPr>
          <a:xfrm>
            <a:off x="8839200" y="5109735"/>
            <a:ext cx="2844800" cy="274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ประวัติการดำเนินการ</a:t>
            </a:r>
          </a:p>
        </p:txBody>
      </p:sp>
      <p:sp>
        <p:nvSpPr>
          <p:cNvPr id="20" name="คำอธิบาย 5"/>
          <p:cNvSpPr txBox="1"/>
          <p:nvPr/>
        </p:nvSpPr>
        <p:spPr>
          <a:xfrm>
            <a:off x="8839200" y="5397390"/>
            <a:ext cx="2844800" cy="470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ใคร ทำอะไร กับอะไร เมื่อไร และเพราะอะไร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tr"/>
        <a:ea typeface=""/>
        <a:cs typeface="Mitr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Mitr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arabun"/>
        <a:ea typeface=""/>
        <a:cs typeface="Sarabun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Sarabun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UniMate ส่วนที่ 2 — วงและชี้อธิบาย</dc:title>
  <dc:subject/>
  <dc:creator>กลุ่ม AI04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th-TH</dc:language>
</cp:coreProperties>
</file>