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508000"/>
            <a:ext cx="5715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</a:t>
            </a:r>
          </a:p>
        </p:txBody>
      </p:sp>
      <p:sp>
        <p:nvSpPr>
          <p:cNvPr id="3" name="Text 2"/>
          <p:cNvSpPr txBox="1"/>
          <p:nvPr/>
        </p:nvSpPr>
        <p:spPr>
          <a:xfrm>
            <a:off x="508000" y="825500"/>
            <a:ext cx="5715000" cy="139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4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หน้าจอการทำงาน</a:t>
            </a:r>
          </a:p>
          <a:p>
            <a:pPr algn="l">
              <a:lnSpc>
                <a:spcPct val="90000"/>
              </a:lnSpc>
            </a:pPr>
            <a:r>
              <a:rPr sz="4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ทั้งหมดของระบบ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508000" y="2476500"/>
            <a:ext cx="5461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ภาพจากเว็บ UniMate ที่รันจริงในเครื่อง เรียงตามผู้ใช้และลำดับการใช้งาน รวม 42 หน้า</a:t>
            </a:r>
          </a:p>
        </p:txBody>
      </p:sp>
      <p:sp>
        <p:nvSpPr>
          <p:cNvPr id="5" name="Rect 4"/>
          <p:cNvSpPr/>
          <p:nvPr/>
        </p:nvSpPr>
        <p:spPr>
          <a:xfrm>
            <a:off x="508000" y="3556000"/>
            <a:ext cx="5461000" cy="952500"/>
          </a:xfrm>
          <a:prstGeom prst="roundRect">
            <a:avLst>
              <a:gd name="adj" fmla="val 9333"/>
            </a:avLst>
          </a:prstGeom>
          <a:solidFill>
            <a:srgbClr val="FFF3C4"/>
          </a:solidFill>
          <a:ln>
            <a:noFill/>
          </a:ln>
        </p:spPr>
        <p:txBody>
          <a:bodyPr rtlCol="0" anchor="t" wrap="square" lIns="152400" rIns="152400" tIns="76200" bIns="7620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ข้อมูลในภาพเป็นข้อมูลทดสอบ บันทึกภาพเมื่อ 10 ต.ค. 2569 ที่ความกว้างจอ 1440px และ 390px สำหรับมือถือ</a:t>
            </a:r>
          </a:p>
        </p:txBody>
      </p:sp>
      <p:sp>
        <p:nvSpPr>
          <p:cNvPr id="6" name="สารบัญ A"/>
          <p:cNvSpPr/>
          <p:nvPr/>
        </p:nvSpPr>
        <p:spPr>
          <a:xfrm>
            <a:off x="6731000" y="952500"/>
            <a:ext cx="4953000" cy="5842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n A"/>
          <p:cNvSpPr/>
          <p:nvPr/>
        </p:nvSpPr>
        <p:spPr>
          <a:xfrm>
            <a:off x="6870700" y="1066800"/>
            <a:ext cx="355600" cy="3556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A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7366000" y="10795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ผู้ใช้ทั่วไป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541000" y="1079500"/>
            <a:ext cx="10160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02–05</a:t>
            </a:r>
          </a:p>
        </p:txBody>
      </p:sp>
      <p:sp>
        <p:nvSpPr>
          <p:cNvPr id="10" name="สารบัญ B"/>
          <p:cNvSpPr/>
          <p:nvPr/>
        </p:nvSpPr>
        <p:spPr>
          <a:xfrm>
            <a:off x="6731000" y="1651000"/>
            <a:ext cx="4953000" cy="5842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n B"/>
          <p:cNvSpPr/>
          <p:nvPr/>
        </p:nvSpPr>
        <p:spPr>
          <a:xfrm>
            <a:off x="6870700" y="1765300"/>
            <a:ext cx="355600" cy="3556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B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7366000" y="17780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นักศึกษา: ค้นหาและเข้าร่วม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10541000" y="1778000"/>
            <a:ext cx="10160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06–15</a:t>
            </a:r>
          </a:p>
        </p:txBody>
      </p:sp>
      <p:sp>
        <p:nvSpPr>
          <p:cNvPr id="14" name="สารบัญ C"/>
          <p:cNvSpPr/>
          <p:nvPr/>
        </p:nvSpPr>
        <p:spPr>
          <a:xfrm>
            <a:off x="6731000" y="2349500"/>
            <a:ext cx="4953000" cy="5842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in C"/>
          <p:cNvSpPr/>
          <p:nvPr/>
        </p:nvSpPr>
        <p:spPr>
          <a:xfrm>
            <a:off x="6870700" y="2463800"/>
            <a:ext cx="355600" cy="3556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C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7366000" y="24765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นักศึกษา: ผู้จัดกิจกรรม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10541000" y="2476500"/>
            <a:ext cx="10160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16–24</a:t>
            </a:r>
          </a:p>
        </p:txBody>
      </p:sp>
      <p:sp>
        <p:nvSpPr>
          <p:cNvPr id="18" name="สารบัญ D"/>
          <p:cNvSpPr/>
          <p:nvPr/>
        </p:nvSpPr>
        <p:spPr>
          <a:xfrm>
            <a:off x="6731000" y="3048000"/>
            <a:ext cx="4953000" cy="5842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n D"/>
          <p:cNvSpPr/>
          <p:nvPr/>
        </p:nvSpPr>
        <p:spPr>
          <a:xfrm>
            <a:off x="6870700" y="3162300"/>
            <a:ext cx="355600" cy="3556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D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7366000" y="31750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หลังจบกิจกรรม: รีวิวและรายงาน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10541000" y="3175000"/>
            <a:ext cx="10160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25–29</a:t>
            </a:r>
          </a:p>
        </p:txBody>
      </p:sp>
      <p:sp>
        <p:nvSpPr>
          <p:cNvPr id="22" name="สารบัญ E"/>
          <p:cNvSpPr/>
          <p:nvPr/>
        </p:nvSpPr>
        <p:spPr>
          <a:xfrm>
            <a:off x="6731000" y="3746500"/>
            <a:ext cx="4953000" cy="5842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n E"/>
          <p:cNvSpPr/>
          <p:nvPr/>
        </p:nvSpPr>
        <p:spPr>
          <a:xfrm>
            <a:off x="6870700" y="3860800"/>
            <a:ext cx="355600" cy="3556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E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7366000" y="38735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ผู้ดูแลระบบ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10541000" y="3873500"/>
            <a:ext cx="10160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30–40</a:t>
            </a:r>
          </a:p>
        </p:txBody>
      </p:sp>
      <p:sp>
        <p:nvSpPr>
          <p:cNvPr id="26" name="สารบัญ F"/>
          <p:cNvSpPr/>
          <p:nvPr/>
        </p:nvSpPr>
        <p:spPr>
          <a:xfrm>
            <a:off x="6731000" y="4445000"/>
            <a:ext cx="4953000" cy="5842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Pin F"/>
          <p:cNvSpPr/>
          <p:nvPr/>
        </p:nvSpPr>
        <p:spPr>
          <a:xfrm>
            <a:off x="6870700" y="4559300"/>
            <a:ext cx="355600" cy="3556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F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7366000" y="45720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สิทธิ์และหน้าข้อผิดพลาด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10541000" y="4572000"/>
            <a:ext cx="10160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41–42</a:t>
            </a:r>
          </a:p>
        </p:txBody>
      </p:sp>
      <p:sp>
        <p:nvSpPr>
          <p:cNvPr id="30" name="สารบัญ G"/>
          <p:cNvSpPr/>
          <p:nvPr/>
        </p:nvSpPr>
        <p:spPr>
          <a:xfrm>
            <a:off x="6731000" y="5143500"/>
            <a:ext cx="4953000" cy="5842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Pin G"/>
          <p:cNvSpPr/>
          <p:nvPr/>
        </p:nvSpPr>
        <p:spPr>
          <a:xfrm>
            <a:off x="6870700" y="5257800"/>
            <a:ext cx="355600" cy="355600"/>
          </a:xfrm>
          <a:prstGeom prst="ellipse">
            <a:avLst/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G</a:t>
            </a:r>
          </a:p>
        </p:txBody>
      </p:sp>
      <p:sp>
        <p:nvSpPr>
          <p:cNvPr id="32" name="Text 31"/>
          <p:cNvSpPr txBox="1"/>
          <p:nvPr/>
        </p:nvSpPr>
        <p:spPr>
          <a:xfrm>
            <a:off x="7366000" y="52705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มุมมองบนมือถือ</a:t>
            </a:r>
          </a:p>
        </p:txBody>
      </p:sp>
      <p:sp>
        <p:nvSpPr>
          <p:cNvPr id="33" name="Text 32"/>
          <p:cNvSpPr txBox="1"/>
          <p:nvPr/>
        </p:nvSpPr>
        <p:spPr>
          <a:xfrm>
            <a:off x="10541000" y="5270500"/>
            <a:ext cx="10160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43</a:t>
            </a:r>
          </a:p>
        </p:txBody>
      </p:sp>
      <p:sp>
        <p:nvSpPr>
          <p:cNvPr id="34" name="Text 33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35" name="Text 34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01 / 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A · ผู้ใช้ทั่วไป</a:t>
            </a:r>
          </a:p>
        </p:txBody>
      </p:sp>
      <p:pic>
        <p:nvPicPr>
          <p:cNvPr id="3" name="ภาพหน้าจอ A01" descr="g01-log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A01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เข้าสู่ระบบ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ฟอร์มอีเมลและรหัสผ่าน มีปุ่มเปิด-ปิดดูรหัสผ่าน ด้านซ้ายแนะนำระบบ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ยังไม่เข้าสู่ระบบ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/login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02 / 43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A · ผู้ใช้ทั่วไป</a:t>
            </a:r>
          </a:p>
        </p:txBody>
      </p:sp>
      <p:pic>
        <p:nvPicPr>
          <p:cNvPr id="3" name="ภาพหน้าจอ A02" descr="g02-regi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A02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สมัครสมาชิก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กรอกชื่อ รหัสนักศึกษา อีเมล Bio และรหัสผ่านอย่างน้อย 6 ตัวอักษร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ยังไม่เข้าสู่ระบบ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/register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03 / 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A · ผู้ใช้ทั่วไป</a:t>
            </a:r>
          </a:p>
        </p:txBody>
      </p:sp>
      <p:pic>
        <p:nvPicPr>
          <p:cNvPr id="3" name="ภาพหน้าจอ A03" descr="g03-register-erro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A03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781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สมัครไม่ผ่านการตรวจข้อมูล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2152904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ส่งฟอร์มไม่ครบ ระบบแจ้งข้อผิดพลาดใต้ช่อง เช่น อีเมลซ้ำ รหัสผ่านสั้นเกินไป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ยังไม่เข้าสู่ระบบ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/register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04 / 43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A · ผู้ใช้ทั่วไป</a:t>
            </a:r>
          </a:p>
        </p:txBody>
      </p:sp>
      <p:pic>
        <p:nvPicPr>
          <p:cNvPr id="3" name="ภาพหน้าจอ A04" descr="g04-login-suspend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A04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บัญชีถูกระงับ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บัญชีที่ผู้ดูแลระงับไว้เข้าสู่ระบบไม่ได้ และมีข้อความแจ้งเหตุผล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ยังไม่เข้าสู่ระบบ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/login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05 / 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B · นักศึกษา: ค้นหาและเข้าร่วม</a:t>
            </a:r>
          </a:p>
        </p:txBody>
      </p:sp>
      <p:pic>
        <p:nvPicPr>
          <p:cNvPr id="3" name="ภาพหน้าจอ B01" descr="s01-activit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B01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รายการกิจกรรม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หน้าแรกหลังเข้าสู่ระบบ มีช่องค้นหา ชิปหมวดหมู่ และตัวกรองเพิ่มเติม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06 / 43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B · นักศึกษา: ค้นหาและเข้าร่วม</a:t>
            </a:r>
          </a:p>
        </p:txBody>
      </p:sp>
      <p:pic>
        <p:nvPicPr>
          <p:cNvPr id="3" name="ภาพหน้าจอ B02" descr="s01b-activities-car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B02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การ์ดกิจกรรม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การ์ดแสดงวันที่ หมวด สถานะ เวลา สถานที่ จำนวนผู้เข้าร่วม และผู้จัด กิจกรรมที่ยังไม่จบอยู่ก่อน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07 / 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B · นักศึกษา: ค้นหาและเข้าร่วม</a:t>
            </a:r>
          </a:p>
        </p:txBody>
      </p:sp>
      <p:pic>
        <p:nvPicPr>
          <p:cNvPr id="3" name="ภาพหน้าจอ B03" descr="s02-activities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B03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ค้นหาและกรอง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ค้นคำว่า “สอบ” ในหมวดติวหนังสือ และเปิดตัวกรองสถานที่ วันที่ สถานะ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/activities?category_id=2&amp;q=สอบ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08 / 43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B · นักศึกษา: ค้นหาและเข้าร่วม</a:t>
            </a:r>
          </a:p>
        </p:txBody>
      </p:sp>
      <p:pic>
        <p:nvPicPr>
          <p:cNvPr id="3" name="ภาพหน้าจอ B04" descr="s07-detail-jo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B04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781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รายละเอียดกิจกรรม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2152904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ข้อมูลนัดหมาย ที่ว่าง ผู้จัด และฟอร์มขอเข้าร่วมพร้อมข้อความถึงผู้จัด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/activities/9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09 / 43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B · นักศึกษา: ค้นหาและเข้าร่วม</a:t>
            </a:r>
          </a:p>
        </p:txBody>
      </p:sp>
      <p:pic>
        <p:nvPicPr>
          <p:cNvPr id="3" name="ภาพหน้าจอ B05" descr="s08-join-pe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B05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781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ส่งคำขอเข้าร่วมแล้ว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2152904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สถานะเปลี่ยนเป็น “รออนุมัติ” และกดถอนคำขอได้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/activities/9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10 / 43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B · นักศึกษา: ค้นหาและเข้าร่วม</a:t>
            </a:r>
          </a:p>
        </p:txBody>
      </p:sp>
      <p:pic>
        <p:nvPicPr>
          <p:cNvPr id="3" name="ภาพหน้าจอ B06" descr="s14-my-activit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B06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นัดของฉัน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สรุปจำนวน และกิจกรรมที่ฉันสร้างพร้อมจำนวนผู้เข้าร่วมและคำขอ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/my-activities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11 / 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B · นักศึกษา: ค้นหาและเข้าร่วม</a:t>
            </a:r>
          </a:p>
        </p:txBody>
      </p:sp>
      <p:pic>
        <p:nvPicPr>
          <p:cNvPr id="3" name="ภาพหน้าจอ B07" descr="s14b-my-activities-join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B07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781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กิจกรรมที่ขอเข้าร่วม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2152904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สถานะของแต่ละคำขอ เช่น รออนุมัติ เข้าร่วมแล้ว มาแล้ว รอเช็กชื่อ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/my-activities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12 / 43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B · นักศึกษา: ค้นหาและเข้าร่วม</a:t>
            </a:r>
          </a:p>
        </p:txBody>
      </p:sp>
      <p:pic>
        <p:nvPicPr>
          <p:cNvPr id="3" name="ภาพหน้าจอ B08" descr="s15-notific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B08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การแจ้งเตือน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แจ้งผลการอนุมัติคำขอ และกด “อ่านทั้งหมดแล้ว” ได้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/notifications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13 / 43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B · นักศึกษา: ค้นหาและเข้าร่วม</a:t>
            </a:r>
          </a:p>
        </p:txBody>
      </p:sp>
      <p:pic>
        <p:nvPicPr>
          <p:cNvPr id="3" name="ภาพหน้าจอ B09" descr="s16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B09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โปรไฟล์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ข้อมูลบัญชี บทบาท สถานะ และจำนวนกิจกรรมที่สร้างและได้เข้าร่วม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/profile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14 / 43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B · นักศึกษา: ค้นหาและเข้าร่วม</a:t>
            </a:r>
          </a:p>
        </p:txBody>
      </p:sp>
      <p:pic>
        <p:nvPicPr>
          <p:cNvPr id="3" name="ภาพหน้าจอ B10" descr="s16b-profile-ed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B10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แก้ไขโปรไฟล์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แก้ชื่อ รหัสนักศึกษา อีเมล Bio รูปโปรไฟล์ และเปลี่ยนรหัสผ่าน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/profile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15 / 43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C · นักศึกษา: ผู้จัดกิจกรรม</a:t>
            </a:r>
          </a:p>
        </p:txBody>
      </p:sp>
      <p:pic>
        <p:nvPicPr>
          <p:cNvPr id="3" name="ภาพหน้าจอ C01" descr="s03-cre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C01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สร้างโพสต์กิจกรรม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ฟอร์มชื่อ หมวด รายละเอียด สถานที่ เวลาเริ่ม–สิ้นสุด และจำนวนคนที่รับ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 (เจ้าของโพสต์)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/activities/create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16 / 43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C · นักศึกษา: ผู้จัดกิจกรรม</a:t>
            </a:r>
          </a:p>
        </p:txBody>
      </p:sp>
      <p:pic>
        <p:nvPicPr>
          <p:cNvPr id="3" name="ภาพหน้าจอ C02" descr="s04-create-erro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C02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ตรวจข้อมูลไม่ผ่าน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ส่งฟอร์มว่าง ระบบสรุปรายการที่ต้องแก้ด้านบนและแจ้งใต้แต่ละช่อง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 (เจ้าของโพสต์)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/activities/create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17 / 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C · นักศึกษา: ผู้จัดกิจกรรม</a:t>
            </a:r>
          </a:p>
        </p:txBody>
      </p:sp>
      <p:pic>
        <p:nvPicPr>
          <p:cNvPr id="3" name="ภาพหน้าจอ C03" descr="s05-created-ow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C03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781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สร้างสำเร็จ (มุมมองเจ้าของ)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2152904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เจ้าของเห็นปุ่มจัดการคำขอ แก้ไขกิจกรรม และยกเลิกกิจกรรม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 (เจ้าของโพสต์)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/activities/12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18 / 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C · นักศึกษา: ผู้จัดกิจกรรม</a:t>
            </a:r>
          </a:p>
        </p:txBody>
      </p:sp>
      <p:pic>
        <p:nvPicPr>
          <p:cNvPr id="3" name="ภาพหน้าจอ C04" descr="s06-ed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C04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แก้ไขกิจกรรม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ฟอร์มเดิมพร้อมข้อมูลปัจจุบัน เปิดได้เฉพาะเจ้าของโพสต์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 (เจ้าของโพสต์)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/activities/12/edit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19 / 43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C · นักศึกษา: ผู้จัดกิจกรรม</a:t>
            </a:r>
          </a:p>
        </p:txBody>
      </p:sp>
      <p:pic>
        <p:nvPicPr>
          <p:cNvPr id="3" name="ภาพหน้าจอ C05" descr="s09-requests-pe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C05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คำขอรออนุมัติ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สรุปรออนุมัติ ผู้เข้าร่วม ที่ว่าง แท็บตามสถานะ และปุ่มอนุมัติ / ปฏิเสธ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 (เจ้าของโพสต์)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/activities/3/requests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20 / 43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C · นักศึกษา: ผู้จัดกิจกรรม</a:t>
            </a:r>
          </a:p>
        </p:txBody>
      </p:sp>
      <p:pic>
        <p:nvPicPr>
          <p:cNvPr id="3" name="ภาพหน้าจอ C06" descr="s10-request-approv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C06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อนุมัติคำขอแล้ว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ระบบแจ้งผล และอัปเดตจำนวนผู้เข้าร่วมเป็น 3/10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 (เจ้าของโพสต์)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/activities/3/requests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21 / 43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C · นักศึกษา: ผู้จัดกิจกรรม</a:t>
            </a:r>
          </a:p>
        </p:txBody>
      </p:sp>
      <p:pic>
        <p:nvPicPr>
          <p:cNvPr id="3" name="ภาพหน้าจอ C07" descr="s11-requests-attend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C07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สมาชิกที่อนุมัติแล้ว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แท็บอนุมัติแล้ว มีปุ่มเช็กชื่อ “มา” / “ขาด” ของแต่ละคน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 (เจ้าของโพสต์)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/activities/3/requests?status=approved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22 / 43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C · นักศึกษา: ผู้จัดกิจกรรม</a:t>
            </a:r>
          </a:p>
        </p:txBody>
      </p:sp>
      <p:pic>
        <p:nvPicPr>
          <p:cNvPr id="3" name="ภาพหน้าจอ C08" descr="s12-attendance-sav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C08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บันทึกการเช็กชื่อ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บันทึกว่า “มา” แล้ว ปุ่มแสดงสถานะที่เลือก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 (เจ้าของโพสต์)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/activities/3/requests?status=approved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23 / 43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C · นักศึกษา: ผู้จัดกิจกรรม</a:t>
            </a:r>
          </a:p>
        </p:txBody>
      </p:sp>
      <p:pic>
        <p:nvPicPr>
          <p:cNvPr id="3" name="ภาพหน้าจอ C09" descr="s13-cancell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C09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781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กิจกรรมที่ถูกยกเลิก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2152904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แสดงแถบยกเลิกแล้ว และไม่รับคำขอเข้าร่วมใหม่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 (เจ้าของโพสต์)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/activities/10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24 / 43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D · หลังจบกิจกรรม: รีวิวและรายงาน</a:t>
            </a:r>
          </a:p>
        </p:txBody>
      </p:sp>
      <p:pic>
        <p:nvPicPr>
          <p:cNvPr id="3" name="ภาพหน้าจอ D01" descr="s17-ended-deta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D01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กิจกรรมที่จบแล้ว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แสดงคะแนนเฉลี่ย และยืนยันว่าผู้ใช้อยู่ในรายชื่อผู้เข้าร่วม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/activities/11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25 / 43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D · หลังจบกิจกรรม: รีวิวและรายงาน</a:t>
            </a:r>
          </a:p>
        </p:txBody>
      </p:sp>
      <p:pic>
        <p:nvPicPr>
          <p:cNvPr id="3" name="ภาพหน้าจอ D02" descr="s18-reviews-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D02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781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รีวิวและฟอร์มให้คะแนน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2152904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ผู้ที่ถูกเช็กชื่อว่ามาให้คะแนน 1–5 ดาวพร้อมความคิดเห็นได้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/activities/11#reviews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26 / 43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D · หลังจบกิจกรรม: รีวิวและรายงาน</a:t>
            </a:r>
          </a:p>
        </p:txBody>
      </p:sp>
      <p:pic>
        <p:nvPicPr>
          <p:cNvPr id="3" name="ภาพหน้าจอ D03" descr="s19-review-s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D03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ส่งรีวิวแล้ว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รีวิวขึ้นในรายการ คะแนนเฉลี่ยอัปเดต และรีวิวซ้ำไม่ได้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/activities/11#reviews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27 / 43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D · หลังจบกิจกรรม: รีวิวและรายงาน</a:t>
            </a:r>
          </a:p>
        </p:txBody>
      </p:sp>
      <p:pic>
        <p:nvPicPr>
          <p:cNvPr id="3" name="ภาพหน้าจอ D04" descr="s20-report-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D04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781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ฟอร์มรายงานปัญหา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2152904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เลือกรายงานกิจกรรมหรือผู้ใช้ที่เกี่ยวข้อง พร้อมระบุเหตุผล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/activities/5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28 / 43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D · หลังจบกิจกรรม: รีวิวและรายงาน</a:t>
            </a:r>
          </a:p>
        </p:txBody>
      </p:sp>
      <p:pic>
        <p:nvPicPr>
          <p:cNvPr id="3" name="ภาพหน้าจอ D05" descr="s21-report-s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D05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ส่งรายงานแล้ว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ระบบยืนยันการส่ง และรอผู้ดูแลระบบตรวจสอบ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/activities/5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29 / 43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E · ผู้ดูแลระบบ</a:t>
            </a:r>
          </a:p>
        </p:txBody>
      </p:sp>
      <p:pic>
        <p:nvPicPr>
          <p:cNvPr id="3" name="ภาพหน้าจอ E01" descr="a01-us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E01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จัดการผู้ใช้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สถิติสมาชิก 4 ช่อง ช่องค้นหา และตัวกรองสถานะบัญชี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admin@unimate.ac.th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/admin/users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30 / 43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E · ผู้ดูแลระบบ</a:t>
            </a:r>
          </a:p>
        </p:txBody>
      </p:sp>
      <p:pic>
        <p:nvPicPr>
          <p:cNvPr id="3" name="ภาพหน้าจอ E02" descr="a01b-users-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E02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ตารางผู้ใช้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รหัสนักศึกษา บทบาท สถานะ และปุ่มระงับบัญชีของแต่ละคน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admin@unimate.ac.th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/admin/users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31 / 43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E · ผู้ดูแลระบบ</a:t>
            </a:r>
          </a:p>
        </p:txBody>
      </p:sp>
      <p:pic>
        <p:nvPicPr>
          <p:cNvPr id="3" name="ภาพหน้าจอ E03" descr="a02-users-se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E03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ค้นหาผู้ใช้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ค้นด้วยชื่อ อีเมล หรือรหัสนักศึกษา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admin@unimate.ac.th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/admin/users?search=แพรว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32 / 43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E · ผู้ดูแลระบบ</a:t>
            </a:r>
          </a:p>
        </p:txBody>
      </p:sp>
      <p:pic>
        <p:nvPicPr>
          <p:cNvPr id="3" name="ภาพหน้าจอ E04" descr="a03-user-suspend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E04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ระงับบัญชี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สถานะเปลี่ยนเป็นถูกระงับ ปุ่มเปลี่ยนเป็นเปิดใช้งาน และสถิติอัปเดต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admin@unimate.ac.th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/admin/users?search=แพรว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33 / 43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E · ผู้ดูแลระบบ</a:t>
            </a:r>
          </a:p>
        </p:txBody>
      </p:sp>
      <p:pic>
        <p:nvPicPr>
          <p:cNvPr id="3" name="ภาพหน้าจอ E05" descr="a04-categor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E05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จัดการหมวดหมู่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เพิ่ม เปลี่ยนชื่อ และลบหมวดหมู่ ปุ่มลบปิดเมื่อหมวดยังมีกิจกรรม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admin@unimate.ac.th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/admin/categories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34 / 43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E · ผู้ดูแลระบบ</a:t>
            </a:r>
          </a:p>
        </p:txBody>
      </p:sp>
      <p:pic>
        <p:nvPicPr>
          <p:cNvPr id="3" name="ภาพหน้าจอ E06" descr="a05-category-add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E06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เพิ่มหมวดหมู่แล้ว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เพิ่มหมวด “บอร์ดเกม” ระบบตรวจชื่อไม่ให้ซ้ำ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admin@unimate.ac.th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/admin/categories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35 / 43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E · ผู้ดูแลระบบ</a:t>
            </a:r>
          </a:p>
        </p:txBody>
      </p:sp>
      <p:pic>
        <p:nvPicPr>
          <p:cNvPr id="3" name="ภาพหน้าจอ E07" descr="a06-repor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E07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รายงานรอตรวจ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แท็บตามสถานะ รายละเอียดผู้รายงาน เหตุผล และปุ่มซ่อน / ยกรายงาน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admin@unimate.ac.th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/admin/reports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36 / 43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E · ผู้ดูแลระบบ</a:t>
            </a:r>
          </a:p>
        </p:txBody>
      </p:sp>
      <p:pic>
        <p:nvPicPr>
          <p:cNvPr id="3" name="ภาพหน้าจอ E08" descr="a07-report-resolv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E08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781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ดำเนินการกับรายงาน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2152904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ซ่อนกิจกรรมพร้อมบันทึกเหตุผล จำนวนรายงานรอตรวจลดลง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admin@unimate.ac.th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/admin/reports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37 / 43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E · ผู้ดูแลระบบ</a:t>
            </a:r>
          </a:p>
        </p:txBody>
      </p:sp>
      <p:pic>
        <p:nvPicPr>
          <p:cNvPr id="3" name="ภาพหน้าจอ E09" descr="a08-reports-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E09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รายงานทั้งหมด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รายงานที่ดำเนินการแล้วแสดงผู้ดำเนินการ เวลา และเหตุผล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admin@unimate.ac.th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/admin/reports?status=all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38 / 43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E · ผู้ดูแลระบบ</a:t>
            </a:r>
          </a:p>
        </p:txBody>
      </p:sp>
      <p:pic>
        <p:nvPicPr>
          <p:cNvPr id="3" name="ภาพหน้าจอ E10" descr="a09-moderation-lo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E10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781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กิจกรรมที่ซ่อนและประวัติ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2152904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เลิกซ่อนกิจกรรมได้พร้อมเหตุผล และดูประวัติการดำเนินการทั้งหมด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admin@unimate.ac.th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/admin/reports?status=all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39 / 43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E · ผู้ดูแลระบบ</a:t>
            </a:r>
          </a:p>
        </p:txBody>
      </p:sp>
      <p:pic>
        <p:nvPicPr>
          <p:cNvPr id="3" name="ภาพหน้าจอ E11" descr="a10-hidden-activ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E11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กิจกรรมที่ถูกซ่อน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ผู้ดูแลเห็นแถบเหตุผลการซ่อน ผู้ใช้ทั่วไปจะไม่เห็นกิจกรรมนี้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admin@unimate.ac.th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/activities/5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40 / 43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F · สิทธิ์และหน้าข้อผิดพลาด</a:t>
            </a:r>
          </a:p>
        </p:txBody>
      </p:sp>
      <p:pic>
        <p:nvPicPr>
          <p:cNvPr id="3" name="ภาพหน้าจอ F01" descr="s22-4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F01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781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ไม่มีสิทธิ์เข้าถึง (403)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2152904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นักศึกษาเปิดหน้าผู้ดูแลระบบโดยพิมพ์ URL เอง ระบบปฏิเสธ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/admin/users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41 / 43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F · สิทธิ์และหน้าข้อผิดพลาด</a:t>
            </a:r>
          </a:p>
        </p:txBody>
      </p:sp>
      <p:pic>
        <p:nvPicPr>
          <p:cNvPr id="3" name="ภาพหน้าจอ F02" descr="s23-4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8636000" cy="4857750"/>
          </a:xfrm>
          <a:prstGeom prst="rect">
            <a:avLst/>
          </a:prstGeom>
          <a:ln w="12700">
            <a:solidFill>
              <a:srgbClr val="D6DAE1"/>
            </a:solidFill>
          </a:ln>
        </p:spPr>
      </p:pic>
      <p:sp>
        <p:nvSpPr>
          <p:cNvPr id="4" name="Rect 3"/>
          <p:cNvSpPr/>
          <p:nvPr/>
        </p:nvSpPr>
        <p:spPr>
          <a:xfrm>
            <a:off x="9398000" y="698500"/>
            <a:ext cx="2286000" cy="406400"/>
          </a:xfrm>
          <a:prstGeom prst="roundRect">
            <a:avLst>
              <a:gd name="adj" fmla="val 21875"/>
            </a:avLst>
          </a:prstGeom>
          <a:solidFill>
            <a:srgbClr val="E8470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" b="1" lang="th-TH" altLang="en-US">
                <a:solidFill>
                  <a:srgbClr val="FFFFFF"/>
                </a:solidFill>
                <a:latin typeface="Mitr"/>
                <a:ea typeface="Mitr"/>
                <a:cs typeface="Mitr"/>
              </a:rPr>
              <a:t>F02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398000" y="1270000"/>
            <a:ext cx="2286000" cy="4224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ไม่พบหน้า (404)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9398000" y="1794002"/>
            <a:ext cx="2286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4B5563"/>
                </a:solidFill>
                <a:latin typeface="Sarabun"/>
                <a:ea typeface="Sarabun"/>
                <a:cs typeface="Sarabun"/>
              </a:rPr>
              <a:t>เปิดกิจกรรมที่ไม่มีอยู่ ระบบแสดงหน้า 404 พร้อมปุ่มกลับ</a:t>
            </a:r>
          </a:p>
        </p:txBody>
      </p:sp>
      <p:sp>
        <p:nvSpPr>
          <p:cNvPr id="7" name="บัญชีและ URL"/>
          <p:cNvSpPr txBox="1"/>
          <p:nvPr/>
        </p:nvSpPr>
        <p:spPr>
          <a:xfrm>
            <a:off x="9398000" y="4445000"/>
            <a:ext cx="22860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student@unimate.ac.th</a:t>
            </a:r>
          </a:p>
          <a:p>
            <a:pPr algn="l">
              <a:lnSpc>
                <a:spcPct val="100000"/>
              </a:lnSpc>
            </a:pPr>
            <a:r>
              <a:rPr sz="1100" b="1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URL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/activities/99999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42 / 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508000" y="2921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th-TH" altLang="en-US">
                <a:solidFill>
                  <a:srgbClr val="E8470C"/>
                </a:solidFill>
                <a:latin typeface="Sarabun"/>
                <a:ea typeface="Sarabun"/>
                <a:cs typeface="Sarabun"/>
              </a:rPr>
              <a:t>ภาคผนวก G · มุมมองบนมือถือ</a:t>
            </a:r>
          </a:p>
        </p:txBody>
      </p:sp>
      <p:pic>
        <p:nvPicPr>
          <p:cNvPr id="3" name="มือถือ รายการกิจกรรม" descr="m01-mobile-activit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98500"/>
            <a:ext cx="2413000" cy="5219700"/>
          </a:xfrm>
          <a:prstGeom prst="rect">
            <a:avLst/>
          </a:prstGeom>
          <a:ln w="19050">
            <a:solidFill>
              <a:srgbClr val="131922"/>
            </a:solidFill>
          </a:ln>
        </p:spPr>
      </p:pic>
      <p:sp>
        <p:nvSpPr>
          <p:cNvPr id="4" name="Text 3"/>
          <p:cNvSpPr txBox="1"/>
          <p:nvPr/>
        </p:nvSpPr>
        <p:spPr>
          <a:xfrm>
            <a:off x="508000" y="5994400"/>
            <a:ext cx="2413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5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G01 รายการกิจกรรม</a:t>
            </a:r>
          </a:p>
        </p:txBody>
      </p:sp>
      <p:pic>
        <p:nvPicPr>
          <p:cNvPr id="5" name="มือถือ รายละเอียดกิจกรรม" descr="m02-mobile-det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698500"/>
            <a:ext cx="2413000" cy="5219700"/>
          </a:xfrm>
          <a:prstGeom prst="rect">
            <a:avLst/>
          </a:prstGeom>
          <a:ln w="19050">
            <a:solidFill>
              <a:srgbClr val="131922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3175000" y="5994400"/>
            <a:ext cx="2413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5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G02 รายละเอียดกิจกรรม</a:t>
            </a:r>
          </a:p>
        </p:txBody>
      </p:sp>
      <p:pic>
        <p:nvPicPr>
          <p:cNvPr id="7" name="มือถือ นัดของฉัน" descr="m03-mobile-m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0" y="698500"/>
            <a:ext cx="2413000" cy="5219700"/>
          </a:xfrm>
          <a:prstGeom prst="rect">
            <a:avLst/>
          </a:prstGeom>
          <a:ln w="19050">
            <a:solidFill>
              <a:srgbClr val="131922"/>
            </a:solidFill>
          </a:ln>
        </p:spPr>
      </p:pic>
      <p:sp>
        <p:nvSpPr>
          <p:cNvPr id="8" name="Text 7"/>
          <p:cNvSpPr txBox="1"/>
          <p:nvPr/>
        </p:nvSpPr>
        <p:spPr>
          <a:xfrm>
            <a:off x="5842000" y="5994400"/>
            <a:ext cx="2413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500" b="1" lang="th-TH" altLang="en-US">
                <a:solidFill>
                  <a:srgbClr val="131922"/>
                </a:solidFill>
                <a:latin typeface="Mitr"/>
                <a:ea typeface="Mitr"/>
                <a:cs typeface="Mitr"/>
              </a:rPr>
              <a:t>G03 นัดของฉัน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8636000" y="698500"/>
            <a:ext cx="3048000" cy="25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หน้าเดียวกันใช้บนมือถือได้: เมนูย้ายลงแถบล่าง มีปุ่มสร้างโพสต์ตรงกลาง การ์ดและตัวกรองเรียงเป็นคอลัมน์เดียว</a:t>
            </a:r>
          </a:p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50" b="0" lang="th-TH" altLang="en-US">
                <a:solidFill>
                  <a:srgbClr val="131922"/>
                </a:solidFill>
                <a:latin typeface="Sarabun"/>
                <a:ea typeface="Sarabun"/>
                <a:cs typeface="Sarabun"/>
              </a:rPr>
              <a:t>บัญชี student@unimate.ac.th · ความกว้างจอ 390px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508000" y="65151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UniMate · ภาคผนวกหน้าจอการทำงาน · กลุ่ม AI04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10414000" y="65151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th-TH" altLang="en-US">
                <a:solidFill>
                  <a:srgbClr val="6B7280"/>
                </a:solidFill>
                <a:latin typeface="Sarabun"/>
                <a:ea typeface="Sarabun"/>
                <a:cs typeface="Sarabun"/>
              </a:rPr>
              <a:t>43 / 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tr"/>
        <a:ea typeface=""/>
        <a:cs typeface="Mitr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Mitr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arabun"/>
        <a:ea typeface=""/>
        <a:cs typeface="Sarabun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Sarabun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UniMate ส่วนที่ 2 — ภาคผนวกหน้าจอ (V1)</dc:title>
  <dc:subject/>
  <dc:creator>กลุ่ม AI04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th-TH</dc:language>
</cp:coreProperties>
</file>