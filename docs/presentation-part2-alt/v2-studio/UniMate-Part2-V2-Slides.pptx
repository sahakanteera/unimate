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ชื่อโครงงาน UniMate ส่วนที่ 2 วันนี้จะเล่าผ่านผู้ใช้คนหนึ่ง แล้วเดโมเว็บจริง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ชื่อโครงงาน"/>
          <p:cNvSpPr txBox="1"/>
          <p:nvPr/>
        </p:nvSpPr>
        <p:spPr>
          <a:xfrm>
            <a:off x="508000" y="444500"/>
            <a:ext cx="82550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0000"/>
              </a:lnSpc>
            </a:pPr>
            <a:r>
              <a:rPr sz="15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UNIMATE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609600" y="2667000"/>
            <a:ext cx="5715000" cy="1168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3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เว็บแอปจับกลุ่มหาเพื่อน</a:t>
            </a:r>
          </a:p>
          <a:p>
            <a:pPr algn="l">
              <a:lnSpc>
                <a:spcPct val="88000"/>
              </a:lnSpc>
            </a:pPr>
            <a:r>
              <a:rPr sz="3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ร่วมทำกิจกรรมในมหาวิทยาลัย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609600" y="4064000"/>
            <a:ext cx="5461000" cy="624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6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ส่วนที่ 2 · เว็บแอปพลิเคชันที่พัฒนาเสร็จ</a:t>
            </a:r>
          </a:p>
          <a:p>
            <a:pPr algn="l">
              <a:lnSpc>
                <a:spcPct val="85000"/>
              </a:lnSpc>
            </a:pPr>
            <a:r>
              <a:rPr sz="16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ค้นหา ขอเข้าร่วม อนุมัติ เช็กชื่อ และรีวิว ในระบบเดียว</a:t>
            </a:r>
          </a:p>
        </p:txBody>
      </p:sp>
      <p:pic>
        <p:nvPicPr>
          <p:cNvPr id="5" name="มือถือ m-activities" descr="m-activities_0-0-390x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2540000"/>
            <a:ext cx="1467121" cy="3175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pic>
        <p:nvPicPr>
          <p:cNvPr id="6" name="มือถือ m-join" descr="m-join_0-0-390x8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349500"/>
            <a:ext cx="1467121" cy="3175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pic>
        <p:nvPicPr>
          <p:cNvPr id="7" name="มือถือ m-reviews" descr="m-reviews_0-0-390x8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2159000"/>
            <a:ext cx="1467121" cy="3175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8" name="เส้นล่างปก"/>
          <p:cNvSpPr/>
          <p:nvPr/>
        </p:nvSpPr>
        <p:spPr>
          <a:xfrm>
            <a:off x="609600" y="5905500"/>
            <a:ext cx="10972800" cy="12700"/>
          </a:xfrm>
          <a:prstGeom prst="rect">
            <a:avLst/>
          </a:prstGeom>
          <a:solidFill>
            <a:srgbClr val="615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ข้อมูลปก ซ้าย"/>
          <p:cNvSpPr txBox="1"/>
          <p:nvPr/>
        </p:nvSpPr>
        <p:spPr>
          <a:xfrm>
            <a:off x="609600" y="6032500"/>
            <a:ext cx="3556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AI04 × CP410805</a:t>
            </a:r>
          </a:p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15.10.2026</a:t>
            </a:r>
          </a:p>
        </p:txBody>
      </p:sp>
      <p:sp>
        <p:nvSpPr>
          <p:cNvPr id="10" name="ข้อมูลปก กลาง"/>
          <p:cNvSpPr txBox="1"/>
          <p:nvPr/>
        </p:nvSpPr>
        <p:spPr>
          <a:xfrm>
            <a:off x="4318000" y="6032500"/>
            <a:ext cx="3556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PART 2</a:t>
            </a:r>
          </a:p>
          <a:p>
            <a:pPr algn="ct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WEB APPLICATION</a:t>
            </a:r>
          </a:p>
        </p:txBody>
      </p:sp>
      <p:sp>
        <p:nvSpPr>
          <p:cNvPr id="11" name="ข้อมูลปก ขวา"/>
          <p:cNvSpPr txBox="1"/>
          <p:nvPr/>
        </p:nvSpPr>
        <p:spPr>
          <a:xfrm>
            <a:off x="8026400" y="6032500"/>
            <a:ext cx="3556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SEC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2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02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ชื่อโครงงานและสมาชิก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128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GROUP AI04 · SEC 1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1079500"/>
            <a:ext cx="4445000" cy="2556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7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ทีม</a:t>
            </a:r>
          </a:p>
          <a:p>
            <a:pPr algn="l">
              <a:lnSpc>
                <a:spcPct val="88000"/>
              </a:lnSpc>
            </a:pPr>
            <a:r>
              <a:rPr sz="7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ผู้พัฒนา</a:t>
            </a:r>
          </a:p>
        </p:txBody>
      </p:sp>
      <p:sp>
        <p:nvSpPr>
          <p:cNvPr id="10" name="เส้นสมาชิก"/>
          <p:cNvSpPr/>
          <p:nvPr/>
        </p:nvSpPr>
        <p:spPr>
          <a:xfrm>
            <a:off x="5715000" y="1270000"/>
            <a:ext cx="5867400" cy="127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10"/>
          <p:cNvSpPr txBox="1"/>
          <p:nvPr/>
        </p:nvSpPr>
        <p:spPr>
          <a:xfrm>
            <a:off x="5715000" y="14097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6413500" y="137160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000" b="1" lang="th-TH" altLang="en-US">
                <a:solidFill>
                  <a:srgbClr val="1C1C1C"/>
                </a:solidFill>
                <a:latin typeface="IBM Plex Sans Thai"/>
                <a:ea typeface="IBM Plex Sans Thai"/>
                <a:cs typeface="IBM Plex Sans Thai"/>
              </a:rPr>
              <a:t>นายภูริณัฐ ศรีไตรรัตน์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9906000" y="1422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663380531-2</a:t>
            </a:r>
          </a:p>
        </p:txBody>
      </p:sp>
      <p:sp>
        <p:nvSpPr>
          <p:cNvPr id="14" name="เส้นสมาชิก"/>
          <p:cNvSpPr/>
          <p:nvPr/>
        </p:nvSpPr>
        <p:spPr>
          <a:xfrm>
            <a:off x="5715000" y="2222500"/>
            <a:ext cx="5867400" cy="127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14"/>
          <p:cNvSpPr txBox="1"/>
          <p:nvPr/>
        </p:nvSpPr>
        <p:spPr>
          <a:xfrm>
            <a:off x="5715000" y="2362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6413500" y="232410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000" b="1" lang="th-TH" altLang="en-US">
                <a:solidFill>
                  <a:srgbClr val="1C1C1C"/>
                </a:solidFill>
                <a:latin typeface="IBM Plex Sans Thai"/>
                <a:ea typeface="IBM Plex Sans Thai"/>
                <a:cs typeface="IBM Plex Sans Thai"/>
              </a:rPr>
              <a:t>นายธนภัทร สรรพอาสา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9906000" y="23749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663380270-4</a:t>
            </a:r>
          </a:p>
        </p:txBody>
      </p:sp>
      <p:sp>
        <p:nvSpPr>
          <p:cNvPr id="18" name="เส้นสมาชิก"/>
          <p:cNvSpPr/>
          <p:nvPr/>
        </p:nvSpPr>
        <p:spPr>
          <a:xfrm>
            <a:off x="5715000" y="3175000"/>
            <a:ext cx="5867400" cy="127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18"/>
          <p:cNvSpPr txBox="1"/>
          <p:nvPr/>
        </p:nvSpPr>
        <p:spPr>
          <a:xfrm>
            <a:off x="5715000" y="33147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413500" y="327660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000" b="1" lang="th-TH" altLang="en-US">
                <a:solidFill>
                  <a:srgbClr val="1C1C1C"/>
                </a:solidFill>
                <a:latin typeface="IBM Plex Sans Thai"/>
                <a:ea typeface="IBM Plex Sans Thai"/>
                <a:cs typeface="IBM Plex Sans Thai"/>
              </a:rPr>
              <a:t>นายณัฐดนัย สมสวย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9906000" y="3327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663380034-6</a:t>
            </a:r>
          </a:p>
        </p:txBody>
      </p:sp>
      <p:sp>
        <p:nvSpPr>
          <p:cNvPr id="22" name="เส้นสมาชิก"/>
          <p:cNvSpPr/>
          <p:nvPr/>
        </p:nvSpPr>
        <p:spPr>
          <a:xfrm>
            <a:off x="5715000" y="4127500"/>
            <a:ext cx="5867400" cy="127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 22"/>
          <p:cNvSpPr txBox="1"/>
          <p:nvPr/>
        </p:nvSpPr>
        <p:spPr>
          <a:xfrm>
            <a:off x="5715000" y="4267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6413500" y="422910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000" b="1" lang="th-TH" altLang="en-US">
                <a:solidFill>
                  <a:srgbClr val="1C1C1C"/>
                </a:solidFill>
                <a:latin typeface="IBM Plex Sans Thai"/>
                <a:ea typeface="IBM Plex Sans Thai"/>
                <a:cs typeface="IBM Plex Sans Thai"/>
              </a:rPr>
              <a:t>นางสาวสหกานต์ธีรา สังข์ขาว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9906000" y="42799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663380296-6</a:t>
            </a:r>
          </a:p>
        </p:txBody>
      </p:sp>
      <p:sp>
        <p:nvSpPr>
          <p:cNvPr id="26" name="เส้นสมาชิก"/>
          <p:cNvSpPr/>
          <p:nvPr/>
        </p:nvSpPr>
        <p:spPr>
          <a:xfrm>
            <a:off x="5715000" y="5080000"/>
            <a:ext cx="5867400" cy="127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 26"/>
          <p:cNvSpPr txBox="1"/>
          <p:nvPr/>
        </p:nvSpPr>
        <p:spPr>
          <a:xfrm>
            <a:off x="5715000" y="52197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6413500" y="518160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000" b="1" lang="th-TH" altLang="en-US">
                <a:solidFill>
                  <a:srgbClr val="1C1C1C"/>
                </a:solidFill>
                <a:latin typeface="IBM Plex Sans Thai"/>
                <a:ea typeface="IBM Plex Sans Thai"/>
                <a:cs typeface="IBM Plex Sans Thai"/>
              </a:rPr>
              <a:t>นายอัษฎาวุธ เรือนแก้ว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9906000" y="5232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0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663380303-5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609600" y="6096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01 — หลักการและเหตุผล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609600" y="2286000"/>
            <a:ext cx="10972800" cy="24099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6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“เล่นบาส 18:00 สนามกลาง</a:t>
            </a:r>
          </a:p>
          <a:p>
            <a:pPr algn="l">
              <a:lnSpc>
                <a:spcPct val="88000"/>
              </a:lnSpc>
            </a:pPr>
            <a:r>
              <a:rPr sz="6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ขาดอีก 4 คน”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609600" y="4886493"/>
            <a:ext cx="10972800" cy="702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1" lang="th-TH" altLang="en-US">
                <a:solidFill>
                  <a:srgbClr val="9A860C"/>
                </a:solidFill>
                <a:latin typeface="Prompt"/>
                <a:ea typeface="Prompt"/>
                <a:cs typeface="Prompt"/>
              </a:rPr>
              <a:t>แล้วใครจะมาแน่?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609600" y="5905500"/>
            <a:ext cx="9525000" cy="2837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ตัวอย่างโพสต์ชวนกันในกลุ่มแชต ซึ่งเป็นที่มาของโครงงาน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04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01 · หลักการและเหตุผล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25500"/>
            <a:ext cx="10160000" cy="1533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กิจกรรมมีทุกวัน</a:t>
            </a:r>
          </a:p>
          <a:p>
            <a:pPr algn="l">
              <a:lnSpc>
                <a:spcPct val="88000"/>
              </a:lnSpc>
            </a:pPr>
            <a:r>
              <a:rPr sz="4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แต่การหาเพื่อนยังไม่เป็นระบบ</a:t>
            </a:r>
          </a:p>
        </p:txBody>
      </p:sp>
      <p:sp>
        <p:nvSpPr>
          <p:cNvPr id="9" name="เส้นหัวการ์ด"/>
          <p:cNvSpPr/>
          <p:nvPr/>
        </p:nvSpPr>
        <p:spPr>
          <a:xfrm>
            <a:off x="609600" y="2794000"/>
            <a:ext cx="3479800" cy="1905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9"/>
          <p:cNvSpPr txBox="1"/>
          <p:nvPr/>
        </p:nvSpPr>
        <p:spPr>
          <a:xfrm>
            <a:off x="609600" y="29464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09600" y="3302000"/>
            <a:ext cx="3479800" cy="507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ข้อมูลกระจัดกระจาย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609600" y="3937000"/>
            <a:ext cx="3302000" cy="552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โพสต์ชวนอยู่หลายกลุ่มแชต ถูกข้อความใหม่ดันหาย ค้นย้อนหลังยาก</a:t>
            </a:r>
          </a:p>
        </p:txBody>
      </p:sp>
      <p:sp>
        <p:nvSpPr>
          <p:cNvPr id="13" name="เส้นหัวการ์ด"/>
          <p:cNvSpPr/>
          <p:nvPr/>
        </p:nvSpPr>
        <p:spPr>
          <a:xfrm>
            <a:off x="4343400" y="2794000"/>
            <a:ext cx="3479800" cy="1905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13"/>
          <p:cNvSpPr txBox="1"/>
          <p:nvPr/>
        </p:nvSpPr>
        <p:spPr>
          <a:xfrm>
            <a:off x="4343400" y="29464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4343400" y="3302000"/>
            <a:ext cx="3479800" cy="507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จัดคนไม่ลงตัว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4343400" y="3937000"/>
            <a:ext cx="3302000" cy="552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ไม่รู้ว่ายังขาดกี่คน ใครยืนยันแล้ว และใครยังรอคำตอบ</a:t>
            </a:r>
          </a:p>
        </p:txBody>
      </p:sp>
      <p:sp>
        <p:nvSpPr>
          <p:cNvPr id="17" name="เส้นหัวการ์ด"/>
          <p:cNvSpPr/>
          <p:nvPr/>
        </p:nvSpPr>
        <p:spPr>
          <a:xfrm>
            <a:off x="8077200" y="2794000"/>
            <a:ext cx="3479800" cy="1905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"/>
          <p:cNvSpPr txBox="1"/>
          <p:nvPr/>
        </p:nvSpPr>
        <p:spPr>
          <a:xfrm>
            <a:off x="8077200" y="29464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8077200" y="3302000"/>
            <a:ext cx="3479800" cy="507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ขาดความน่าเชื่อถือ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8077200" y="3937000"/>
            <a:ext cx="3302000" cy="552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ไม่มีประวัติว่าใครมาจริง และไม่มีช่องทางแจ้งปัญหา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2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05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02 · วัตถุประสงค์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25500"/>
            <a:ext cx="5715000" cy="1171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6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วัตถุประสงค์</a:t>
            </a:r>
          </a:p>
        </p:txBody>
      </p:sp>
      <p:sp>
        <p:nvSpPr>
          <p:cNvPr id="9" name="เส้นหัวข้อ"/>
          <p:cNvSpPr/>
          <p:nvPr/>
        </p:nvSpPr>
        <p:spPr>
          <a:xfrm>
            <a:off x="609600" y="2540000"/>
            <a:ext cx="53340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9"/>
          <p:cNvSpPr txBox="1"/>
          <p:nvPr/>
        </p:nvSpPr>
        <p:spPr>
          <a:xfrm>
            <a:off x="609600" y="267970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308100" y="2628900"/>
            <a:ext cx="4635500" cy="46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4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รวมกิจกรรมไว้ในที่เดียว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1308100" y="3175000"/>
            <a:ext cx="4572000" cy="552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ค้นหาและเปรียบเทียบกิจกรรมในมหาวิทยาลัยได้จากหน้าเดียว</a:t>
            </a:r>
          </a:p>
        </p:txBody>
      </p:sp>
      <p:sp>
        <p:nvSpPr>
          <p:cNvPr id="13" name="เส้นหัวข้อ"/>
          <p:cNvSpPr/>
          <p:nvPr/>
        </p:nvSpPr>
        <p:spPr>
          <a:xfrm>
            <a:off x="6197600" y="2540000"/>
            <a:ext cx="53340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13"/>
          <p:cNvSpPr txBox="1"/>
          <p:nvPr/>
        </p:nvSpPr>
        <p:spPr>
          <a:xfrm>
            <a:off x="6197600" y="267970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6896100" y="2628900"/>
            <a:ext cx="4635500" cy="46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4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รับสมาชิกอย่างโปร่งใส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6896100" y="3175000"/>
            <a:ext cx="4572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เห็นจำนวนที่รับ ที่ว่าง สถานะคำขอ และรายชื่อผู้เข้าร่วม</a:t>
            </a:r>
          </a:p>
        </p:txBody>
      </p:sp>
      <p:sp>
        <p:nvSpPr>
          <p:cNvPr id="17" name="เส้นหัวข้อ"/>
          <p:cNvSpPr/>
          <p:nvPr/>
        </p:nvSpPr>
        <p:spPr>
          <a:xfrm>
            <a:off x="609600" y="4318000"/>
            <a:ext cx="53340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"/>
          <p:cNvSpPr txBox="1"/>
          <p:nvPr/>
        </p:nvSpPr>
        <p:spPr>
          <a:xfrm>
            <a:off x="609600" y="445770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1308100" y="4406900"/>
            <a:ext cx="4635500" cy="46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4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ลดปัญหาการนัดล่ม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1308100" y="4953000"/>
            <a:ext cx="4572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ยืนยันการเข้าร่วม เช็กชื่อ และให้คะแนนหลังจบกิจกรรม</a:t>
            </a:r>
          </a:p>
        </p:txBody>
      </p:sp>
      <p:sp>
        <p:nvSpPr>
          <p:cNvPr id="21" name="เส้นหัวข้อ"/>
          <p:cNvSpPr/>
          <p:nvPr/>
        </p:nvSpPr>
        <p:spPr>
          <a:xfrm>
            <a:off x="6197600" y="4318000"/>
            <a:ext cx="53340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"/>
          <p:cNvSpPr txBox="1"/>
          <p:nvPr/>
        </p:nvSpPr>
        <p:spPr>
          <a:xfrm>
            <a:off x="6197600" y="445770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896100" y="4406900"/>
            <a:ext cx="4635500" cy="46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4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ใช้งานได้จริงตามข้อกำหนด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6896100" y="4953000"/>
            <a:ext cx="4572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Laravel + SQLite/MySQL และผู้ใช้มากกว่า 1 ระดับ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06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03 · ฟังก์ชันระบบแบ่งตามผู้ใช้งาน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25500"/>
            <a:ext cx="10160000" cy="82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ผู้ใช้ 3 กลุ่ม สิทธิ์ต่างกัน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209550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3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GUEST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09600" y="2730500"/>
            <a:ext cx="3429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ผู้ยังไม่เข้าสู่ระบบ</a:t>
            </a:r>
          </a:p>
        </p:txBody>
      </p:sp>
      <p:sp>
        <p:nvSpPr>
          <p:cNvPr id="11" name="ขีด"/>
          <p:cNvSpPr txBox="1"/>
          <p:nvPr/>
        </p:nvSpPr>
        <p:spPr>
          <a:xfrm>
            <a:off x="609600" y="3238500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2" name="ข้อความ"/>
          <p:cNvSpPr txBox="1"/>
          <p:nvPr/>
        </p:nvSpPr>
        <p:spPr>
          <a:xfrm>
            <a:off x="889000" y="3238500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สมัครสมาชิกนักศึกษา</a:t>
            </a:r>
          </a:p>
        </p:txBody>
      </p:sp>
      <p:sp>
        <p:nvSpPr>
          <p:cNvPr id="13" name="ขีด"/>
          <p:cNvSpPr txBox="1"/>
          <p:nvPr/>
        </p:nvSpPr>
        <p:spPr>
          <a:xfrm>
            <a:off x="609600" y="3603676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4" name="ข้อความ"/>
          <p:cNvSpPr txBox="1"/>
          <p:nvPr/>
        </p:nvSpPr>
        <p:spPr>
          <a:xfrm>
            <a:off x="889000" y="3603676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เข้าสู่ระบบ</a:t>
            </a:r>
          </a:p>
        </p:txBody>
      </p:sp>
      <p:sp>
        <p:nvSpPr>
          <p:cNvPr id="15" name="ขีด"/>
          <p:cNvSpPr txBox="1"/>
          <p:nvPr/>
        </p:nvSpPr>
        <p:spPr>
          <a:xfrm>
            <a:off x="609600" y="3968852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6" name="ข้อความ"/>
          <p:cNvSpPr txBox="1"/>
          <p:nvPr/>
        </p:nvSpPr>
        <p:spPr>
          <a:xfrm>
            <a:off x="889000" y="3968852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บัญชีที่ถูกระงับเข้าไม่ได้</a:t>
            </a:r>
          </a:p>
        </p:txBody>
      </p:sp>
      <p:sp>
        <p:nvSpPr>
          <p:cNvPr id="17" name="เส้นแบ่ง"/>
          <p:cNvSpPr/>
          <p:nvPr/>
        </p:nvSpPr>
        <p:spPr>
          <a:xfrm>
            <a:off x="4203700" y="2095500"/>
            <a:ext cx="12700" cy="279400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"/>
          <p:cNvSpPr txBox="1"/>
          <p:nvPr/>
        </p:nvSpPr>
        <p:spPr>
          <a:xfrm>
            <a:off x="4343400" y="209550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3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STUDENT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4343400" y="2730500"/>
            <a:ext cx="3429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นักศึกษา (ผู้จัดและผู้เข้าร่วม)</a:t>
            </a:r>
          </a:p>
        </p:txBody>
      </p:sp>
      <p:sp>
        <p:nvSpPr>
          <p:cNvPr id="20" name="ขีด"/>
          <p:cNvSpPr txBox="1"/>
          <p:nvPr/>
        </p:nvSpPr>
        <p:spPr>
          <a:xfrm>
            <a:off x="4343400" y="3238500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21" name="ข้อความ"/>
          <p:cNvSpPr txBox="1"/>
          <p:nvPr/>
        </p:nvSpPr>
        <p:spPr>
          <a:xfrm>
            <a:off x="4622800" y="3238500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ค้นหา ขอเข้าร่วม ติดตามนัด</a:t>
            </a:r>
          </a:p>
        </p:txBody>
      </p:sp>
      <p:sp>
        <p:nvSpPr>
          <p:cNvPr id="22" name="ขีด"/>
          <p:cNvSpPr txBox="1"/>
          <p:nvPr/>
        </p:nvSpPr>
        <p:spPr>
          <a:xfrm>
            <a:off x="4343400" y="3603676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23" name="ข้อความ"/>
          <p:cNvSpPr txBox="1"/>
          <p:nvPr/>
        </p:nvSpPr>
        <p:spPr>
          <a:xfrm>
            <a:off x="4622800" y="3603676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สร้างและจัดการโพสต์ของตัวเอง</a:t>
            </a:r>
          </a:p>
        </p:txBody>
      </p:sp>
      <p:sp>
        <p:nvSpPr>
          <p:cNvPr id="24" name="ขีด"/>
          <p:cNvSpPr txBox="1"/>
          <p:nvPr/>
        </p:nvSpPr>
        <p:spPr>
          <a:xfrm>
            <a:off x="4343400" y="3968852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25" name="ข้อความ"/>
          <p:cNvSpPr txBox="1"/>
          <p:nvPr/>
        </p:nvSpPr>
        <p:spPr>
          <a:xfrm>
            <a:off x="4622800" y="3968852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อนุมัติคำขอ เช็กชื่อ</a:t>
            </a:r>
          </a:p>
        </p:txBody>
      </p:sp>
      <p:sp>
        <p:nvSpPr>
          <p:cNvPr id="26" name="ขีด"/>
          <p:cNvSpPr txBox="1"/>
          <p:nvPr/>
        </p:nvSpPr>
        <p:spPr>
          <a:xfrm>
            <a:off x="4343400" y="43340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27" name="ข้อความ"/>
          <p:cNvSpPr txBox="1"/>
          <p:nvPr/>
        </p:nvSpPr>
        <p:spPr>
          <a:xfrm>
            <a:off x="4622800" y="4334027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รีวิว รายงาน แจ้งเตือน</a:t>
            </a:r>
          </a:p>
        </p:txBody>
      </p:sp>
      <p:sp>
        <p:nvSpPr>
          <p:cNvPr id="28" name="เส้นแบ่ง"/>
          <p:cNvSpPr/>
          <p:nvPr/>
        </p:nvSpPr>
        <p:spPr>
          <a:xfrm>
            <a:off x="7937500" y="2095500"/>
            <a:ext cx="12700" cy="279400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 28"/>
          <p:cNvSpPr txBox="1"/>
          <p:nvPr/>
        </p:nvSpPr>
        <p:spPr>
          <a:xfrm>
            <a:off x="8077200" y="209550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3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ADMIN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8077200" y="2730500"/>
            <a:ext cx="3429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ผู้ดูแลระบบ</a:t>
            </a:r>
          </a:p>
        </p:txBody>
      </p:sp>
      <p:sp>
        <p:nvSpPr>
          <p:cNvPr id="31" name="ขีด"/>
          <p:cNvSpPr txBox="1"/>
          <p:nvPr/>
        </p:nvSpPr>
        <p:spPr>
          <a:xfrm>
            <a:off x="8077200" y="3238500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32" name="ข้อความ"/>
          <p:cNvSpPr txBox="1"/>
          <p:nvPr/>
        </p:nvSpPr>
        <p:spPr>
          <a:xfrm>
            <a:off x="8356600" y="3238500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สถิติ ค้นหา ระงับ/เปิดบัญชี</a:t>
            </a:r>
          </a:p>
        </p:txBody>
      </p:sp>
      <p:sp>
        <p:nvSpPr>
          <p:cNvPr id="33" name="ขีด"/>
          <p:cNvSpPr txBox="1"/>
          <p:nvPr/>
        </p:nvSpPr>
        <p:spPr>
          <a:xfrm>
            <a:off x="8077200" y="3603676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34" name="ข้อความ"/>
          <p:cNvSpPr txBox="1"/>
          <p:nvPr/>
        </p:nvSpPr>
        <p:spPr>
          <a:xfrm>
            <a:off x="8356600" y="3603676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เพิ่ม แก้ไข ลบหมวดหมู่</a:t>
            </a:r>
          </a:p>
        </p:txBody>
      </p:sp>
      <p:sp>
        <p:nvSpPr>
          <p:cNvPr id="35" name="ขีด"/>
          <p:cNvSpPr txBox="1"/>
          <p:nvPr/>
        </p:nvSpPr>
        <p:spPr>
          <a:xfrm>
            <a:off x="8077200" y="3968852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36" name="ข้อความ"/>
          <p:cNvSpPr txBox="1"/>
          <p:nvPr/>
        </p:nvSpPr>
        <p:spPr>
          <a:xfrm>
            <a:off x="8356600" y="3968852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ตรวจรายงาน ซ่อนกิจกรรม</a:t>
            </a:r>
          </a:p>
        </p:txBody>
      </p:sp>
      <p:sp>
        <p:nvSpPr>
          <p:cNvPr id="37" name="ขีด"/>
          <p:cNvSpPr txBox="1"/>
          <p:nvPr/>
        </p:nvSpPr>
        <p:spPr>
          <a:xfrm>
            <a:off x="8077200" y="43340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38" name="ข้อความ"/>
          <p:cNvSpPr txBox="1"/>
          <p:nvPr/>
        </p:nvSpPr>
        <p:spPr>
          <a:xfrm>
            <a:off x="8356600" y="4334027"/>
            <a:ext cx="3149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ดูประวัติการดำเนินการ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2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609600" y="6096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03 — ฟังก์ชันระบบ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609600" y="2032000"/>
            <a:ext cx="10972800" cy="29212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8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หนึ่งกิจกรรม</a:t>
            </a:r>
          </a:p>
          <a:p>
            <a:pPr algn="l">
              <a:lnSpc>
                <a:spcPct val="88000"/>
              </a:lnSpc>
            </a:pPr>
            <a:r>
              <a:rPr sz="8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ของนรินทร์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609600" y="5207203"/>
            <a:ext cx="9525000" cy="624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6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ตามบัญชีทดสอบ student@unimate.ac.th ตั้งแต่ค้นหาจนรีวิว แล้วดูมุมของผู้ดูแลระบบ</a:t>
            </a:r>
          </a:p>
          <a:p>
            <a:pPr algn="l">
              <a:lnSpc>
                <a:spcPct val="85000"/>
              </a:lnSpc>
            </a:pPr>
            <a:r>
              <a:rPr sz="16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ภาพทั้งหมดจากเว็บจริงบนมือถือ (ข้อมูลทดสอบ)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08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STEP 01 / 06 · หา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ลำดับขั้น"/>
          <p:cNvSpPr txBox="1"/>
          <p:nvPr/>
        </p:nvSpPr>
        <p:spPr>
          <a:xfrm>
            <a:off x="609600" y="8128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STEP 01 / 06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1117600"/>
            <a:ext cx="5588000" cy="16796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หากิจกรรม</a:t>
            </a:r>
          </a:p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ที่ใช่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09600" y="2898892"/>
            <a:ext cx="5461000" cy="3554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7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นรินทร์เปิดหน้ากิจกรรม แล้วกรองหมวดที่สนใจ</a:t>
            </a:r>
          </a:p>
        </p:txBody>
      </p:sp>
      <p:sp>
        <p:nvSpPr>
          <p:cNvPr id="11" name="ขีด"/>
          <p:cNvSpPr txBox="1"/>
          <p:nvPr/>
        </p:nvSpPr>
        <p:spPr>
          <a:xfrm>
            <a:off x="609600" y="34194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2" name="ข้อความ"/>
          <p:cNvSpPr txBox="1"/>
          <p:nvPr/>
        </p:nvSpPr>
        <p:spPr>
          <a:xfrm>
            <a:off x="889000" y="3419427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คำค้น หมวดหมู่ สถานที่ วันที่ สถานะ ใช้ร่วมกันได้</a:t>
            </a:r>
          </a:p>
        </p:txBody>
      </p:sp>
      <p:sp>
        <p:nvSpPr>
          <p:cNvPr id="13" name="ขีด"/>
          <p:cNvSpPr txBox="1"/>
          <p:nvPr/>
        </p:nvSpPr>
        <p:spPr>
          <a:xfrm>
            <a:off x="609600" y="3784603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4" name="ข้อความ"/>
          <p:cNvSpPr txBox="1"/>
          <p:nvPr/>
        </p:nvSpPr>
        <p:spPr>
          <a:xfrm>
            <a:off x="889000" y="3784603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กิจกรรมที่ยังไม่จบขึ้นก่อน หน้าละ 12 รายการ</a:t>
            </a:r>
          </a:p>
        </p:txBody>
      </p:sp>
      <p:sp>
        <p:nvSpPr>
          <p:cNvPr id="15" name="ขีด"/>
          <p:cNvSpPr txBox="1"/>
          <p:nvPr/>
        </p:nvSpPr>
        <p:spPr>
          <a:xfrm>
            <a:off x="609600" y="4149778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6" name="ข้อความ"/>
          <p:cNvSpPr txBox="1"/>
          <p:nvPr/>
        </p:nvSpPr>
        <p:spPr>
          <a:xfrm>
            <a:off x="889000" y="4149778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การ์ดบอกวัน เวลา สถานที่ และที่ว่าง</a:t>
            </a:r>
          </a:p>
        </p:txBody>
      </p:sp>
      <p:pic>
        <p:nvPicPr>
          <p:cNvPr id="17" name="มือถือ m-activities" descr="m-activities_0-0-390x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09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STEP 02 / 06 · ขอเข้าร่วม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ลำดับขั้น"/>
          <p:cNvSpPr txBox="1"/>
          <p:nvPr/>
        </p:nvSpPr>
        <p:spPr>
          <a:xfrm>
            <a:off x="609600" y="8128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STEP 02 / 06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1117600"/>
            <a:ext cx="5588000" cy="16796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ดูให้ครบ</a:t>
            </a:r>
          </a:p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แล้วขอเข้าร่วม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09600" y="2898892"/>
            <a:ext cx="5461000" cy="3554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7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หน้ารายละเอียดบอกทุกอย่างที่ต้องรู้ก่อนตัดสินใจ</a:t>
            </a:r>
          </a:p>
        </p:txBody>
      </p:sp>
      <p:sp>
        <p:nvSpPr>
          <p:cNvPr id="11" name="ขีด"/>
          <p:cNvSpPr txBox="1"/>
          <p:nvPr/>
        </p:nvSpPr>
        <p:spPr>
          <a:xfrm>
            <a:off x="609600" y="34194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2" name="ข้อความ"/>
          <p:cNvSpPr txBox="1"/>
          <p:nvPr/>
        </p:nvSpPr>
        <p:spPr>
          <a:xfrm>
            <a:off x="889000" y="3419427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วันเวลา สถานที่ จำนวนที่รับ และผู้จัด</a:t>
            </a:r>
          </a:p>
        </p:txBody>
      </p:sp>
      <p:sp>
        <p:nvSpPr>
          <p:cNvPr id="13" name="ขีด"/>
          <p:cNvSpPr txBox="1"/>
          <p:nvPr/>
        </p:nvSpPr>
        <p:spPr>
          <a:xfrm>
            <a:off x="609600" y="3784603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4" name="ข้อความ"/>
          <p:cNvSpPr txBox="1"/>
          <p:nvPr/>
        </p:nvSpPr>
        <p:spPr>
          <a:xfrm>
            <a:off x="889000" y="3784603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แนบข้อความถึงผู้จัดได้ไม่เกิน 500 ตัวอักษร</a:t>
            </a:r>
          </a:p>
        </p:txBody>
      </p:sp>
      <p:sp>
        <p:nvSpPr>
          <p:cNvPr id="15" name="ขีด"/>
          <p:cNvSpPr txBox="1"/>
          <p:nvPr/>
        </p:nvSpPr>
        <p:spPr>
          <a:xfrm>
            <a:off x="609600" y="4149778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6" name="ข้อความ"/>
          <p:cNvSpPr txBox="1"/>
          <p:nvPr/>
        </p:nvSpPr>
        <p:spPr>
          <a:xfrm>
            <a:off x="889000" y="4149778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หลังส่ง สถานะเป็น “รออนุมัติ” ถอนคำขอได้</a:t>
            </a:r>
          </a:p>
        </p:txBody>
      </p:sp>
      <p:pic>
        <p:nvPicPr>
          <p:cNvPr id="17" name="มือถือ m-detail" descr="m-detail_0-0-390x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pic>
        <p:nvPicPr>
          <p:cNvPr id="18" name="มือถือ m-join" descr="m-join_0-0-390x8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10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STEP 03 / 06 · จัดเอง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ลำดับขั้น"/>
          <p:cNvSpPr txBox="1"/>
          <p:nvPr/>
        </p:nvSpPr>
        <p:spPr>
          <a:xfrm>
            <a:off x="609600" y="8128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STEP 03 / 06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1117600"/>
            <a:ext cx="5588000" cy="16796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เป็นผู้จัด</a:t>
            </a:r>
          </a:p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ก็ได้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09600" y="2898892"/>
            <a:ext cx="5461000" cy="3554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7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นรินทร์สร้างโพสต์ของตัวเอง แล้วจัดการคำขอ</a:t>
            </a:r>
          </a:p>
        </p:txBody>
      </p:sp>
      <p:sp>
        <p:nvSpPr>
          <p:cNvPr id="11" name="ขีด"/>
          <p:cNvSpPr txBox="1"/>
          <p:nvPr/>
        </p:nvSpPr>
        <p:spPr>
          <a:xfrm>
            <a:off x="609600" y="34194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2" name="ข้อความ"/>
          <p:cNvSpPr txBox="1"/>
          <p:nvPr/>
        </p:nvSpPr>
        <p:spPr>
          <a:xfrm>
            <a:off x="889000" y="3419427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ระบบตรวจข้อมูลทั้งในฟอร์มและที่เซิร์ฟเวอร์</a:t>
            </a:r>
          </a:p>
        </p:txBody>
      </p:sp>
      <p:sp>
        <p:nvSpPr>
          <p:cNvPr id="13" name="ขีด"/>
          <p:cNvSpPr txBox="1"/>
          <p:nvPr/>
        </p:nvSpPr>
        <p:spPr>
          <a:xfrm>
            <a:off x="609600" y="3784603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4" name="ข้อความ"/>
          <p:cNvSpPr txBox="1"/>
          <p:nvPr/>
        </p:nvSpPr>
        <p:spPr>
          <a:xfrm>
            <a:off x="889000" y="3784603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อนุมัติ/ปฏิเสธได้ไม่เกินจำนวนที่รับ</a:t>
            </a:r>
          </a:p>
        </p:txBody>
      </p:sp>
      <p:sp>
        <p:nvSpPr>
          <p:cNvPr id="15" name="ขีด"/>
          <p:cNvSpPr txBox="1"/>
          <p:nvPr/>
        </p:nvSpPr>
        <p:spPr>
          <a:xfrm>
            <a:off x="609600" y="4149778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6" name="ข้อความ"/>
          <p:cNvSpPr txBox="1"/>
          <p:nvPr/>
        </p:nvSpPr>
        <p:spPr>
          <a:xfrm>
            <a:off x="889000" y="4149778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เช็กชื่อ มา / ขาด เฉพาะคนที่อนุมัติแล้ว</a:t>
            </a:r>
          </a:p>
        </p:txBody>
      </p:sp>
      <p:pic>
        <p:nvPicPr>
          <p:cNvPr id="17" name="มือถือ m-create" descr="m-create_0-0-390x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pic>
        <p:nvPicPr>
          <p:cNvPr id="18" name="มือถือ m-requests" descr="m-requests_0-0-390x8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11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STEP 04 / 06 · ติดตาม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ลำดับขั้น"/>
          <p:cNvSpPr txBox="1"/>
          <p:nvPr/>
        </p:nvSpPr>
        <p:spPr>
          <a:xfrm>
            <a:off x="609600" y="8128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STEP 04 / 06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1117600"/>
            <a:ext cx="5588000" cy="16796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ไม่พลาด</a:t>
            </a:r>
          </a:p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ทุกนัด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09600" y="2898892"/>
            <a:ext cx="5461000" cy="3554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7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นัดของฉัน กับการแจ้งเตือนในเว็บ</a:t>
            </a:r>
          </a:p>
        </p:txBody>
      </p:sp>
      <p:sp>
        <p:nvSpPr>
          <p:cNvPr id="11" name="ขีด"/>
          <p:cNvSpPr txBox="1"/>
          <p:nvPr/>
        </p:nvSpPr>
        <p:spPr>
          <a:xfrm>
            <a:off x="609600" y="34194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2" name="ข้อความ"/>
          <p:cNvSpPr txBox="1"/>
          <p:nvPr/>
        </p:nvSpPr>
        <p:spPr>
          <a:xfrm>
            <a:off x="889000" y="3419427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รวมกิจกรรมที่สร้างและที่ขอเข้าร่วม</a:t>
            </a:r>
          </a:p>
        </p:txBody>
      </p:sp>
      <p:sp>
        <p:nvSpPr>
          <p:cNvPr id="13" name="ขีด"/>
          <p:cNvSpPr txBox="1"/>
          <p:nvPr/>
        </p:nvSpPr>
        <p:spPr>
          <a:xfrm>
            <a:off x="609600" y="3784603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4" name="ข้อความ"/>
          <p:cNvSpPr txBox="1"/>
          <p:nvPr/>
        </p:nvSpPr>
        <p:spPr>
          <a:xfrm>
            <a:off x="889000" y="3784603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แจ้งเตือนเมื่อคำขอได้รับอนุมัติ/ปฏิเสธ</a:t>
            </a:r>
          </a:p>
        </p:txBody>
      </p:sp>
      <p:sp>
        <p:nvSpPr>
          <p:cNvPr id="15" name="ขีด"/>
          <p:cNvSpPr txBox="1"/>
          <p:nvPr/>
        </p:nvSpPr>
        <p:spPr>
          <a:xfrm>
            <a:off x="609600" y="4149778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6" name="ข้อความ"/>
          <p:cNvSpPr txBox="1"/>
          <p:nvPr/>
        </p:nvSpPr>
        <p:spPr>
          <a:xfrm>
            <a:off x="889000" y="4149778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แจ้งผลเมื่อผู้ดูแลตรวจรายงาน</a:t>
            </a:r>
          </a:p>
        </p:txBody>
      </p:sp>
      <p:pic>
        <p:nvPicPr>
          <p:cNvPr id="17" name="มือถือ m-my" descr="m-my_0-0-390x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pic>
        <p:nvPicPr>
          <p:cNvPr id="18" name="มือถือ m-notifications" descr="m-notifications_0-0-390x8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12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STEP 05 / 06 · เชื่อใจ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ลำดับขั้น"/>
          <p:cNvSpPr txBox="1"/>
          <p:nvPr/>
        </p:nvSpPr>
        <p:spPr>
          <a:xfrm>
            <a:off x="609600" y="8128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STEP 05 / 06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1117600"/>
            <a:ext cx="5588000" cy="16796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รีวิว</a:t>
            </a:r>
          </a:p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จากคนที่มาจริง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09600" y="2898892"/>
            <a:ext cx="5461000" cy="3554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7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หลังกิจกรรมจบ ความเชื่อใจมาจากข้อมูล ไม่ใช่คำพูด</a:t>
            </a:r>
          </a:p>
        </p:txBody>
      </p:sp>
      <p:sp>
        <p:nvSpPr>
          <p:cNvPr id="11" name="ขีด"/>
          <p:cNvSpPr txBox="1"/>
          <p:nvPr/>
        </p:nvSpPr>
        <p:spPr>
          <a:xfrm>
            <a:off x="609600" y="34194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2" name="ข้อความ"/>
          <p:cNvSpPr txBox="1"/>
          <p:nvPr/>
        </p:nvSpPr>
        <p:spPr>
          <a:xfrm>
            <a:off x="889000" y="3419427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รีวิวได้เมื่อจบแล้ว และถูกเช็กชื่อว่า “มา”</a:t>
            </a:r>
          </a:p>
        </p:txBody>
      </p:sp>
      <p:sp>
        <p:nvSpPr>
          <p:cNvPr id="13" name="ขีด"/>
          <p:cNvSpPr txBox="1"/>
          <p:nvPr/>
        </p:nvSpPr>
        <p:spPr>
          <a:xfrm>
            <a:off x="609600" y="3784603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4" name="ข้อความ"/>
          <p:cNvSpPr txBox="1"/>
          <p:nvPr/>
        </p:nvSpPr>
        <p:spPr>
          <a:xfrm>
            <a:off x="889000" y="3784603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คนละ 1 รีวิวต่อกิจกรรม ผู้จัดรีวิวตัวเองไม่ได้</a:t>
            </a:r>
          </a:p>
        </p:txBody>
      </p:sp>
      <p:sp>
        <p:nvSpPr>
          <p:cNvPr id="15" name="ขีด"/>
          <p:cNvSpPr txBox="1"/>
          <p:nvPr/>
        </p:nvSpPr>
        <p:spPr>
          <a:xfrm>
            <a:off x="609600" y="4149778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6" name="ข้อความ"/>
          <p:cNvSpPr txBox="1"/>
          <p:nvPr/>
        </p:nvSpPr>
        <p:spPr>
          <a:xfrm>
            <a:off x="889000" y="4149778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รายงานกิจกรรมหรือผู้ใช้ที่เกี่ยวข้องได้</a:t>
            </a:r>
          </a:p>
        </p:txBody>
      </p:sp>
      <p:pic>
        <p:nvPicPr>
          <p:cNvPr id="17" name="มือถือ m-reviews" descr="m-reviews_0-0-390x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13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STEP 06 / 06 · ผู้ดูแล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ลำดับขั้น"/>
          <p:cNvSpPr txBox="1"/>
          <p:nvPr/>
        </p:nvSpPr>
        <p:spPr>
          <a:xfrm>
            <a:off x="609600" y="8128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STEP 06 / 06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1117600"/>
            <a:ext cx="5588000" cy="16796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ผู้ดูแล</a:t>
            </a:r>
          </a:p>
          <a:p>
            <a:pPr algn="l">
              <a:lnSpc>
                <a:spcPct val="88000"/>
              </a:lnSpc>
            </a:pPr>
            <a:r>
              <a:rPr sz="4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ตัดสินพร้อมเหตุผล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09600" y="2898892"/>
            <a:ext cx="5461000" cy="3554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7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บัญชี admin@unimate.ac.th</a:t>
            </a:r>
          </a:p>
        </p:txBody>
      </p:sp>
      <p:sp>
        <p:nvSpPr>
          <p:cNvPr id="11" name="ขีด"/>
          <p:cNvSpPr txBox="1"/>
          <p:nvPr/>
        </p:nvSpPr>
        <p:spPr>
          <a:xfrm>
            <a:off x="609600" y="34194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2" name="ข้อความ"/>
          <p:cNvSpPr txBox="1"/>
          <p:nvPr/>
        </p:nvSpPr>
        <p:spPr>
          <a:xfrm>
            <a:off x="889000" y="3419427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ค้นหาบัญชี ระงับ / เปิดใช้งาน</a:t>
            </a:r>
          </a:p>
        </p:txBody>
      </p:sp>
      <p:sp>
        <p:nvSpPr>
          <p:cNvPr id="13" name="ขีด"/>
          <p:cNvSpPr txBox="1"/>
          <p:nvPr/>
        </p:nvSpPr>
        <p:spPr>
          <a:xfrm>
            <a:off x="609600" y="3784603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4" name="ข้อความ"/>
          <p:cNvSpPr txBox="1"/>
          <p:nvPr/>
        </p:nvSpPr>
        <p:spPr>
          <a:xfrm>
            <a:off x="889000" y="3784603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ตรวจรายงาน ซ่อนกิจกรรม หรือยกรายงาน</a:t>
            </a:r>
          </a:p>
        </p:txBody>
      </p:sp>
      <p:sp>
        <p:nvSpPr>
          <p:cNvPr id="15" name="ขีด"/>
          <p:cNvSpPr txBox="1"/>
          <p:nvPr/>
        </p:nvSpPr>
        <p:spPr>
          <a:xfrm>
            <a:off x="609600" y="4149778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6" name="ข้อความ"/>
          <p:cNvSpPr txBox="1"/>
          <p:nvPr/>
        </p:nvSpPr>
        <p:spPr>
          <a:xfrm>
            <a:off x="889000" y="4149778"/>
            <a:ext cx="5181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ทุกการตัดสินบันทึกเหตุผลและประวัติ</a:t>
            </a:r>
          </a:p>
        </p:txBody>
      </p:sp>
      <p:pic>
        <p:nvPicPr>
          <p:cNvPr id="17" name="มือถือ m-admin-users" descr="m-admin-users_0-0-390x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pic>
        <p:nvPicPr>
          <p:cNvPr id="18" name="มือถือ m-admin-reports" descr="m-admin-reports_0-0-390x8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1079500"/>
            <a:ext cx="2288709" cy="49530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2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14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03 · ลำดับการทำงาน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25500"/>
            <a:ext cx="10795000" cy="1171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6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จากโพสต์ ถึงรีวิว</a:t>
            </a:r>
          </a:p>
        </p:txBody>
      </p:sp>
      <p:sp>
        <p:nvSpPr>
          <p:cNvPr id="9" name="เส้นขั้น"/>
          <p:cNvSpPr/>
          <p:nvPr/>
        </p:nvSpPr>
        <p:spPr>
          <a:xfrm>
            <a:off x="609600" y="2667000"/>
            <a:ext cx="17018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9"/>
          <p:cNvSpPr txBox="1"/>
          <p:nvPr/>
        </p:nvSpPr>
        <p:spPr>
          <a:xfrm>
            <a:off x="609600" y="27940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09600" y="3175000"/>
            <a:ext cx="1701800" cy="4296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2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สร้างโพสต์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609600" y="3683000"/>
            <a:ext cx="1651000" cy="516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ผู้จัดกำหนดวัน เวลา สถานที่ จำนวนคน</a:t>
            </a:r>
          </a:p>
        </p:txBody>
      </p:sp>
      <p:sp>
        <p:nvSpPr>
          <p:cNvPr id="13" name="เส้นขั้น"/>
          <p:cNvSpPr/>
          <p:nvPr/>
        </p:nvSpPr>
        <p:spPr>
          <a:xfrm>
            <a:off x="2463800" y="2667000"/>
            <a:ext cx="17018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13"/>
          <p:cNvSpPr txBox="1"/>
          <p:nvPr/>
        </p:nvSpPr>
        <p:spPr>
          <a:xfrm>
            <a:off x="2463800" y="27940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2463800" y="3175000"/>
            <a:ext cx="1701800" cy="4296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2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ค้นหา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2463800" y="3683000"/>
            <a:ext cx="1651000" cy="516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กรองหมวด สถานที่ วันที่</a:t>
            </a:r>
          </a:p>
        </p:txBody>
      </p:sp>
      <p:sp>
        <p:nvSpPr>
          <p:cNvPr id="17" name="เส้นขั้น"/>
          <p:cNvSpPr/>
          <p:nvPr/>
        </p:nvSpPr>
        <p:spPr>
          <a:xfrm>
            <a:off x="4318000" y="2667000"/>
            <a:ext cx="17018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"/>
          <p:cNvSpPr txBox="1"/>
          <p:nvPr/>
        </p:nvSpPr>
        <p:spPr>
          <a:xfrm>
            <a:off x="4318000" y="27940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4318000" y="3175000"/>
            <a:ext cx="1701800" cy="4296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2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ขอเข้าร่วม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4318000" y="3683000"/>
            <a:ext cx="1651000" cy="516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สถานะรออนุมัติ แนบข้อความได้</a:t>
            </a:r>
          </a:p>
        </p:txBody>
      </p:sp>
      <p:sp>
        <p:nvSpPr>
          <p:cNvPr id="21" name="เส้นขั้น"/>
          <p:cNvSpPr/>
          <p:nvPr/>
        </p:nvSpPr>
        <p:spPr>
          <a:xfrm>
            <a:off x="6172200" y="2667000"/>
            <a:ext cx="17018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"/>
          <p:cNvSpPr txBox="1"/>
          <p:nvPr/>
        </p:nvSpPr>
        <p:spPr>
          <a:xfrm>
            <a:off x="6172200" y="27940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172200" y="3175000"/>
            <a:ext cx="1701800" cy="4296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2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อนุมัติ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6172200" y="3683000"/>
            <a:ext cx="1651000" cy="516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ไม่เกินจำนวนที่รับ ผู้ขอได้แจ้งเตือน</a:t>
            </a:r>
          </a:p>
        </p:txBody>
      </p:sp>
      <p:sp>
        <p:nvSpPr>
          <p:cNvPr id="25" name="เส้นขั้น"/>
          <p:cNvSpPr/>
          <p:nvPr/>
        </p:nvSpPr>
        <p:spPr>
          <a:xfrm>
            <a:off x="8026400" y="2667000"/>
            <a:ext cx="17018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 25"/>
          <p:cNvSpPr txBox="1"/>
          <p:nvPr/>
        </p:nvSpPr>
        <p:spPr>
          <a:xfrm>
            <a:off x="8026400" y="27940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8026400" y="3175000"/>
            <a:ext cx="1701800" cy="4296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2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เช็กชื่อ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8026400" y="3683000"/>
            <a:ext cx="1651000" cy="2837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มา / ขาด</a:t>
            </a:r>
          </a:p>
        </p:txBody>
      </p:sp>
      <p:sp>
        <p:nvSpPr>
          <p:cNvPr id="29" name="เส้นขั้น"/>
          <p:cNvSpPr/>
          <p:nvPr/>
        </p:nvSpPr>
        <p:spPr>
          <a:xfrm>
            <a:off x="9880600" y="2667000"/>
            <a:ext cx="17018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 29"/>
          <p:cNvSpPr txBox="1"/>
          <p:nvPr/>
        </p:nvSpPr>
        <p:spPr>
          <a:xfrm>
            <a:off x="9880600" y="2794000"/>
            <a:ext cx="127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9880600" y="3175000"/>
            <a:ext cx="1701800" cy="4296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2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รีวิว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9880600" y="3683000"/>
            <a:ext cx="1651000" cy="516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หลังจบ เฉพาะคนที่มาจริง</a:t>
            </a:r>
          </a:p>
        </p:txBody>
      </p:sp>
      <p:sp>
        <p:nvSpPr>
          <p:cNvPr id="33" name="เส้นคั่น"/>
          <p:cNvSpPr/>
          <p:nvPr/>
        </p:nvSpPr>
        <p:spPr>
          <a:xfrm>
            <a:off x="609600" y="52070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 33"/>
          <p:cNvSpPr txBox="1"/>
          <p:nvPr/>
        </p:nvSpPr>
        <p:spPr>
          <a:xfrm>
            <a:off x="609600" y="5372100"/>
            <a:ext cx="10972800" cy="319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500" b="1" lang="th-TH" altLang="en-US">
                <a:solidFill>
                  <a:srgbClr val="1C1C1C"/>
                </a:solidFill>
                <a:latin typeface="IBM Plex Sans Thai"/>
                <a:ea typeface="IBM Plex Sans Thai"/>
                <a:cs typeface="IBM Plex Sans Thai"/>
              </a:rPr>
              <a:t>ทุกขั้นตอน: พบปัญหา — รายงานกิจกรรมหรือผู้ใช้ — ผู้ดูแลตรวจ ซ่อน/ระงับ/ยกรายงาน — แจ้งผลผู้รายงาน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15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04 · ขอบเขตระบบ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25500"/>
            <a:ext cx="10160000" cy="976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5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ขอบเขตระบบ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209550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ทำแล้ว</a:t>
            </a:r>
          </a:p>
        </p:txBody>
      </p:sp>
      <p:sp>
        <p:nvSpPr>
          <p:cNvPr id="10" name="ขีด"/>
          <p:cNvSpPr txBox="1"/>
          <p:nvPr/>
        </p:nvSpPr>
        <p:spPr>
          <a:xfrm>
            <a:off x="609600" y="2667000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1" name="ข้อความ"/>
          <p:cNvSpPr txBox="1"/>
          <p:nvPr/>
        </p:nvSpPr>
        <p:spPr>
          <a:xfrm>
            <a:off x="889000" y="2667000"/>
            <a:ext cx="5435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บัญชี 2 บทบาท (นักศึกษา / ผู้ดูแล) และการระงับบัญชี</a:t>
            </a:r>
          </a:p>
        </p:txBody>
      </p:sp>
      <p:sp>
        <p:nvSpPr>
          <p:cNvPr id="12" name="ขีด"/>
          <p:cNvSpPr txBox="1"/>
          <p:nvPr/>
        </p:nvSpPr>
        <p:spPr>
          <a:xfrm>
            <a:off x="609600" y="3006776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3" name="ข้อความ"/>
          <p:cNvSpPr txBox="1"/>
          <p:nvPr/>
        </p:nvSpPr>
        <p:spPr>
          <a:xfrm>
            <a:off x="889000" y="3006776"/>
            <a:ext cx="5435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โพสต์: สร้าง แก้ไข ยกเลิก ค้นหา กรอง</a:t>
            </a:r>
          </a:p>
        </p:txBody>
      </p:sp>
      <p:sp>
        <p:nvSpPr>
          <p:cNvPr id="14" name="ขีด"/>
          <p:cNvSpPr txBox="1"/>
          <p:nvPr/>
        </p:nvSpPr>
        <p:spPr>
          <a:xfrm>
            <a:off x="609600" y="3346552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5" name="ข้อความ"/>
          <p:cNvSpPr txBox="1"/>
          <p:nvPr/>
        </p:nvSpPr>
        <p:spPr>
          <a:xfrm>
            <a:off x="889000" y="3346552"/>
            <a:ext cx="5435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คำขอเข้าร่วม อนุมัติ/ปฏิเสธ ตามจำนวนที่รับ</a:t>
            </a:r>
          </a:p>
        </p:txBody>
      </p:sp>
      <p:sp>
        <p:nvSpPr>
          <p:cNvPr id="16" name="ขีด"/>
          <p:cNvSpPr txBox="1"/>
          <p:nvPr/>
        </p:nvSpPr>
        <p:spPr>
          <a:xfrm>
            <a:off x="609600" y="36863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7" name="ข้อความ"/>
          <p:cNvSpPr txBox="1"/>
          <p:nvPr/>
        </p:nvSpPr>
        <p:spPr>
          <a:xfrm>
            <a:off x="889000" y="3686327"/>
            <a:ext cx="5435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เช็กชื่อ นัดของฉัน แจ้งเตือนในเว็บ</a:t>
            </a:r>
          </a:p>
        </p:txBody>
      </p:sp>
      <p:sp>
        <p:nvSpPr>
          <p:cNvPr id="18" name="ขีด"/>
          <p:cNvSpPr txBox="1"/>
          <p:nvPr/>
        </p:nvSpPr>
        <p:spPr>
          <a:xfrm>
            <a:off x="609600" y="4026103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19" name="ข้อความ"/>
          <p:cNvSpPr txBox="1"/>
          <p:nvPr/>
        </p:nvSpPr>
        <p:spPr>
          <a:xfrm>
            <a:off x="889000" y="4026103"/>
            <a:ext cx="5435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รีวิว รายงาน และการตรวจของผู้ดูแล</a:t>
            </a:r>
          </a:p>
        </p:txBody>
      </p:sp>
      <p:sp>
        <p:nvSpPr>
          <p:cNvPr id="20" name="ขีด"/>
          <p:cNvSpPr txBox="1"/>
          <p:nvPr/>
        </p:nvSpPr>
        <p:spPr>
          <a:xfrm>
            <a:off x="609600" y="4365879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21" name="ข้อความ"/>
          <p:cNvSpPr txBox="1"/>
          <p:nvPr/>
        </p:nvSpPr>
        <p:spPr>
          <a:xfrm>
            <a:off x="889000" y="4365879"/>
            <a:ext cx="54356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เว็บเบราว์เซอร์ ทั้งคอมพิวเตอร์และมือถือ</a:t>
            </a:r>
          </a:p>
        </p:txBody>
      </p:sp>
      <p:sp>
        <p:nvSpPr>
          <p:cNvPr id="22" name="เส้นแบ่ง"/>
          <p:cNvSpPr/>
          <p:nvPr/>
        </p:nvSpPr>
        <p:spPr>
          <a:xfrm>
            <a:off x="6731000" y="2095500"/>
            <a:ext cx="12700" cy="393700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 22"/>
          <p:cNvSpPr txBox="1"/>
          <p:nvPr/>
        </p:nvSpPr>
        <p:spPr>
          <a:xfrm>
            <a:off x="6985000" y="2095500"/>
            <a:ext cx="444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600" b="1" lang="th-TH" altLang="en-US">
                <a:solidFill>
                  <a:srgbClr val="9A860C"/>
                </a:solidFill>
                <a:latin typeface="Prompt"/>
                <a:ea typeface="Prompt"/>
                <a:cs typeface="Prompt"/>
              </a:rPr>
              <a:t>ไม่ได้ทำ</a:t>
            </a:r>
          </a:p>
        </p:txBody>
      </p:sp>
      <p:sp>
        <p:nvSpPr>
          <p:cNvPr id="24" name="ขีด"/>
          <p:cNvSpPr txBox="1"/>
          <p:nvPr/>
        </p:nvSpPr>
        <p:spPr>
          <a:xfrm>
            <a:off x="6985000" y="2667000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25" name="ข้อความ"/>
          <p:cNvSpPr txBox="1"/>
          <p:nvPr/>
        </p:nvSpPr>
        <p:spPr>
          <a:xfrm>
            <a:off x="7264400" y="2667000"/>
            <a:ext cx="4318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ซื้อขายสินค้าและชำระเงิน (ข้อห้ามของวิชา)</a:t>
            </a:r>
          </a:p>
        </p:txBody>
      </p:sp>
      <p:sp>
        <p:nvSpPr>
          <p:cNvPr id="26" name="ขีด"/>
          <p:cNvSpPr txBox="1"/>
          <p:nvPr/>
        </p:nvSpPr>
        <p:spPr>
          <a:xfrm>
            <a:off x="6985000" y="3006776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27" name="ข้อความ"/>
          <p:cNvSpPr txBox="1"/>
          <p:nvPr/>
        </p:nvSpPr>
        <p:spPr>
          <a:xfrm>
            <a:off x="7264400" y="3006776"/>
            <a:ext cx="4318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แชตระหว่างผู้ใช้</a:t>
            </a:r>
          </a:p>
        </p:txBody>
      </p:sp>
      <p:sp>
        <p:nvSpPr>
          <p:cNvPr id="28" name="ขีด"/>
          <p:cNvSpPr txBox="1"/>
          <p:nvPr/>
        </p:nvSpPr>
        <p:spPr>
          <a:xfrm>
            <a:off x="6985000" y="3346552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29" name="ข้อความ"/>
          <p:cNvSpPr txBox="1"/>
          <p:nvPr/>
        </p:nvSpPr>
        <p:spPr>
          <a:xfrm>
            <a:off x="7264400" y="3346552"/>
            <a:ext cx="4318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แจ้งเตือนทางอีเมลหรือพุช</a:t>
            </a:r>
          </a:p>
        </p:txBody>
      </p:sp>
      <p:sp>
        <p:nvSpPr>
          <p:cNvPr id="30" name="ขีด"/>
          <p:cNvSpPr txBox="1"/>
          <p:nvPr/>
        </p:nvSpPr>
        <p:spPr>
          <a:xfrm>
            <a:off x="6985000" y="3686327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31" name="ข้อความ"/>
          <p:cNvSpPr txBox="1"/>
          <p:nvPr/>
        </p:nvSpPr>
        <p:spPr>
          <a:xfrm>
            <a:off x="7264400" y="3686327"/>
            <a:ext cx="4318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อัปโหลดรูปกิจกรรม และแผนที่</a:t>
            </a:r>
          </a:p>
        </p:txBody>
      </p:sp>
      <p:sp>
        <p:nvSpPr>
          <p:cNvPr id="32" name="ขีด"/>
          <p:cNvSpPr txBox="1"/>
          <p:nvPr/>
        </p:nvSpPr>
        <p:spPr>
          <a:xfrm>
            <a:off x="6985000" y="4026103"/>
            <a:ext cx="279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1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—</a:t>
            </a:r>
          </a:p>
        </p:txBody>
      </p:sp>
      <p:sp>
        <p:nvSpPr>
          <p:cNvPr id="33" name="ข้อความ"/>
          <p:cNvSpPr txBox="1"/>
          <p:nvPr/>
        </p:nvSpPr>
        <p:spPr>
          <a:xfrm>
            <a:off x="7264400" y="4026103"/>
            <a:ext cx="43180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เชื่อมบัญชีมหาวิทยาลัย / แอปมือถือ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16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04 · ขอบเขตระบบ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25500"/>
            <a:ext cx="10795000" cy="82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ระบบปฏิเสธที่เซิร์ฟเวอร์</a:t>
            </a:r>
          </a:p>
        </p:txBody>
      </p:sp>
      <p:sp>
        <p:nvSpPr>
          <p:cNvPr id="9" name="เส้นตาราง"/>
          <p:cNvSpPr/>
          <p:nvPr/>
        </p:nvSpPr>
        <p:spPr>
          <a:xfrm>
            <a:off x="609600" y="2032000"/>
            <a:ext cx="10972800" cy="635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9"/>
          <p:cNvSpPr txBox="1"/>
          <p:nvPr/>
        </p:nvSpPr>
        <p:spPr>
          <a:xfrm>
            <a:off x="609600" y="21463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แก้ไข/ยกเลิกโพสต์ของคนอื่น (รวม Admin)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7747000" y="217170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403 · ActivityPolicy</a:t>
            </a:r>
          </a:p>
        </p:txBody>
      </p:sp>
      <p:sp>
        <p:nvSpPr>
          <p:cNvPr id="12" name="เส้นตาราง"/>
          <p:cNvSpPr/>
          <p:nvPr/>
        </p:nvSpPr>
        <p:spPr>
          <a:xfrm>
            <a:off x="609600" y="26289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12"/>
          <p:cNvSpPr txBox="1"/>
          <p:nvPr/>
        </p:nvSpPr>
        <p:spPr>
          <a:xfrm>
            <a:off x="609600" y="27432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นักศึกษาเปิดหน้า /admin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7747000" y="276860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403 · Middleware admin</a:t>
            </a:r>
          </a:p>
        </p:txBody>
      </p:sp>
      <p:sp>
        <p:nvSpPr>
          <p:cNvPr id="15" name="เส้นตาราง"/>
          <p:cNvSpPr/>
          <p:nvPr/>
        </p:nvSpPr>
        <p:spPr>
          <a:xfrm>
            <a:off x="609600" y="32258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15"/>
          <p:cNvSpPr txBox="1"/>
          <p:nvPr/>
        </p:nvSpPr>
        <p:spPr>
          <a:xfrm>
            <a:off x="609600" y="33401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แก้ไขกิจกรรมที่ยกเลิกแล้ว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7747000" y="336550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409</a:t>
            </a:r>
          </a:p>
        </p:txBody>
      </p:sp>
      <p:sp>
        <p:nvSpPr>
          <p:cNvPr id="18" name="เส้นตาราง"/>
          <p:cNvSpPr/>
          <p:nvPr/>
        </p:nvSpPr>
        <p:spPr>
          <a:xfrm>
            <a:off x="609600" y="38227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18"/>
          <p:cNvSpPr txBox="1"/>
          <p:nvPr/>
        </p:nvSpPr>
        <p:spPr>
          <a:xfrm>
            <a:off x="609600" y="39370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ขอเข้าร่วมกิจกรรมที่เริ่มแล้ว ของตัวเอง ถูกซ่อน หรือเต็ม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7747000" y="396240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Gate join + isFull()</a:t>
            </a:r>
          </a:p>
        </p:txBody>
      </p:sp>
      <p:sp>
        <p:nvSpPr>
          <p:cNvPr id="21" name="เส้นตาราง"/>
          <p:cNvSpPr/>
          <p:nvPr/>
        </p:nvSpPr>
        <p:spPr>
          <a:xfrm>
            <a:off x="609600" y="44196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"/>
          <p:cNvSpPr txBox="1"/>
          <p:nvPr/>
        </p:nvSpPr>
        <p:spPr>
          <a:xfrm>
            <a:off x="609600" y="45339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อนุมัติเกินจำนวนที่รับ แม้กดพร้อมกัน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7747000" y="455930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transaction + lockForUpdate</a:t>
            </a:r>
          </a:p>
        </p:txBody>
      </p:sp>
      <p:sp>
        <p:nvSpPr>
          <p:cNvPr id="24" name="เส้นตาราง"/>
          <p:cNvSpPr/>
          <p:nvPr/>
        </p:nvSpPr>
        <p:spPr>
          <a:xfrm>
            <a:off x="609600" y="50165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24"/>
          <p:cNvSpPr txBox="1"/>
          <p:nvPr/>
        </p:nvSpPr>
        <p:spPr>
          <a:xfrm>
            <a:off x="609600" y="51308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รีวิวซ้ำ หรือรีวิวโดยไม่ได้มาจริง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7747000" y="515620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reviewBlockReason · unique</a:t>
            </a:r>
          </a:p>
        </p:txBody>
      </p:sp>
      <p:sp>
        <p:nvSpPr>
          <p:cNvPr id="27" name="เส้นตาราง"/>
          <p:cNvSpPr/>
          <p:nvPr/>
        </p:nvSpPr>
        <p:spPr>
          <a:xfrm>
            <a:off x="609600" y="56134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 27"/>
          <p:cNvSpPr txBox="1"/>
          <p:nvPr/>
        </p:nvSpPr>
        <p:spPr>
          <a:xfrm>
            <a:off x="609600" y="57277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บัญชีที่ถูกระงับใช้งานต่อ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7747000" y="575310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Middleware active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17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05 · โครงสร้างระบบ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25500"/>
            <a:ext cx="10795000" cy="702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เบื้องหลังที่ทำให้กฎเหล่านี้เป็นจริง</a:t>
            </a:r>
          </a:p>
        </p:txBody>
      </p:sp>
      <p:sp>
        <p:nvSpPr>
          <p:cNvPr id="9" name="เส้นชั้น"/>
          <p:cNvSpPr/>
          <p:nvPr/>
        </p:nvSpPr>
        <p:spPr>
          <a:xfrm>
            <a:off x="609600" y="1905000"/>
            <a:ext cx="5715000" cy="1270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9"/>
          <p:cNvSpPr txBox="1"/>
          <p:nvPr/>
        </p:nvSpPr>
        <p:spPr>
          <a:xfrm>
            <a:off x="609600" y="20574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VIEW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2286000" y="20193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Blade + Tailwind CSS + JavaScript</a:t>
            </a:r>
          </a:p>
        </p:txBody>
      </p:sp>
      <p:sp>
        <p:nvSpPr>
          <p:cNvPr id="12" name="เส้นชั้น"/>
          <p:cNvSpPr/>
          <p:nvPr/>
        </p:nvSpPr>
        <p:spPr>
          <a:xfrm>
            <a:off x="609600" y="2667000"/>
            <a:ext cx="57150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12"/>
          <p:cNvSpPr txBox="1"/>
          <p:nvPr/>
        </p:nvSpPr>
        <p:spPr>
          <a:xfrm>
            <a:off x="609600" y="28194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ROUTE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2286000" y="27813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Middleware auth · active · admin + CSRF</a:t>
            </a:r>
          </a:p>
        </p:txBody>
      </p:sp>
      <p:sp>
        <p:nvSpPr>
          <p:cNvPr id="15" name="เส้นชั้น"/>
          <p:cNvSpPr/>
          <p:nvPr/>
        </p:nvSpPr>
        <p:spPr>
          <a:xfrm>
            <a:off x="609600" y="3429000"/>
            <a:ext cx="57150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15"/>
          <p:cNvSpPr txBox="1"/>
          <p:nvPr/>
        </p:nvSpPr>
        <p:spPr>
          <a:xfrm>
            <a:off x="609600" y="35814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CONTROLLER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2286000" y="35433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Form Request · Policy / Gate · Notifications</a:t>
            </a:r>
          </a:p>
        </p:txBody>
      </p:sp>
      <p:sp>
        <p:nvSpPr>
          <p:cNvPr id="18" name="เส้นชั้น"/>
          <p:cNvSpPr/>
          <p:nvPr/>
        </p:nvSpPr>
        <p:spPr>
          <a:xfrm>
            <a:off x="609600" y="4191000"/>
            <a:ext cx="57150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18"/>
          <p:cNvSpPr txBox="1"/>
          <p:nvPr/>
        </p:nvSpPr>
        <p:spPr>
          <a:xfrm>
            <a:off x="609600" y="43434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MODEL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2286000" y="43053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Eloquent: belongsTo / hasMany</a:t>
            </a:r>
          </a:p>
        </p:txBody>
      </p:sp>
      <p:sp>
        <p:nvSpPr>
          <p:cNvPr id="21" name="เส้นชั้น"/>
          <p:cNvSpPr/>
          <p:nvPr/>
        </p:nvSpPr>
        <p:spPr>
          <a:xfrm>
            <a:off x="609600" y="4953000"/>
            <a:ext cx="57150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"/>
          <p:cNvSpPr txBox="1"/>
          <p:nvPr/>
        </p:nvSpPr>
        <p:spPr>
          <a:xfrm>
            <a:off x="609600" y="5105400"/>
            <a:ext cx="165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DATABASE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2286000" y="50673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SQLite (เปลี่ยนเป็น MySQL ได้จาก .env)</a:t>
            </a:r>
          </a:p>
        </p:txBody>
      </p:sp>
      <p:sp>
        <p:nvSpPr>
          <p:cNvPr id="24" name="เส้นแบ่ง"/>
          <p:cNvSpPr/>
          <p:nvPr/>
        </p:nvSpPr>
        <p:spPr>
          <a:xfrm>
            <a:off x="6731000" y="1905000"/>
            <a:ext cx="12700" cy="381000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24"/>
          <p:cNvSpPr txBox="1"/>
          <p:nvPr/>
        </p:nvSpPr>
        <p:spPr>
          <a:xfrm>
            <a:off x="6985000" y="1905000"/>
            <a:ext cx="4597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4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8 ตารางหลัก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6985000" y="2476500"/>
            <a:ext cx="4597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Mono"/>
                <a:ea typeface="IBM Plex Mono"/>
                <a:cs typeface="IBM Plex Mono"/>
              </a:rPr>
              <a:t>users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6985000" y="2870200"/>
            <a:ext cx="4597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categories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6985000" y="3263900"/>
            <a:ext cx="4597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Mono"/>
                <a:ea typeface="IBM Plex Mono"/>
                <a:cs typeface="IBM Plex Mono"/>
              </a:rPr>
              <a:t>activities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6985000" y="3657600"/>
            <a:ext cx="4597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F5D200"/>
                </a:solidFill>
                <a:latin typeface="IBM Plex Mono"/>
                <a:ea typeface="IBM Plex Mono"/>
                <a:cs typeface="IBM Plex Mono"/>
              </a:rPr>
              <a:t>activity_participants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6985000" y="4051300"/>
            <a:ext cx="4597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reviews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6985000" y="4445000"/>
            <a:ext cx="4597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reports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6985000" y="4838700"/>
            <a:ext cx="4597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moderation_logs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6985000" y="5232400"/>
            <a:ext cx="4597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notifications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609600" y="5905500"/>
            <a:ext cx="10972800" cy="265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นำสิ่งที่เรียนมาใช้: HTML/CSS · JavaScript · PHP · Laravel · Eloquent ORM · Authentication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2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18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CEB1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05 · การทดสอบ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ตัวเลขทดสอบ"/>
          <p:cNvSpPr txBox="1"/>
          <p:nvPr/>
        </p:nvSpPr>
        <p:spPr>
          <a:xfrm>
            <a:off x="508000" y="698500"/>
            <a:ext cx="5715000" cy="304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0000"/>
              </a:lnSpc>
            </a:pPr>
            <a:r>
              <a:rPr sz="21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52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9600" y="3810000"/>
            <a:ext cx="5207000" cy="10954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กรณีทดสอบอัตโนมัติ</a:t>
            </a:r>
          </a:p>
          <a:p>
            <a:pPr algn="l">
              <a:lnSpc>
                <a:spcPct val="88000"/>
              </a:lnSpc>
            </a:pPr>
            <a:r>
              <a:rPr sz="3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ผ่านทั้งหมด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09600" y="5207000"/>
            <a:ext cx="5207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216 ASSERTIONS · PEST + SQLITE IN-MEMORY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09600" y="5524500"/>
            <a:ext cx="5207000" cy="2837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รันด้วย php artisan test เมื่อ 10 ต.ค. 2569</a:t>
            </a:r>
          </a:p>
        </p:txBody>
      </p:sp>
      <p:sp>
        <p:nvSpPr>
          <p:cNvPr id="12" name="เส้นชุดทดสอบ"/>
          <p:cNvSpPr/>
          <p:nvPr/>
        </p:nvSpPr>
        <p:spPr>
          <a:xfrm>
            <a:off x="6350000" y="1270000"/>
            <a:ext cx="52324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12"/>
          <p:cNvSpPr txBox="1"/>
          <p:nvPr/>
        </p:nvSpPr>
        <p:spPr>
          <a:xfrm>
            <a:off x="6350000" y="1409700"/>
            <a:ext cx="523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ActivitiesTest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6350000" y="1778000"/>
            <a:ext cx="52324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สร้าง ค้นหา แก้ไข ยกเลิก ปลอมเจ้าของไม่ได้ หมวดหมู่</a:t>
            </a:r>
          </a:p>
        </p:txBody>
      </p:sp>
      <p:sp>
        <p:nvSpPr>
          <p:cNvPr id="15" name="เส้นชุดทดสอบ"/>
          <p:cNvSpPr/>
          <p:nvPr/>
        </p:nvSpPr>
        <p:spPr>
          <a:xfrm>
            <a:off x="6350000" y="2476500"/>
            <a:ext cx="52324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15"/>
          <p:cNvSpPr txBox="1"/>
          <p:nvPr/>
        </p:nvSpPr>
        <p:spPr>
          <a:xfrm>
            <a:off x="6350000" y="2616200"/>
            <a:ext cx="523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ParticipationTest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6350000" y="2984500"/>
            <a:ext cx="52324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ขอเข้าร่วม อนุมัติไม่เกินจำนวน เช็กชื่อ แจ้งเตือน</a:t>
            </a:r>
          </a:p>
        </p:txBody>
      </p:sp>
      <p:sp>
        <p:nvSpPr>
          <p:cNvPr id="18" name="เส้นชุดทดสอบ"/>
          <p:cNvSpPr/>
          <p:nvPr/>
        </p:nvSpPr>
        <p:spPr>
          <a:xfrm>
            <a:off x="6350000" y="3683000"/>
            <a:ext cx="52324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18"/>
          <p:cNvSpPr txBox="1"/>
          <p:nvPr/>
        </p:nvSpPr>
        <p:spPr>
          <a:xfrm>
            <a:off x="6350000" y="3822700"/>
            <a:ext cx="523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ReviewReportTest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350000" y="4191000"/>
            <a:ext cx="52324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เงื่อนไขรีวิว รายงานซ้ำ ซ่อน/เลิกซ่อน ประวัติ</a:t>
            </a:r>
          </a:p>
        </p:txBody>
      </p:sp>
      <p:sp>
        <p:nvSpPr>
          <p:cNvPr id="21" name="เส้นชุดทดสอบ"/>
          <p:cNvSpPr/>
          <p:nvPr/>
        </p:nvSpPr>
        <p:spPr>
          <a:xfrm>
            <a:off x="6350000" y="4889500"/>
            <a:ext cx="5232400" cy="1905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"/>
          <p:cNvSpPr txBox="1"/>
          <p:nvPr/>
        </p:nvSpPr>
        <p:spPr>
          <a:xfrm>
            <a:off x="6350000" y="5029200"/>
            <a:ext cx="523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th-TH" altLang="en-US">
                <a:solidFill>
                  <a:srgbClr val="1C1C1C"/>
                </a:solidFill>
                <a:latin typeface="IBM Plex Mono"/>
                <a:ea typeface="IBM Plex Mono"/>
                <a:cs typeface="IBM Plex Mono"/>
              </a:rPr>
              <a:t>UiStatesTest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350000" y="5397500"/>
            <a:ext cx="5232400" cy="301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สถานะบนหน้าจอ เต็ม จบแล้ว ยกเลิก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54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54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19 / 20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เส้นล่าง"/>
          <p:cNvSpPr/>
          <p:nvPr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แถบล่าง"/>
          <p:cNvSpPr txBox="1"/>
          <p:nvPr/>
        </p:nvSpPr>
        <p:spPr>
          <a:xfrm>
            <a:off x="609600" y="6451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06 · สาธิตระบบจริง</a:t>
            </a:r>
          </a:p>
        </p:txBody>
      </p:sp>
      <p:sp>
        <p:nvSpPr>
          <p:cNvPr id="7" name="กลุ่ม"/>
          <p:cNvSpPr txBox="1"/>
          <p:nvPr/>
        </p:nvSpPr>
        <p:spPr>
          <a:xfrm>
            <a:off x="9042400" y="6451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GROUP AI04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09600" y="825500"/>
            <a:ext cx="10795000" cy="82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4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เดโมเว็บจริง 7 ขั้น</a:t>
            </a:r>
          </a:p>
        </p:txBody>
      </p:sp>
      <p:sp>
        <p:nvSpPr>
          <p:cNvPr id="9" name="เส้นเดโม"/>
          <p:cNvSpPr/>
          <p:nvPr/>
        </p:nvSpPr>
        <p:spPr>
          <a:xfrm>
            <a:off x="609600" y="1841500"/>
            <a:ext cx="10972800" cy="635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9"/>
          <p:cNvSpPr txBox="1"/>
          <p:nvPr/>
        </p:nvSpPr>
        <p:spPr>
          <a:xfrm>
            <a:off x="609600" y="19685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333500" y="19304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5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เข้าสู่ระบบด้วยบัญชีที่ถูกระงับ — เข้าไม่ได้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8890000" y="1981200"/>
            <a:ext cx="269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suspended@unimate.ac.th</a:t>
            </a:r>
          </a:p>
        </p:txBody>
      </p:sp>
      <p:sp>
        <p:nvSpPr>
          <p:cNvPr id="13" name="เส้นเดโม"/>
          <p:cNvSpPr/>
          <p:nvPr/>
        </p:nvSpPr>
        <p:spPr>
          <a:xfrm>
            <a:off x="609600" y="24003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13"/>
          <p:cNvSpPr txBox="1"/>
          <p:nvPr/>
        </p:nvSpPr>
        <p:spPr>
          <a:xfrm>
            <a:off x="609600" y="25273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1333500" y="24892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5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ค้นหาหมวดติวหนังสือ แล้วส่งคำขอเข้าร่วม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8890000" y="2540000"/>
            <a:ext cx="269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student@unimate.ac.th</a:t>
            </a:r>
          </a:p>
        </p:txBody>
      </p:sp>
      <p:sp>
        <p:nvSpPr>
          <p:cNvPr id="17" name="เส้นเดโม"/>
          <p:cNvSpPr/>
          <p:nvPr/>
        </p:nvSpPr>
        <p:spPr>
          <a:xfrm>
            <a:off x="609600" y="29591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"/>
          <p:cNvSpPr txBox="1"/>
          <p:nvPr/>
        </p:nvSpPr>
        <p:spPr>
          <a:xfrm>
            <a:off x="609600" y="30861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1333500" y="30480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5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สร้างโพสต์ ลองส่งฟอร์มว่างให้เห็นการตรวจ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8890000" y="3098800"/>
            <a:ext cx="269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student@unimate.ac.th</a:t>
            </a:r>
          </a:p>
        </p:txBody>
      </p:sp>
      <p:sp>
        <p:nvSpPr>
          <p:cNvPr id="21" name="เส้นเดโม"/>
          <p:cNvSpPr/>
          <p:nvPr/>
        </p:nvSpPr>
        <p:spPr>
          <a:xfrm>
            <a:off x="609600" y="35179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"/>
          <p:cNvSpPr txBox="1"/>
          <p:nvPr/>
        </p:nvSpPr>
        <p:spPr>
          <a:xfrm>
            <a:off x="609600" y="36449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1333500" y="36068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5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อนุมัติคำขอ แล้วเช็กชื่อ “มา”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8890000" y="3657600"/>
            <a:ext cx="269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student@unimate.ac.th</a:t>
            </a:r>
          </a:p>
        </p:txBody>
      </p:sp>
      <p:sp>
        <p:nvSpPr>
          <p:cNvPr id="25" name="เส้นเดโม"/>
          <p:cNvSpPr/>
          <p:nvPr/>
        </p:nvSpPr>
        <p:spPr>
          <a:xfrm>
            <a:off x="609600" y="40767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 25"/>
          <p:cNvSpPr txBox="1"/>
          <p:nvPr/>
        </p:nvSpPr>
        <p:spPr>
          <a:xfrm>
            <a:off x="609600" y="42037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1333500" y="41656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5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รีวิวกิจกรรมที่จบแล้ว และรายงานปัญหา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8890000" y="4216400"/>
            <a:ext cx="269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student@unimate.ac.th</a:t>
            </a:r>
          </a:p>
        </p:txBody>
      </p:sp>
      <p:sp>
        <p:nvSpPr>
          <p:cNvPr id="29" name="เส้นเดโม"/>
          <p:cNvSpPr/>
          <p:nvPr/>
        </p:nvSpPr>
        <p:spPr>
          <a:xfrm>
            <a:off x="609600" y="46355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 29"/>
          <p:cNvSpPr txBox="1"/>
          <p:nvPr/>
        </p:nvSpPr>
        <p:spPr>
          <a:xfrm>
            <a:off x="609600" y="47625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1333500" y="47244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5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พิมพ์ /admin/users ด้วยบัญชีนักศึกษา — 403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8890000" y="4775200"/>
            <a:ext cx="269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student@unimate.ac.th</a:t>
            </a:r>
          </a:p>
        </p:txBody>
      </p:sp>
      <p:sp>
        <p:nvSpPr>
          <p:cNvPr id="33" name="เส้นเดโม"/>
          <p:cNvSpPr/>
          <p:nvPr/>
        </p:nvSpPr>
        <p:spPr>
          <a:xfrm>
            <a:off x="609600" y="51943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 33"/>
          <p:cNvSpPr txBox="1"/>
          <p:nvPr/>
        </p:nvSpPr>
        <p:spPr>
          <a:xfrm>
            <a:off x="609600" y="53213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1333500" y="52832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5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ผู้ดูแลตรวจรายงาน ซ่อนกิจกรรม ดูประวัติ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8890000" y="5334000"/>
            <a:ext cx="269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admin@unimate.ac.th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609600" y="5905500"/>
            <a:ext cx="10972800" cy="265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สำรองฐานข้อมูลก่อนเดโม · รหัสผ่านอยู่ใน UserSeeder · ถ้าเดโมสดขัดข้อง เปิดภาคผนวกหน้าที่ตรงกัน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2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609600" y="6096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Q &amp; A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609600" y="1905000"/>
            <a:ext cx="10972800" cy="3535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ขอบคุณ</a:t>
            </a:r>
          </a:p>
          <a:p>
            <a:pPr algn="l">
              <a:lnSpc>
                <a:spcPct val="85000"/>
              </a:lnSpc>
            </a:pPr>
            <a:r>
              <a:rPr sz="10000" b="1" lang="th-TH" altLang="en-US">
                <a:solidFill>
                  <a:srgbClr val="1C1C1C"/>
                </a:solidFill>
                <a:latin typeface="Prompt"/>
                <a:ea typeface="Prompt"/>
                <a:cs typeface="Prompt"/>
              </a:rPr>
              <a:t>ถามได้เลย</a:t>
            </a:r>
          </a:p>
        </p:txBody>
      </p:sp>
      <p:sp>
        <p:nvSpPr>
          <p:cNvPr id="4" name="เส้นล่างปิด"/>
          <p:cNvSpPr/>
          <p:nvPr/>
        </p:nvSpPr>
        <p:spPr>
          <a:xfrm>
            <a:off x="609600" y="5905500"/>
            <a:ext cx="10972800" cy="127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 4"/>
          <p:cNvSpPr txBox="1"/>
          <p:nvPr/>
        </p:nvSpPr>
        <p:spPr>
          <a:xfrm>
            <a:off x="609600" y="603250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00" b="0" lang="th-TH" altLang="en-US">
                <a:solidFill>
                  <a:srgbClr val="6E6111"/>
                </a:solidFill>
                <a:latin typeface="IBM Plex Sans Thai"/>
                <a:ea typeface="IBM Plex Sans Thai"/>
                <a:cs typeface="IBM Plex Sans Thai"/>
              </a:rPr>
              <a:t>ภาพหน้าจอทั้งหมดอยู่ในภาคผนวกที่ส่งใน Classroom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7772400" y="6032500"/>
            <a:ext cx="3810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lang="th-TH" altLang="en-US">
                <a:solidFill>
                  <a:srgbClr val="6E6111"/>
                </a:solidFill>
                <a:latin typeface="IBM Plex Mono"/>
                <a:ea typeface="IBM Plex Mono"/>
                <a:cs typeface="IBM Plex Mono"/>
              </a:rPr>
              <a:t>UNIMATE · GROUP AI04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ompt"/>
        <a:ea typeface=""/>
        <a:cs typeface="Prompt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Prompt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Thai"/>
        <a:ea typeface=""/>
        <a:cs typeface="IBM Plex Sans Tha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IBM Plex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UniMate ส่วนที่ 2 — Studio</dc:title>
  <dc:subject/>
  <dc:creator>กลุ่ม AI04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th-TH</dc:language>
</cp:coreProperties>
</file>