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01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 4"/>
          <p:cNvSpPr txBox="1"/>
          <p:nvPr/>
        </p:nvSpPr>
        <p:spPr>
          <a:xfrm>
            <a:off x="609600" y="889000"/>
            <a:ext cx="6985000" cy="37451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7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หน้าจอ</a:t>
            </a:r>
          </a:p>
          <a:p>
            <a:pPr algn="l">
              <a:lnSpc>
                <a:spcPct val="88000"/>
              </a:lnSpc>
            </a:pPr>
            <a:r>
              <a:rPr sz="7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การทำงาน</a:t>
            </a:r>
          </a:p>
          <a:p>
            <a:pPr algn="l">
              <a:lnSpc>
                <a:spcPct val="88000"/>
              </a:lnSpc>
            </a:pPr>
            <a:r>
              <a:rPr sz="7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ทั้งหมด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609600" y="4572000"/>
            <a:ext cx="5207000" cy="803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ภาพจากเว็บ UniMate ที่รันจริงในเครื่อง เรียงตามผู้ใช้และลำดับการใช้งาน รวม 42 หน้า ข้อมูลในภาพเป็นข้อมูลทดสอบ บันทึกเมื่อ 10 ต.ค. 2569</a:t>
            </a:r>
          </a:p>
        </p:txBody>
      </p:sp>
      <p:sp>
        <p:nvSpPr>
          <p:cNvPr id="7" name="เส้นสารบัญ"/>
          <p:cNvSpPr/>
          <p:nvPr/>
        </p:nvSpPr>
        <p:spPr>
          <a:xfrm>
            <a:off x="6731000" y="1016000"/>
            <a:ext cx="4851400" cy="6350"/>
          </a:xfrm>
          <a:prstGeom prst="rect">
            <a:avLst/>
          </a:prstGeom>
          <a:solidFill>
            <a:srgbClr val="F5D2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7"/>
          <p:cNvSpPr txBox="1"/>
          <p:nvPr/>
        </p:nvSpPr>
        <p:spPr>
          <a:xfrm>
            <a:off x="6731000" y="11811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A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7302500" y="11938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ผู้ใช้ทั่วไป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10350500" y="1219200"/>
            <a:ext cx="12319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02–05</a:t>
            </a:r>
          </a:p>
        </p:txBody>
      </p:sp>
      <p:sp>
        <p:nvSpPr>
          <p:cNvPr id="11" name="เส้นสารบัญ"/>
          <p:cNvSpPr/>
          <p:nvPr/>
        </p:nvSpPr>
        <p:spPr>
          <a:xfrm>
            <a:off x="6731000" y="1727200"/>
            <a:ext cx="48514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731000" y="18923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7302500" y="1905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นักศึกษา: ค้นหาและเข้าร่วม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10350500" y="1930400"/>
            <a:ext cx="12319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06–15</a:t>
            </a:r>
          </a:p>
        </p:txBody>
      </p:sp>
      <p:sp>
        <p:nvSpPr>
          <p:cNvPr id="15" name="เส้นสารบัญ"/>
          <p:cNvSpPr/>
          <p:nvPr/>
        </p:nvSpPr>
        <p:spPr>
          <a:xfrm>
            <a:off x="6731000" y="2438400"/>
            <a:ext cx="48514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15"/>
          <p:cNvSpPr txBox="1"/>
          <p:nvPr/>
        </p:nvSpPr>
        <p:spPr>
          <a:xfrm>
            <a:off x="6731000" y="26035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7302500" y="26162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นักศึกษา: ผู้จัดกิจกรรม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10350500" y="2641600"/>
            <a:ext cx="12319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16–24</a:t>
            </a:r>
          </a:p>
        </p:txBody>
      </p:sp>
      <p:sp>
        <p:nvSpPr>
          <p:cNvPr id="19" name="เส้นสารบัญ"/>
          <p:cNvSpPr/>
          <p:nvPr/>
        </p:nvSpPr>
        <p:spPr>
          <a:xfrm>
            <a:off x="6731000" y="3149600"/>
            <a:ext cx="48514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19"/>
          <p:cNvSpPr txBox="1"/>
          <p:nvPr/>
        </p:nvSpPr>
        <p:spPr>
          <a:xfrm>
            <a:off x="6731000" y="33147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D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7302500" y="33274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หลังจบกิจกรรม: รีวิวและรายงาน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10350500" y="3352800"/>
            <a:ext cx="12319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25–29</a:t>
            </a:r>
          </a:p>
        </p:txBody>
      </p:sp>
      <p:sp>
        <p:nvSpPr>
          <p:cNvPr id="23" name="เส้นสารบัญ"/>
          <p:cNvSpPr/>
          <p:nvPr/>
        </p:nvSpPr>
        <p:spPr>
          <a:xfrm>
            <a:off x="6731000" y="3860800"/>
            <a:ext cx="48514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 23"/>
          <p:cNvSpPr txBox="1"/>
          <p:nvPr/>
        </p:nvSpPr>
        <p:spPr>
          <a:xfrm>
            <a:off x="6731000" y="40259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7302500" y="40386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ผู้ดูแลระบบ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10350500" y="4064000"/>
            <a:ext cx="12319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30–40</a:t>
            </a:r>
          </a:p>
        </p:txBody>
      </p:sp>
      <p:sp>
        <p:nvSpPr>
          <p:cNvPr id="27" name="เส้นสารบัญ"/>
          <p:cNvSpPr/>
          <p:nvPr/>
        </p:nvSpPr>
        <p:spPr>
          <a:xfrm>
            <a:off x="6731000" y="4572000"/>
            <a:ext cx="48514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 27"/>
          <p:cNvSpPr txBox="1"/>
          <p:nvPr/>
        </p:nvSpPr>
        <p:spPr>
          <a:xfrm>
            <a:off x="6731000" y="47371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F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7302500" y="47498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สิทธิ์และหน้าข้อผิดพลาด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10350500" y="4775200"/>
            <a:ext cx="12319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41–42</a:t>
            </a:r>
          </a:p>
        </p:txBody>
      </p:sp>
      <p:sp>
        <p:nvSpPr>
          <p:cNvPr id="31" name="เส้นสารบัญ"/>
          <p:cNvSpPr/>
          <p:nvPr/>
        </p:nvSpPr>
        <p:spPr>
          <a:xfrm>
            <a:off x="6731000" y="5283200"/>
            <a:ext cx="48514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 31"/>
          <p:cNvSpPr txBox="1"/>
          <p:nvPr/>
        </p:nvSpPr>
        <p:spPr>
          <a:xfrm>
            <a:off x="6731000" y="5448300"/>
            <a:ext cx="50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22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G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7302500" y="5461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50" b="0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มุมมองบนมือถือ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10350500" y="5486400"/>
            <a:ext cx="12319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A — ผู้ใช้ทั่วไป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02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A01" descr="g01-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A01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เข้าสู่ระบบ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ฟอร์มอีเมลและรหัสผ่าน มีปุ่มเปิด-ปิดดูรหัสผ่าน ด้านซ้ายแนะนำระบบ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GUEST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/login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A — ผู้ใช้ทั่วไป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03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A02" descr="g02-regi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A02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สมัครสมาชิก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กรอกชื่อ รหัสนักศึกษา อีเมล Bio และรหัสผ่านอย่างน้อย 6 ตัวอักษร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GUEST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/register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A — ผู้ใช้ทั่วไป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04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A03" descr="g03-register-err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A03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สมัครไม่ผ่านการตรวจข้อมูล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ส่งฟอร์มไม่ครบ ระบบแจ้งข้อผิดพลาดใต้ช่อง เช่น อีเมลซ้ำ รหัสผ่านสั้นเกินไป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GUEST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/register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A — ผู้ใช้ทั่วไป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05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A04" descr="g04-login-suspen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A04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บัญชีถูกระงับ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บัญชีที่ผู้ดูแลระงับไว้เข้าสู่ระบบไม่ได้ และมีข้อความแจ้งเหตุผล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GUEST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/login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06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01" descr="s01-activ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B01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รายการกิจกรรม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หน้าแรกหลังเข้าสู่ระบบ มีช่องค้นหา ชิปหมวดหมู่ และตัวกรองเพิ่มเติม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07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02" descr="s01b-activities-car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B02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การ์ดกิจกรรม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9467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การ์ดแสดงวันที่ หมวด สถานะ เวลา สถานที่ จำนวนผู้เข้าร่วม และผู้จัด กิจกรรมที่ยังไม่จบอยู่ก่อน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08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03" descr="s02-activities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B03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ค้นหาและกรอง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ค้นคำว่า “สอบ” ในหมวดติวหนังสือ และเปิดตัวกรองสถานที่ วันที่ สถานะ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/activities?category_id=2&amp;q=สอบ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09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04" descr="s07-detail-jo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B04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รายละเอียดกิจกรรม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ข้อมูลนัดหมาย ที่ว่าง ผู้จัด และฟอร์มขอเข้าร่วมพร้อมข้อความถึงผู้จัด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/activities/9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10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05" descr="s08-join-p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B05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ส่งคำขอเข้าร่วมแล้ว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สถานะเปลี่ยนเป็น “รออนุมัติ” และกดถอนคำขอได้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/activities/9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11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06" descr="s14-my-activ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B06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นัดของฉัน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สรุปจำนวน และกิจกรรมที่ฉันสร้างพร้อมจำนวนผู้เข้าร่วมและคำขอ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/my-activities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12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07" descr="s14b-my-activities-join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B07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กิจกรรมที่ขอเข้าร่วม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สถานะของแต่ละคำขอ เช่น รออนุมัติ เข้าร่วมแล้ว มาแล้ว รอเช็กชื่อ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/my-activities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13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08" descr="s15-notific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B08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การแจ้งเตือน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แจ้งผลการอนุมัติคำขอ และกด “อ่านทั้งหมดแล้ว” ได้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/notifications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14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09" descr="s16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B09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โปรไฟล์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ข้อมูลบัญชี บทบาท สถานะ และจำนวนกิจกรรมที่สร้างและได้เข้าร่วม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/profile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B — นักศึกษา: ค้นหาและเข้าร่วม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15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B10" descr="s16b-profile-ed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B10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แก้ไขโปรไฟล์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แก้ชื่อ รหัสนักศึกษา อีเมล Bio รูปโปรไฟล์ และเปลี่ยนรหัสผ่าน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/profile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C — นักศึกษา: ผู้จัดกิจกรรม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16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C01" descr="s03-cre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C01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สร้างโพสต์กิจกรรม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ฟอร์มชื่อ หมวด รายละเอียด สถานที่ เวลาเริ่ม–สิ้นสุด และจำนวนคนที่รับ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/activities/create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C — นักศึกษา: ผู้จัดกิจกรรม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17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C02" descr="s04-create-err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C02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ตรวจข้อมูลไม่ผ่าน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ส่งฟอร์มว่าง ระบบสรุปรายการที่ต้องแก้ด้านบนและแจ้งใต้แต่ละช่อง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/activities/create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C — นักศึกษา: ผู้จัดกิจกรรม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18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C03" descr="s05-created-ow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C03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สร้างสำเร็จ (มุมมองเจ้าของ)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เจ้าของเห็นปุ่มจัดการคำขอ แก้ไขกิจกรรม และยกเลิกกิจกรรม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/activities/12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C — นักศึกษา: ผู้จัดกิจกรรม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19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C04" descr="s06-ed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C04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แก้ไขกิจกรรม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ฟอร์มเดิมพร้อมข้อมูลปัจจุบัน เปิดได้เฉพาะเจ้าของโพสต์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/activities/12/edit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C — นักศึกษา: ผู้จัดกิจกรรม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20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C05" descr="s09-requests-p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C05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คำขอรออนุมัติ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สรุปรออนุมัติ ผู้เข้าร่วม ที่ว่าง แท็บตามสถานะ และปุ่มอนุมัติ / ปฏิเสธ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/activities/3/requests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C — นักศึกษา: ผู้จัดกิจกรรม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21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C06" descr="s10-request-approv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C06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อนุมัติคำขอแล้ว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ระบบแจ้งผล และอัปเดตจำนวนผู้เข้าร่วมเป็น 3/10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/activities/3/requests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C — นักศึกษา: ผู้จัดกิจกรรม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22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C07" descr="s11-requests-attend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C07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สมาชิกที่อนุมัติแล้ว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แท็บอนุมัติแล้ว มีปุ่มเช็กชื่อ “มา” / “ขาด” ของแต่ละคน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/activities/3/requests?status=approved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C — นักศึกษา: ผู้จัดกิจกรรม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23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C08" descr="s12-attendance-sav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C08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บันทึกการเช็กชื่อ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บันทึกว่า “มา” แล้ว ปุ่มแสดงสถานะที่เลือก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/activities/3/requests?status=approved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C — นักศึกษา: ผู้จัดกิจกรรม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24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C09" descr="s13-cancel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C09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กิจกรรมที่ถูกยกเลิก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แสดงแถบยกเลิกแล้ว และไม่รับคำขอเข้าร่วมใหม่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/activities/10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D — หลังจบกิจกรรม: รีวิวและรายงาน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25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D01" descr="s17-ended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D01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กิจกรรมที่จบแล้ว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แสดงคะแนนเฉลี่ย และยืนยันว่าผู้ใช้อยู่ในรายชื่อผู้เข้าร่วม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/activities/11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D — หลังจบกิจกรรม: รีวิวและรายงาน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26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D02" descr="s18-reviews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D02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รีวิวและฟอร์มให้คะแนน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ผู้ที่ถูกเช็กชื่อว่ามาให้คะแนน 1–5 ดาวพร้อมความคิดเห็นได้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/activities/11#reviews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D — หลังจบกิจกรรม: รีวิวและรายงาน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27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D03" descr="s19-review-s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D03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ส่งรีวิวแล้ว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รีวิวขึ้นในรายการ คะแนนเฉลี่ยอัปเดต และรีวิวซ้ำไม่ได้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/activities/11#reviews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D — หลังจบกิจกรรม: รีวิวและรายงาน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28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D04" descr="s20-report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D04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ฟอร์มรายงานปัญหา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เลือกรายงานกิจกรรมหรือผู้ใช้ที่เกี่ยวข้อง พร้อมระบุเหตุผล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/activities/5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D — หลังจบกิจกรรม: รีวิวและรายงาน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29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D05" descr="s21-report-s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D05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ส่งรายงานแล้ว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ระบบยืนยันการส่ง และรอผู้ดูแลระบบตรวจสอบ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/activities/5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30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01" descr="a01-us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E01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จัดการผู้ใช้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สถิติสมาชิก 4 ช่อง ช่องค้นหา และตัวกรองสถานะบัญชี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/admin/users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31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02" descr="a01b-users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E02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ตารางผู้ใช้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รหัสนักศึกษา บทบาท สถานะ และปุ่มระงับบัญชีของแต่ละคน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/admin/users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32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03" descr="a02-users-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E03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ค้นหาผู้ใช้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ค้นด้วยชื่อ อีเมล หรือรหัสนักศึกษา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/admin/users?search=แพรว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33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04" descr="a03-user-suspen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E04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ระงับบัญชี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สถานะเปลี่ยนเป็นถูกระงับ ปุ่มเปลี่ยนเป็นเปิดใช้งาน และสถิติอัปเดต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/admin/users?search=แพรว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34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05" descr="a04-catego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E05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จัดการหมวดหมู่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เพิ่ม เปลี่ยนชื่อ และลบหมวดหมู่ ปุ่มลบปิดเมื่อหมวดยังมีกิจกรรม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/admin/categories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35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06" descr="a05-category-ad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E06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เพิ่มหมวดหมู่แล้ว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เพิ่มหมวด “บอร์ดเกม” ระบบตรวจชื่อไม่ให้ซ้ำ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/admin/categories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36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07" descr="a06-repo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E07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รายงานรอตรวจ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แท็บตามสถานะ รายละเอียดผู้รายงาน เหตุผล และปุ่มซ่อน / ยกรายงาน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/admin/reports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37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08" descr="a07-report-resolv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E08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ดำเนินการกับรายงาน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ซ่อนกิจกรรมพร้อมบันทึกเหตุผล จำนวนรายงานรอตรวจลดลง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/admin/reports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38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09" descr="a08-reports-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E09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รายงานทั้งหมด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รายงานที่ดำเนินการแล้วแสดงผู้ดำเนินการ เวลา และเหตุผล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/admin/reports?status=all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39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10" descr="a09-moderation-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E10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กิจกรรมที่ซ่อนและประวัติ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เลิกซ่อนกิจกรรมได้พร้อมเหตุผล และดูประวัติการดำเนินการทั้งหมด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/admin/reports?status=all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E — ผู้ดูแลระบบ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40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E11" descr="a10-hidden-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E11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กิจกรรมที่ถูกซ่อน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ผู้ดูแลเห็นแถบเหตุผลการซ่อน ผู้ใช้ทั่วไปจะไม่เห็นกิจกรรมนี้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admin@unimate.ac.th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/activities/5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F — สิทธิ์และหน้าข้อผิดพลาด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41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F01" descr="s22-4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F01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7303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ไม่มีสิทธิ์เข้าถึง (403)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381301"/>
            <a:ext cx="1981200" cy="722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นักศึกษาเปิดหน้าผู้ดูแลระบบโดยพิมพ์ URL เอง ระบบปฏิเสธ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/admin/users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F — สิทธิ์และหน้าข้อผิดพลาด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42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ภาพหน้าจอ F02" descr="s23-4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8737600" cy="491490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9601200" y="7112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48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F02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601200" y="1587500"/>
            <a:ext cx="1981200" cy="3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0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ไม่พบหน้า (404)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9601200" y="2041550"/>
            <a:ext cx="1981200" cy="49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25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เปิดกิจกรรมที่ไม่มีอยู่ ระบบแสดงหน้า 404 พร้อมปุ่มกลับ</a:t>
            </a:r>
          </a:p>
        </p:txBody>
      </p:sp>
      <p:sp>
        <p:nvSpPr>
          <p:cNvPr id="9" name="เส้นข้อมูล"/>
          <p:cNvSpPr/>
          <p:nvPr/>
        </p:nvSpPr>
        <p:spPr>
          <a:xfrm>
            <a:off x="9601200" y="4953000"/>
            <a:ext cx="19812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บัญชีและ URL"/>
          <p:cNvSpPr txBox="1"/>
          <p:nvPr/>
        </p:nvSpPr>
        <p:spPr>
          <a:xfrm>
            <a:off x="9601200" y="5054600"/>
            <a:ext cx="1981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student@unimate.ac.th</a:t>
            </a:r>
          </a:p>
          <a:p>
            <a:pPr algn="l">
              <a:lnSpc>
                <a:spcPct val="85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/activities/99999</a:t>
            </a:r>
          </a:p>
        </p:txBody>
      </p:sp>
      <p:sp>
        <p:nvSpPr>
          <p:cNvPr id="11" name="เส้นล่าง"/>
          <p:cNvSpPr/>
          <p:nvPr/>
        </p:nvSpPr>
        <p:spPr>
          <a:xfrm>
            <a:off x="609600" y="5842000"/>
            <a:ext cx="10972800" cy="635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11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UNIMATE — CP410805 PART 2 · GROUP AI04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แถบบน"/>
          <p:cNvSpPr txBox="1"/>
          <p:nvPr/>
        </p:nvSpPr>
        <p:spPr>
          <a:xfrm>
            <a:off x="609600" y="2159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ภาคผนวก G — มุมมองบนมือถือ</a:t>
            </a:r>
          </a:p>
        </p:txBody>
      </p:sp>
      <p:sp>
        <p:nvSpPr>
          <p:cNvPr id="3" name="เลขหน้า"/>
          <p:cNvSpPr txBox="1"/>
          <p:nvPr/>
        </p:nvSpPr>
        <p:spPr>
          <a:xfrm>
            <a:off x="9042400" y="2159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APPENDIX 43 / 43</a:t>
            </a:r>
          </a:p>
        </p:txBody>
      </p:sp>
      <p:sp>
        <p:nvSpPr>
          <p:cNvPr id="4" name="เส้นบน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มือถือ รายการกิจกรรม" descr="m01-mobile-activ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11200"/>
            <a:ext cx="2349500" cy="508635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6" name="Text 5"/>
          <p:cNvSpPr txBox="1"/>
          <p:nvPr/>
        </p:nvSpPr>
        <p:spPr>
          <a:xfrm>
            <a:off x="609600" y="5905500"/>
            <a:ext cx="2349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5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G01 รายการกิจกรรม</a:t>
            </a:r>
          </a:p>
        </p:txBody>
      </p:sp>
      <p:pic>
        <p:nvPicPr>
          <p:cNvPr id="7" name="มือถือ รายละเอียดกิจกรรม" descr="m02-mobile-det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711200"/>
            <a:ext cx="2349500" cy="508635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8" name="Text 7"/>
          <p:cNvSpPr txBox="1"/>
          <p:nvPr/>
        </p:nvSpPr>
        <p:spPr>
          <a:xfrm>
            <a:off x="3276600" y="5905500"/>
            <a:ext cx="2349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5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G02 รายละเอียดกิจกรรม</a:t>
            </a:r>
          </a:p>
        </p:txBody>
      </p:sp>
      <p:pic>
        <p:nvPicPr>
          <p:cNvPr id="9" name="มือถือ นัดของฉัน" descr="m03-mobile-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711200"/>
            <a:ext cx="2349500" cy="5086350"/>
          </a:xfrm>
          <a:prstGeom prst="rect">
            <a:avLst/>
          </a:prstGeom>
          <a:ln w="12700">
            <a:solidFill>
              <a:srgbClr val="615613"/>
            </a:solidFill>
          </a:ln>
        </p:spPr>
      </p:pic>
      <p:sp>
        <p:nvSpPr>
          <p:cNvPr id="10" name="Text 9"/>
          <p:cNvSpPr txBox="1"/>
          <p:nvPr/>
        </p:nvSpPr>
        <p:spPr>
          <a:xfrm>
            <a:off x="5943600" y="5905500"/>
            <a:ext cx="2349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350" b="1" lang="th-TH" altLang="en-US">
                <a:solidFill>
                  <a:srgbClr val="F5D200"/>
                </a:solidFill>
                <a:latin typeface="IBM Plex Sans Thai"/>
                <a:ea typeface="IBM Plex Sans Thai"/>
                <a:cs typeface="IBM Plex Sans Thai"/>
              </a:rPr>
              <a:t>G03 นัดของฉัน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8763000" y="711200"/>
            <a:ext cx="2819400" cy="5077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8000"/>
              </a:lnSpc>
            </a:pPr>
            <a:r>
              <a:rPr sz="2600" b="1" lang="th-TH" altLang="en-US">
                <a:solidFill>
                  <a:srgbClr val="F5D200"/>
                </a:solidFill>
                <a:latin typeface="Prompt"/>
                <a:ea typeface="Prompt"/>
                <a:cs typeface="Prompt"/>
              </a:rPr>
              <a:t>ใช้บนมือถือได้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8763000" y="1397000"/>
            <a:ext cx="2819400" cy="803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5000"/>
              </a:lnSpc>
            </a:pPr>
            <a:r>
              <a:rPr sz="1400" b="0" lang="th-TH" altLang="en-US">
                <a:solidFill>
                  <a:srgbClr val="9A860C"/>
                </a:solidFill>
                <a:latin typeface="IBM Plex Sans Thai"/>
                <a:ea typeface="IBM Plex Sans Thai"/>
                <a:cs typeface="IBM Plex Sans Thai"/>
              </a:rPr>
              <a:t>เมนูย้ายลงแถบล่าง มีปุ่มสร้างโพสต์ตรงกลาง การ์ดและตัวกรองเรียงเป็นคอลัมน์เดียว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8763000" y="5080000"/>
            <a:ext cx="2819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student@unimate.ac.th</a:t>
            </a:r>
          </a:p>
          <a:p>
            <a:pPr algn="l">
              <a:lnSpc>
                <a:spcPct val="100000"/>
              </a:lnSpc>
            </a:pPr>
            <a:r>
              <a:rPr sz="1000" b="0" lang="th-TH" altLang="en-US">
                <a:solidFill>
                  <a:srgbClr val="9A860C"/>
                </a:solidFill>
                <a:latin typeface="IBM Plex Mono"/>
                <a:ea typeface="IBM Plex Mono"/>
                <a:cs typeface="IBM Plex Mono"/>
              </a:rPr>
              <a:t>390 PX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ompt"/>
        <a:ea typeface=""/>
        <a:cs typeface="Prompt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Prompt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 Thai"/>
        <a:ea typeface=""/>
        <a:cs typeface="IBM Plex Sans Tha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IBM Plex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UniMate ส่วนที่ 2 — ภาคผนวกหน้าจอ (V2)</dc:title>
  <dc:subject/>
  <dc:creator>กลุ่ม AI04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th-TH</dc:language>
</cp:coreProperties>
</file>